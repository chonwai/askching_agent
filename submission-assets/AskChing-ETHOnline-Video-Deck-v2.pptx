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7cbf5302194917" /><Relationship Type="http://schemas.openxmlformats.org/officeDocument/2006/relationships/extended-properties" Target="/docProps/app.xml" Id="R0b8103bfa3064df6" /><Relationship Type="http://schemas.openxmlformats.org/officeDocument/2006/relationships/officeDocument" Target="/ppt/presentation.xml" Id="Rb7784b61786a46b7" /></Relationships>
</file>

<file path=ppt/presentation.xml><?xml version="1.0" encoding="utf-8"?>
<p:presentation xmlns:p="http://schemas.openxmlformats.org/presentationml/2006/main">
  <p:sldMasterIdLst>
    <p:sldMasterId xmlns:r="http://schemas.openxmlformats.org/officeDocument/2006/relationships" id="2147483648" r:id="R97e0215af5ed4c87"/>
  </p:sldMasterIdLst>
  <p:notesMasterIdLst>
    <p:notesMasterId xmlns:r="http://schemas.openxmlformats.org/officeDocument/2006/relationships" r:id="R7b133f16d5324048"/>
  </p:notesMasterIdLst>
  <p:sldIdLst>
    <p:sldId xmlns:r="http://schemas.openxmlformats.org/officeDocument/2006/relationships" id="256" r:id="Ra0e364d71e1d4c09"/>
    <p:sldId xmlns:r="http://schemas.openxmlformats.org/officeDocument/2006/relationships" id="257" r:id="Rdee87237870b4148"/>
    <p:sldId xmlns:r="http://schemas.openxmlformats.org/officeDocument/2006/relationships" id="258" r:id="R6ad7226a27c24f06"/>
    <p:sldId xmlns:r="http://schemas.openxmlformats.org/officeDocument/2006/relationships" id="259" r:id="R25b951856ea3403c"/>
    <p:sldId xmlns:r="http://schemas.openxmlformats.org/officeDocument/2006/relationships" id="260" r:id="Rc2441beac8e54c8d"/>
    <p:sldId xmlns:r="http://schemas.openxmlformats.org/officeDocument/2006/relationships" id="261" r:id="R942cef137edb4035"/>
    <p:sldId xmlns:r="http://schemas.openxmlformats.org/officeDocument/2006/relationships" id="262" r:id="R71c5b380a7fd4bc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2d37e83e784411" /><Relationship Type="http://schemas.openxmlformats.org/officeDocument/2006/relationships/slideMaster" Target="/ppt/slideMasters/slideMaster1.xml" Id="R97e0215af5ed4c87" /><Relationship Type="http://schemas.openxmlformats.org/officeDocument/2006/relationships/notesMaster" Target="/ppt/notesMasters/notesMaster1.xml" Id="R7b133f16d5324048" /><Relationship Type="http://schemas.openxmlformats.org/officeDocument/2006/relationships/presProps" Target="/ppt/presProps.xml" Id="Rdcda4739c9c94210" /><Relationship Type="http://schemas.openxmlformats.org/officeDocument/2006/relationships/tableStyles" Target="/ppt/tableStyles.xml" Id="Rdb50db4f562445c6" /><Relationship Type="http://schemas.openxmlformats.org/officeDocument/2006/relationships/slide" Target="/ppt/slides/slide1.xml" Id="Ra0e364d71e1d4c09" /><Relationship Type="http://schemas.openxmlformats.org/officeDocument/2006/relationships/slide" Target="/ppt/slides/slide2.xml" Id="Rdee87237870b4148" /><Relationship Type="http://schemas.openxmlformats.org/officeDocument/2006/relationships/slide" Target="/ppt/slides/slide3.xml" Id="R6ad7226a27c24f06" /><Relationship Type="http://schemas.openxmlformats.org/officeDocument/2006/relationships/slide" Target="/ppt/slides/slide4.xml" Id="R25b951856ea3403c" /><Relationship Type="http://schemas.openxmlformats.org/officeDocument/2006/relationships/slide" Target="/ppt/slides/slide5.xml" Id="Rc2441beac8e54c8d" /><Relationship Type="http://schemas.openxmlformats.org/officeDocument/2006/relationships/slide" Target="/ppt/slides/slide6.xml" Id="R942cef137edb4035" /><Relationship Type="http://schemas.openxmlformats.org/officeDocument/2006/relationships/slide" Target="/ppt/slides/slide7.xml" Id="R71c5b380a7fd4bc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8a7f860382492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4cf46c2267447e7" /><Relationship Type="http://schemas.openxmlformats.org/officeDocument/2006/relationships/notesMaster" Target="/ppt/notesMasters/notesMaster1.xml" Id="R04e5e2ef7092485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c78dbbe7964f91" /><Relationship Type="http://schemas.openxmlformats.org/officeDocument/2006/relationships/notesMaster" Target="/ppt/notesMasters/notesMaster1.xml" Id="R4723682fef4547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0be74c237d4052" /><Relationship Type="http://schemas.openxmlformats.org/officeDocument/2006/relationships/notesMaster" Target="/ppt/notesMasters/notesMaster1.xml" Id="R69a3037f7a0d4b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1394c35f22cc4426" /><Relationship Type="http://schemas.openxmlformats.org/officeDocument/2006/relationships/notesMaster" Target="/ppt/notesMasters/notesMaster1.xml" Id="Ra57bf3766dc549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e7b0c2d0dd43a6" /><Relationship Type="http://schemas.openxmlformats.org/officeDocument/2006/relationships/notesMaster" Target="/ppt/notesMasters/notesMaster1.xml" Id="R622680a0bf9d4c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e48c5853cf4bd5" /><Relationship Type="http://schemas.openxmlformats.org/officeDocument/2006/relationships/notesMaster" Target="/ppt/notesMasters/notesMaster1.xml" Id="Ra750e397c51a4e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42de93c6b964255" /><Relationship Type="http://schemas.openxmlformats.org/officeDocument/2006/relationships/notesMaster" Target="/ppt/notesMasters/notesMaster1.xml" Id="R2533640a1ccf4f6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[0:00–0:15] AskChing turns a natural-language DeFi question into a cited answer across multiple live subgraphs. The promise is simple: one question, multiple live sources, and every number carries its evidence. AskChing is research software built for ETHOnline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[0:15–0:40] A user can query The Graph directly, and The Graph gives us the verifiable on-chain data. But answering a cross-protocol research question still means finding the correct deployments, inspecting different schemas, writing several queries, reconciling rate definitions, and assembling the evidence by hand. AskChing automates that research workflow. The user asks one question, and the system returns only comparable observations with citations or explicit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[0:40–1:00] The Graph is the load-bearing data layer: it gives AskChing queryable protocol data with block provenance. AskChing adds the research logic above that access. It fans out across sources, normalizes comparable definitions, ranks valid observations, and enforces evidence gates. The MCP server remains model-independent. Grok routes questions in our demo CLI, while other MCP clients can call AskChing directly.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[0:55–1:45] Here is the live question. Compare USDC supply APY across Aave V3, Compound V3, and Spark Lend, rank the result, and cite every source. [SWITCH TO LIVE APP.] Show the selected tool and the three-source fan-out. Then point to the ranking, the as-of time, and one citation with its subgraph ID, block, and query hash. [RETURN TO SLIDES. Source: live AskChing MCP endpoint.]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[1:45–2:15] The trust rule is enforced in code. A quantitative comparison needs at least two independently cited sources. If only one survives, AskChing returns no comparison. Missing historical coverage also becomes an explicit gap, so a current snapshot never masquerades as a seven-day trend. This behavior matters more than producing an answer at any cost.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[2:15–2:45] The project now exposes seven MCP tools. It can compare current markets, create research briefs, scan peer-relative risk, explain calculations, and analyze cited daily history over seven or thirty days. Yield discovery covers lending, Uniswap V3, and Curve while keeping current lending APY separate from historical LP fee APR because they describe different products and risks.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[2:45–3:15] AskChing exposes one remote MCP endpoint that compatible agents can call directly. Our Grok CLI demonstrates the orchestration path, but the research layer stays model-independent. The Graph supplies the live, verifiable market history, and AskChing adds normalization, evidence gates, and transparent analysis. The code is public. AskChing would rather report a gap than invent a number.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5f445fbd0f48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2c350548b624837" /><Relationship Type="http://schemas.openxmlformats.org/officeDocument/2006/relationships/slideLayout" Target="/ppt/slideLayouts/slideLayout1.xml" Id="R15210fc8d72b46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210fc8d72b46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eeba0916934dbc" /><Relationship Type="http://schemas.openxmlformats.org/officeDocument/2006/relationships/image" Target="/ppt/media/image.png" Id="Rd8724f3e82d74e00" /><Relationship Type="http://schemas.openxmlformats.org/officeDocument/2006/relationships/notesSlide" Target="/ppt/notesSlides/notesSlide1.xml" Id="Rdb5f0125da67484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37995480e74ad7" /><Relationship Type="http://schemas.openxmlformats.org/officeDocument/2006/relationships/notesSlide" Target="/ppt/notesSlides/notesSlide2.xml" Id="Rec3ba6e36d014c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ba982086aa4be1" /><Relationship Type="http://schemas.openxmlformats.org/officeDocument/2006/relationships/notesSlide" Target="/ppt/notesSlides/notesSlide3.xml" Id="Rc77d5fe8f18c4b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4ab8d23e394df3" /><Relationship Type="http://schemas.openxmlformats.org/officeDocument/2006/relationships/notesSlide" Target="/ppt/notesSlides/notesSlide4.xml" Id="R8cc3d599987540f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950a813bd2c4e9a" /><Relationship Type="http://schemas.openxmlformats.org/officeDocument/2006/relationships/image" Target="/ppt/media/image.jpeg" Id="Rfa12ffd857c143a3" /><Relationship Type="http://schemas.openxmlformats.org/officeDocument/2006/relationships/notesSlide" Target="/ppt/notesSlides/notesSlide5.xml" Id="R7e7de3b155be42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6db00053e4b4632" /><Relationship Type="http://schemas.openxmlformats.org/officeDocument/2006/relationships/image" Target="/ppt/media/image2.jpeg" Id="R9f5969bb9e974014" /><Relationship Type="http://schemas.openxmlformats.org/officeDocument/2006/relationships/notesSlide" Target="/ppt/notesSlides/notesSlide6.xml" Id="R6c1e22b4fd8d41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fa6af144785450e" /><Relationship Type="http://schemas.openxmlformats.org/officeDocument/2006/relationships/image" Target="/ppt/media/image2.png" Id="Re819dde410824971" /><Relationship Type="http://schemas.openxmlformats.org/officeDocument/2006/relationships/notesSlide" Target="/ppt/notesSlides/notesSlide7.xml" Id="R8ea73861fb544a0b" /></Relationships>
</file>

<file path=ppt/slides/slide1.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d8724f3e82d74e0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DD52B5-FE5A-4CCD-9248-7075E2DF0883}"/>
              </a:ext>
            </a:extLst>
          </p:cNvPr>
          <p:cNvSpPr>
            <a:spLocks xmlns:a="http://schemas.openxmlformats.org/drawingml/2006/main" noGrp="1"/>
          </p:cNvSpPr>
          <p:nvPr/>
        </p:nvSpPr>
        <p:spPr>
          <a:xfrm xmlns:a="http://schemas.openxmlformats.org/drawingml/2006/main">
            <a:off x="495300" y="6057900"/>
            <a:ext cx="11201400" cy="457200"/>
          </a:xfrm>
          <a:prstGeom xmlns:a="http://schemas.openxmlformats.org/drawingml/2006/main" prst="roundRect">
            <a:avLst>
              <a:gd name="adj" fmla="val 16667"/>
            </a:avLst>
          </a:prstGeom>
          <a:solidFill xmlns:a="http://schemas.openxmlformats.org/drawingml/2006/main">
            <a:srgbClr val="020304"/>
          </a:solidFill>
          <a:ln xmlns:a="http://schemas.openxmlformats.org/drawingml/2006/main" w="9525">
            <a:solidFill>
              <a:srgbClr val="1D2B24"/>
            </a:solidFill>
            <a:prstDash val="solid"/>
          </a:ln>
        </p:spPr>
      </p:sp>
      <p:sp>
        <p:nvSpPr>
          <p:cNvPr id="3" name="">
            <a:extLst xmlns:a="http://schemas.openxmlformats.org/drawingml/2006/main">
              <a:ext uri="{FF2B5EF4-FFF2-40B4-BE49-F238E27FC236}">
                <a16:creationId xmlns:a16="http://schemas.microsoft.com/office/drawing/2014/main" id="{FD90C167-DA15-46A2-B468-FF0D146A516E}"/>
              </a:ext>
            </a:extLst>
          </p:cNvPr>
          <p:cNvSpPr>
            <a:spLocks xmlns:a="http://schemas.openxmlformats.org/drawingml/2006/main" noGrp="1"/>
          </p:cNvSpPr>
          <p:nvPr/>
        </p:nvSpPr>
        <p:spPr>
          <a:xfrm xmlns:a="http://schemas.openxmlformats.org/drawingml/2006/main">
            <a:off x="723900" y="6172200"/>
            <a:ext cx="10744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3DF59A"/>
                </a:solidFill>
                <a:latin typeface="Courier New"/>
                <a:ea typeface="Courier New"/>
                <a:cs typeface="Courier New"/>
              </a:defRPr>
            </a:pPr>
            <a:r>
              <a:rPr sz="1275" b="1">
                <a:solidFill>
                  <a:srgbClr val="3DF59A"/>
                </a:solidFill>
                <a:latin typeface="Courier New"/>
                <a:ea typeface="Courier New"/>
                <a:cs typeface="Courier New"/>
              </a:rPr>
              <a:t>ONE QUESTION · MULTIPLE LIVE SUBGRAPHS · EVERY NUMBER CITED</a:t>
            </a:r>
          </a:p>
        </p:txBody>
      </p:sp>
    </p:spTree>
    <p:extLst>
      <p:ext uri="{BB962C8B-B14F-4D97-AF65-F5344CB8AC3E}">
        <p14:creationId xmlns:p14="http://schemas.microsoft.com/office/powerpoint/2010/main" val="751886355"/>
      </p:ext>
    </p:extLst>
  </p:cSld>
</p:sld>
</file>

<file path=ppt/slides/slide2.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4542419-719C-43E5-9BF4-AC96C51B3546}"/>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F2BE1FDD-8037-471E-ADF0-ED0F1A4A78C8}"/>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AC1419A9-08AF-45BD-A94A-C0691C633160}"/>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4D8DAA2C-29A3-467D-AFC7-959C53738CEA}"/>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386E7904-A20A-4675-8D48-A1A8EC037239}"/>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5343132A-C003-4395-AC9A-CE782C11FDD4}"/>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B3B88693-A5C7-4C99-9341-20CF67B86BA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25E24325-4740-49BA-B583-4A3635540C89}"/>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51E664C8-0B1B-44BC-AC30-2EB1D787E709}"/>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49E236DB-1790-48EF-91A9-339238291F6D}"/>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8263A3DB-DF7A-4776-8BAA-23195CED9D4D}"/>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4D17B985-87AD-44D5-9207-A8DF53280783}"/>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0189255D-EC12-438C-8C6D-67A1133D9425}"/>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B1B45DB5-9EB4-47FB-9D38-C53A7D44F795}"/>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E6DB00D8-8EE7-4A57-9F50-5D46EC2CAEB4}"/>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91206F0C-A05B-4985-8797-CDA9B48ABF9E}"/>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E2F95F47-4626-4911-B67C-EE2CB7C2C2E1}"/>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B5747DA8-6061-428C-94F7-F21A749CAA1D}"/>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2A6621C5-BFA8-43AE-916A-2F488F6E5452}"/>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33796B75-38F3-47E6-89BF-86730C899311}"/>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06668273-D4A1-47F8-8C25-352996F4FDA5}"/>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4676E093-9988-43B6-A709-FD411A7B03F4}"/>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DB87BB4D-2678-4809-AF9A-E75316D2E9DB}"/>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01 / PROBLEM</a:t>
            </a:r>
          </a:p>
        </p:txBody>
      </p:sp>
      <p:sp>
        <p:nvSpPr>
          <p:cNvPr id="24" name="">
            <a:extLst xmlns:a="http://schemas.openxmlformats.org/drawingml/2006/main">
              <a:ext uri="{FF2B5EF4-FFF2-40B4-BE49-F238E27FC236}">
                <a16:creationId xmlns:a16="http://schemas.microsoft.com/office/drawing/2014/main" id="{CFEE9630-62D1-4420-8BB6-96A2D080B0B1}"/>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6396"/>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The Graph supplies data. AskChing builds the comparison.</a:t>
            </a:r>
          </a:p>
        </p:txBody>
      </p:sp>
      <p:sp>
        <p:nvSpPr>
          <p:cNvPr id="25" name="">
            <a:extLst xmlns:a="http://schemas.openxmlformats.org/drawingml/2006/main">
              <a:ext uri="{FF2B5EF4-FFF2-40B4-BE49-F238E27FC236}">
                <a16:creationId xmlns:a16="http://schemas.microsoft.com/office/drawing/2014/main" id="{91EBE53F-9053-4FA1-B234-8E6E1CBF9449}"/>
              </a:ext>
            </a:extLst>
          </p:cNvPr>
          <p:cNvSpPr>
            <a:spLocks xmlns:a="http://schemas.openxmlformats.org/drawingml/2006/main" noGrp="1"/>
          </p:cNvSpPr>
          <p:nvPr/>
        </p:nvSpPr>
        <p:spPr>
          <a:xfrm xmlns:a="http://schemas.openxmlformats.org/drawingml/2006/main">
            <a:off x="609600" y="1924050"/>
            <a:ext cx="4953000" cy="3790950"/>
          </a:xfrm>
          <a:prstGeom xmlns:a="http://schemas.openxmlformats.org/drawingml/2006/main" prst="roundRect">
            <a:avLst>
              <a:gd name="adj" fmla="val 3015"/>
            </a:avLst>
          </a:prstGeom>
          <a:solidFill xmlns:a="http://schemas.openxmlformats.org/drawingml/2006/main">
            <a:srgbClr val="020304"/>
          </a:solidFill>
          <a:ln xmlns:a="http://schemas.openxmlformats.org/drawingml/2006/main" w="9525">
            <a:solidFill>
              <a:srgbClr val="1D2B24"/>
            </a:solidFill>
            <a:prstDash val="solid"/>
          </a:ln>
        </p:spPr>
      </p:sp>
      <p:sp>
        <p:nvSpPr>
          <p:cNvPr id="26" name="">
            <a:extLst xmlns:a="http://schemas.openxmlformats.org/drawingml/2006/main">
              <a:ext uri="{FF2B5EF4-FFF2-40B4-BE49-F238E27FC236}">
                <a16:creationId xmlns:a16="http://schemas.microsoft.com/office/drawing/2014/main" id="{01D02B78-0D1A-4CBE-BB21-665940E15BB0}"/>
              </a:ext>
            </a:extLst>
          </p:cNvPr>
          <p:cNvSpPr>
            <a:spLocks xmlns:a="http://schemas.openxmlformats.org/drawingml/2006/main" noGrp="1"/>
          </p:cNvSpPr>
          <p:nvPr/>
        </p:nvSpPr>
        <p:spPr>
          <a:xfrm xmlns:a="http://schemas.openxmlformats.org/drawingml/2006/main">
            <a:off x="857250" y="2171700"/>
            <a:ext cx="430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5D6FF"/>
                </a:solidFill>
                <a:latin typeface="Courier New"/>
                <a:ea typeface="Courier New"/>
                <a:cs typeface="Courier New"/>
              </a:defRPr>
            </a:pPr>
            <a:r>
              <a:rPr sz="1200" b="1">
                <a:solidFill>
                  <a:srgbClr val="35D6FF"/>
                </a:solidFill>
                <a:latin typeface="Courier New"/>
                <a:ea typeface="Courier New"/>
                <a:cs typeface="Courier New"/>
              </a:rPr>
              <a:t>DIRECT SUBGRAPH RESEARCH</a:t>
            </a:r>
          </a:p>
        </p:txBody>
      </p:sp>
      <p:sp>
        <p:nvSpPr>
          <p:cNvPr id="27" name="">
            <a:extLst xmlns:a="http://schemas.openxmlformats.org/drawingml/2006/main">
              <a:ext uri="{FF2B5EF4-FFF2-40B4-BE49-F238E27FC236}">
                <a16:creationId xmlns:a16="http://schemas.microsoft.com/office/drawing/2014/main" id="{9C2A170F-77F3-40C1-81CD-D87A4C98C71C}"/>
              </a:ext>
            </a:extLst>
          </p:cNvPr>
          <p:cNvSpPr>
            <a:spLocks xmlns:a="http://schemas.openxmlformats.org/drawingml/2006/main" noGrp="1"/>
          </p:cNvSpPr>
          <p:nvPr/>
        </p:nvSpPr>
        <p:spPr>
          <a:xfrm xmlns:a="http://schemas.openxmlformats.org/drawingml/2006/main">
            <a:off x="857250" y="25908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DCF3E5"/>
                </a:solidFill>
                <a:latin typeface="Arial"/>
                <a:ea typeface="Arial"/>
                <a:cs typeface="Arial"/>
              </a:defRPr>
            </a:pPr>
            <a:r>
              <a:rPr sz="1725" b="1">
                <a:solidFill>
                  <a:srgbClr val="DCF3E5"/>
                </a:solidFill>
                <a:latin typeface="Arial"/>
                <a:ea typeface="Arial"/>
                <a:cs typeface="Arial"/>
              </a:rPr>
              <a:t>The researcher must</a:t>
            </a:r>
          </a:p>
        </p:txBody>
      </p:sp>
      <p:sp>
        <p:nvSpPr>
          <p:cNvPr id="28" name="">
            <a:extLst xmlns:a="http://schemas.openxmlformats.org/drawingml/2006/main">
              <a:ext uri="{FF2B5EF4-FFF2-40B4-BE49-F238E27FC236}">
                <a16:creationId xmlns:a16="http://schemas.microsoft.com/office/drawing/2014/main" id="{BB9BBA91-AE1D-4ED2-A5CC-186BF40789C3}"/>
              </a:ext>
            </a:extLst>
          </p:cNvPr>
          <p:cNvSpPr>
            <a:spLocks xmlns:a="http://schemas.openxmlformats.org/drawingml/2006/main" noGrp="1"/>
          </p:cNvSpPr>
          <p:nvPr/>
        </p:nvSpPr>
        <p:spPr>
          <a:xfrm xmlns:a="http://schemas.openxmlformats.org/drawingml/2006/main">
            <a:off x="876300" y="31432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8AA79A"/>
                </a:solidFill>
                <a:latin typeface="Courier New"/>
                <a:ea typeface="Courier New"/>
                <a:cs typeface="Courier New"/>
              </a:defRPr>
            </a:pPr>
            <a:r>
              <a:rPr sz="1275" b="0">
                <a:solidFill>
                  <a:srgbClr val="8AA79A"/>
                </a:solidFill>
                <a:latin typeface="Courier New"/>
                <a:ea typeface="Courier New"/>
                <a:cs typeface="Courier New"/>
              </a:rPr>
              <a:t>01  find the active deployments</a:t>
            </a:r>
          </a:p>
        </p:txBody>
      </p:sp>
      <p:sp>
        <p:nvSpPr>
          <p:cNvPr id="29" name="">
            <a:extLst xmlns:a="http://schemas.openxmlformats.org/drawingml/2006/main">
              <a:ext uri="{FF2B5EF4-FFF2-40B4-BE49-F238E27FC236}">
                <a16:creationId xmlns:a16="http://schemas.microsoft.com/office/drawing/2014/main" id="{BDBBBF8E-75C0-492B-A8AD-16639BD2114E}"/>
              </a:ext>
            </a:extLst>
          </p:cNvPr>
          <p:cNvSpPr>
            <a:spLocks xmlns:a="http://schemas.openxmlformats.org/drawingml/2006/main" noGrp="1"/>
          </p:cNvSpPr>
          <p:nvPr/>
        </p:nvSpPr>
        <p:spPr>
          <a:xfrm xmlns:a="http://schemas.openxmlformats.org/drawingml/2006/main">
            <a:off x="876300" y="36004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8AA79A"/>
                </a:solidFill>
                <a:latin typeface="Courier New"/>
                <a:ea typeface="Courier New"/>
                <a:cs typeface="Courier New"/>
              </a:defRPr>
            </a:pPr>
            <a:r>
              <a:rPr sz="1275" b="0">
                <a:solidFill>
                  <a:srgbClr val="8AA79A"/>
                </a:solidFill>
                <a:latin typeface="Courier New"/>
                <a:ea typeface="Courier New"/>
                <a:cs typeface="Courier New"/>
              </a:rPr>
              <a:t>02  inspect each protocol schema</a:t>
            </a:r>
          </a:p>
        </p:txBody>
      </p:sp>
      <p:sp>
        <p:nvSpPr>
          <p:cNvPr id="30" name="">
            <a:extLst xmlns:a="http://schemas.openxmlformats.org/drawingml/2006/main">
              <a:ext uri="{FF2B5EF4-FFF2-40B4-BE49-F238E27FC236}">
                <a16:creationId xmlns:a16="http://schemas.microsoft.com/office/drawing/2014/main" id="{05033DD2-F660-4590-AC2B-8D136345A027}"/>
              </a:ext>
            </a:extLst>
          </p:cNvPr>
          <p:cNvSpPr>
            <a:spLocks xmlns:a="http://schemas.openxmlformats.org/drawingml/2006/main" noGrp="1"/>
          </p:cNvSpPr>
          <p:nvPr/>
        </p:nvSpPr>
        <p:spPr>
          <a:xfrm xmlns:a="http://schemas.openxmlformats.org/drawingml/2006/main">
            <a:off x="876300" y="40576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8AA79A"/>
                </a:solidFill>
                <a:latin typeface="Courier New"/>
                <a:ea typeface="Courier New"/>
                <a:cs typeface="Courier New"/>
              </a:defRPr>
            </a:pPr>
            <a:r>
              <a:rPr sz="1275" b="0">
                <a:solidFill>
                  <a:srgbClr val="8AA79A"/>
                </a:solidFill>
                <a:latin typeface="Courier New"/>
                <a:ea typeface="Courier New"/>
                <a:cs typeface="Courier New"/>
              </a:rPr>
              <a:t>03  write GraphQL for every source</a:t>
            </a:r>
          </a:p>
        </p:txBody>
      </p:sp>
      <p:sp>
        <p:nvSpPr>
          <p:cNvPr id="31" name="">
            <a:extLst xmlns:a="http://schemas.openxmlformats.org/drawingml/2006/main">
              <a:ext uri="{FF2B5EF4-FFF2-40B4-BE49-F238E27FC236}">
                <a16:creationId xmlns:a16="http://schemas.microsoft.com/office/drawing/2014/main" id="{7E50E38A-AD0D-450C-A207-F697C1F79397}"/>
              </a:ext>
            </a:extLst>
          </p:cNvPr>
          <p:cNvSpPr>
            <a:spLocks xmlns:a="http://schemas.openxmlformats.org/drawingml/2006/main" noGrp="1"/>
          </p:cNvSpPr>
          <p:nvPr/>
        </p:nvSpPr>
        <p:spPr>
          <a:xfrm xmlns:a="http://schemas.openxmlformats.org/drawingml/2006/main">
            <a:off x="876300" y="45148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FFC857"/>
                </a:solidFill>
                <a:latin typeface="Courier New"/>
                <a:ea typeface="Courier New"/>
                <a:cs typeface="Courier New"/>
              </a:defRPr>
            </a:pPr>
            <a:r>
              <a:rPr sz="1275" b="0">
                <a:solidFill>
                  <a:srgbClr val="FFC857"/>
                </a:solidFill>
                <a:latin typeface="Courier New"/>
                <a:ea typeface="Courier New"/>
                <a:cs typeface="Courier New"/>
              </a:rPr>
              <a:t>04  reconcile APY definitions and units</a:t>
            </a:r>
          </a:p>
        </p:txBody>
      </p:sp>
      <p:sp>
        <p:nvSpPr>
          <p:cNvPr id="32" name="">
            <a:extLst xmlns:a="http://schemas.openxmlformats.org/drawingml/2006/main">
              <a:ext uri="{FF2B5EF4-FFF2-40B4-BE49-F238E27FC236}">
                <a16:creationId xmlns:a16="http://schemas.microsoft.com/office/drawing/2014/main" id="{C7FBDB6B-0933-477C-9838-E42EF2E504BD}"/>
              </a:ext>
            </a:extLst>
          </p:cNvPr>
          <p:cNvSpPr>
            <a:spLocks xmlns:a="http://schemas.openxmlformats.org/drawingml/2006/main" noGrp="1"/>
          </p:cNvSpPr>
          <p:nvPr/>
        </p:nvSpPr>
        <p:spPr>
          <a:xfrm xmlns:a="http://schemas.openxmlformats.org/drawingml/2006/main">
            <a:off x="876300" y="4972050"/>
            <a:ext cx="4114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8AA79A"/>
                </a:solidFill>
                <a:latin typeface="Courier New"/>
                <a:ea typeface="Courier New"/>
                <a:cs typeface="Courier New"/>
              </a:defRPr>
            </a:pPr>
            <a:r>
              <a:rPr sz="1275" b="0">
                <a:solidFill>
                  <a:srgbClr val="8AA79A"/>
                </a:solidFill>
                <a:latin typeface="Courier New"/>
                <a:ea typeface="Courier New"/>
                <a:cs typeface="Courier New"/>
              </a:rPr>
              <a:t>05  assemble citations and gaps</a:t>
            </a:r>
          </a:p>
        </p:txBody>
      </p:sp>
      <p:sp>
        <p:nvSpPr>
          <p:cNvPr id="33" name="">
            <a:extLst xmlns:a="http://schemas.openxmlformats.org/drawingml/2006/main">
              <a:ext uri="{FF2B5EF4-FFF2-40B4-BE49-F238E27FC236}">
                <a16:creationId xmlns:a16="http://schemas.microsoft.com/office/drawing/2014/main" id="{881306A0-2385-4A7E-B518-F4AAB9E9F78D}"/>
              </a:ext>
            </a:extLst>
          </p:cNvPr>
          <p:cNvSpPr>
            <a:spLocks xmlns:a="http://schemas.openxmlformats.org/drawingml/2006/main" noGrp="1"/>
          </p:cNvSpPr>
          <p:nvPr/>
        </p:nvSpPr>
        <p:spPr>
          <a:xfrm xmlns:a="http://schemas.openxmlformats.org/drawingml/2006/main">
            <a:off x="5981700" y="1924050"/>
            <a:ext cx="5600700" cy="3790950"/>
          </a:xfrm>
          <a:prstGeom xmlns:a="http://schemas.openxmlformats.org/drawingml/2006/main" prst="roundRect">
            <a:avLst>
              <a:gd name="adj" fmla="val 3015"/>
            </a:avLst>
          </a:prstGeom>
          <a:solidFill xmlns:a="http://schemas.openxmlformats.org/drawingml/2006/main">
            <a:srgbClr val="0A100E"/>
          </a:solidFill>
          <a:ln xmlns:a="http://schemas.openxmlformats.org/drawingml/2006/main" w="9525">
            <a:solidFill>
              <a:srgbClr val="3DF59A"/>
            </a:solidFill>
            <a:prstDash val="solid"/>
          </a:ln>
        </p:spPr>
      </p:sp>
      <p:sp>
        <p:nvSpPr>
          <p:cNvPr id="34" name="">
            <a:extLst xmlns:a="http://schemas.openxmlformats.org/drawingml/2006/main">
              <a:ext uri="{FF2B5EF4-FFF2-40B4-BE49-F238E27FC236}">
                <a16:creationId xmlns:a16="http://schemas.microsoft.com/office/drawing/2014/main" id="{2183F0F5-223F-485B-8F13-82C267CA706E}"/>
              </a:ext>
            </a:extLst>
          </p:cNvPr>
          <p:cNvSpPr>
            <a:spLocks xmlns:a="http://schemas.openxmlformats.org/drawingml/2006/main" noGrp="1"/>
          </p:cNvSpPr>
          <p:nvPr/>
        </p:nvSpPr>
        <p:spPr>
          <a:xfrm xmlns:a="http://schemas.openxmlformats.org/drawingml/2006/main">
            <a:off x="6229350" y="217170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ASKCHING RESEARCH LAYER</a:t>
            </a:r>
          </a:p>
        </p:txBody>
      </p:sp>
      <p:sp>
        <p:nvSpPr>
          <p:cNvPr id="35" name="">
            <a:extLst xmlns:a="http://schemas.openxmlformats.org/drawingml/2006/main">
              <a:ext uri="{FF2B5EF4-FFF2-40B4-BE49-F238E27FC236}">
                <a16:creationId xmlns:a16="http://schemas.microsoft.com/office/drawing/2014/main" id="{877E9B63-F753-4214-9EED-3BDE63B6E824}"/>
              </a:ext>
            </a:extLst>
          </p:cNvPr>
          <p:cNvSpPr>
            <a:spLocks xmlns:a="http://schemas.openxmlformats.org/drawingml/2006/main" noGrp="1"/>
          </p:cNvSpPr>
          <p:nvPr/>
        </p:nvSpPr>
        <p:spPr>
          <a:xfrm xmlns:a="http://schemas.openxmlformats.org/drawingml/2006/main">
            <a:off x="6229350" y="2590800"/>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1">
                <a:solidFill>
                  <a:srgbClr val="DCF3E5"/>
                </a:solidFill>
                <a:latin typeface="Arial"/>
                <a:ea typeface="Arial"/>
                <a:cs typeface="Arial"/>
              </a:defRPr>
            </a:pPr>
            <a:r>
              <a:rPr sz="1725" b="1">
                <a:solidFill>
                  <a:srgbClr val="DCF3E5"/>
                </a:solidFill>
                <a:latin typeface="Arial"/>
                <a:ea typeface="Arial"/>
                <a:cs typeface="Arial"/>
              </a:rPr>
              <a:t>The user asks one question</a:t>
            </a:r>
          </a:p>
        </p:txBody>
      </p:sp>
      <p:sp>
        <p:nvSpPr>
          <p:cNvPr id="36" name="">
            <a:extLst xmlns:a="http://schemas.openxmlformats.org/drawingml/2006/main">
              <a:ext uri="{FF2B5EF4-FFF2-40B4-BE49-F238E27FC236}">
                <a16:creationId xmlns:a16="http://schemas.microsoft.com/office/drawing/2014/main" id="{DF7B41E3-DC37-4718-A976-3E813BA6A1A0}"/>
              </a:ext>
            </a:extLst>
          </p:cNvPr>
          <p:cNvSpPr>
            <a:spLocks xmlns:a="http://schemas.openxmlformats.org/drawingml/2006/main" noGrp="1"/>
          </p:cNvSpPr>
          <p:nvPr/>
        </p:nvSpPr>
        <p:spPr>
          <a:xfrm xmlns:a="http://schemas.openxmlformats.org/drawingml/2006/main">
            <a:off x="6248400" y="31432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01  fan out across live subgraphs</a:t>
            </a:r>
          </a:p>
        </p:txBody>
      </p:sp>
      <p:sp>
        <p:nvSpPr>
          <p:cNvPr id="37" name="">
            <a:extLst xmlns:a="http://schemas.openxmlformats.org/drawingml/2006/main">
              <a:ext uri="{FF2B5EF4-FFF2-40B4-BE49-F238E27FC236}">
                <a16:creationId xmlns:a16="http://schemas.microsoft.com/office/drawing/2014/main" id="{E6C14562-BBD9-4CED-9DE2-F030A58D0CF9}"/>
              </a:ext>
            </a:extLst>
          </p:cNvPr>
          <p:cNvSpPr>
            <a:spLocks xmlns:a="http://schemas.openxmlformats.org/drawingml/2006/main" noGrp="1"/>
          </p:cNvSpPr>
          <p:nvPr/>
        </p:nvSpPr>
        <p:spPr>
          <a:xfrm xmlns:a="http://schemas.openxmlformats.org/drawingml/2006/main">
            <a:off x="6248400" y="36004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02  normalize comparable definitions</a:t>
            </a:r>
          </a:p>
        </p:txBody>
      </p:sp>
      <p:sp>
        <p:nvSpPr>
          <p:cNvPr id="38" name="">
            <a:extLst xmlns:a="http://schemas.openxmlformats.org/drawingml/2006/main">
              <a:ext uri="{FF2B5EF4-FFF2-40B4-BE49-F238E27FC236}">
                <a16:creationId xmlns:a16="http://schemas.microsoft.com/office/drawing/2014/main" id="{DE710694-D41A-419B-89CC-D4E895946DCE}"/>
              </a:ext>
            </a:extLst>
          </p:cNvPr>
          <p:cNvSpPr>
            <a:spLocks xmlns:a="http://schemas.openxmlformats.org/drawingml/2006/main" noGrp="1"/>
          </p:cNvSpPr>
          <p:nvPr/>
        </p:nvSpPr>
        <p:spPr>
          <a:xfrm xmlns:a="http://schemas.openxmlformats.org/drawingml/2006/main">
            <a:off x="6248400" y="40576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03  rank only valid observations</a:t>
            </a:r>
          </a:p>
        </p:txBody>
      </p:sp>
      <p:sp>
        <p:nvSpPr>
          <p:cNvPr id="39" name="">
            <a:extLst xmlns:a="http://schemas.openxmlformats.org/drawingml/2006/main">
              <a:ext uri="{FF2B5EF4-FFF2-40B4-BE49-F238E27FC236}">
                <a16:creationId xmlns:a16="http://schemas.microsoft.com/office/drawing/2014/main" id="{249A7C7D-A0D1-48CD-97CD-44593917DA26}"/>
              </a:ext>
            </a:extLst>
          </p:cNvPr>
          <p:cNvSpPr>
            <a:spLocks xmlns:a="http://schemas.openxmlformats.org/drawingml/2006/main" noGrp="1"/>
          </p:cNvSpPr>
          <p:nvPr/>
        </p:nvSpPr>
        <p:spPr>
          <a:xfrm xmlns:a="http://schemas.openxmlformats.org/drawingml/2006/main">
            <a:off x="6248400" y="45148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04  attach block-level provenance</a:t>
            </a:r>
          </a:p>
        </p:txBody>
      </p:sp>
      <p:sp>
        <p:nvSpPr>
          <p:cNvPr id="40" name="">
            <a:extLst xmlns:a="http://schemas.openxmlformats.org/drawingml/2006/main">
              <a:ext uri="{FF2B5EF4-FFF2-40B4-BE49-F238E27FC236}">
                <a16:creationId xmlns:a16="http://schemas.microsoft.com/office/drawing/2014/main" id="{FCA16EEB-853C-4887-AA7E-B395F0C02028}"/>
              </a:ext>
            </a:extLst>
          </p:cNvPr>
          <p:cNvSpPr>
            <a:spLocks xmlns:a="http://schemas.openxmlformats.org/drawingml/2006/main" noGrp="1"/>
          </p:cNvSpPr>
          <p:nvPr/>
        </p:nvSpPr>
        <p:spPr>
          <a:xfrm xmlns:a="http://schemas.openxmlformats.org/drawingml/2006/main">
            <a:off x="6248400" y="497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F59A"/>
                </a:solidFill>
                <a:latin typeface="Courier New"/>
                <a:ea typeface="Courier New"/>
                <a:cs typeface="Courier New"/>
              </a:defRPr>
            </a:pPr>
            <a:r>
              <a:rPr sz="1275" b="1">
                <a:solidFill>
                  <a:srgbClr val="3DF59A"/>
                </a:solidFill>
                <a:latin typeface="Courier New"/>
                <a:ea typeface="Courier New"/>
                <a:cs typeface="Courier New"/>
              </a:rPr>
              <a:t>05  fail closed or report explicit gaps</a:t>
            </a:r>
          </a:p>
        </p:txBody>
      </p:sp>
      <p:sp>
        <p:nvSpPr>
          <p:cNvPr id="41" name="">
            <a:extLst xmlns:a="http://schemas.openxmlformats.org/drawingml/2006/main">
              <a:ext uri="{FF2B5EF4-FFF2-40B4-BE49-F238E27FC236}">
                <a16:creationId xmlns:a16="http://schemas.microsoft.com/office/drawing/2014/main" id="{07174376-0132-42CA-AE98-572ADEA36554}"/>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2" name="">
            <a:extLst xmlns:a="http://schemas.openxmlformats.org/drawingml/2006/main">
              <a:ext uri="{FF2B5EF4-FFF2-40B4-BE49-F238E27FC236}">
                <a16:creationId xmlns:a16="http://schemas.microsoft.com/office/drawing/2014/main" id="{B0C9EE3A-92FB-44B6-8938-CB4381BB554E}"/>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43" name="">
            <a:extLst xmlns:a="http://schemas.openxmlformats.org/drawingml/2006/main">
              <a:ext uri="{FF2B5EF4-FFF2-40B4-BE49-F238E27FC236}">
                <a16:creationId xmlns:a16="http://schemas.microsoft.com/office/drawing/2014/main" id="{036BFA01-88D0-4969-ACC6-DF6F15275982}"/>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02</a:t>
            </a:r>
          </a:p>
        </p:txBody>
      </p:sp>
    </p:spTree>
    <p:extLst>
      <p:ext uri="{BB962C8B-B14F-4D97-AF65-F5344CB8AC3E}">
        <p14:creationId xmlns:p14="http://schemas.microsoft.com/office/powerpoint/2010/main" val="1288337573"/>
      </p:ext>
    </p:extLst>
  </p:cSld>
</p:sld>
</file>

<file path=ppt/slides/slide3.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8EC36E12-5284-458D-B075-3586D81EBA1C}"/>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59CC05B9-6381-4459-8AC3-1E55FEE7C8D8}"/>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E80994C4-560E-4BD8-8A9B-65285030FDF6}"/>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AE177954-737F-4DA2-ABC8-F7DC00921965}"/>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8951E117-DE01-44BB-8125-6244D979BBFE}"/>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11CB18E9-5841-4924-AF05-2DED590BFF51}"/>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FB3D342F-14AA-48A1-98A1-CDBEABD0ED67}"/>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FDDB16A7-F20E-4DFC-BD89-B65DECEFE27A}"/>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AD1900DF-24E3-456F-BE0C-BEB86C46466C}"/>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8C692B8E-7065-44A1-8B35-C916883C5105}"/>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A60A7236-B17F-46BE-A525-142B23BBF574}"/>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8A9FB637-BF5C-4E95-84C5-F80FBAF489F2}"/>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EA54925C-B2B0-4042-BDD1-7512B9FF0B9F}"/>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60945CE7-565F-4BBC-9C10-96BF16CEEAE9}"/>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4F132DC6-849E-44EF-A9D4-8DE3419105E9}"/>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DEE27598-1609-465E-BEE9-CA2DC75CEC07}"/>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CB157D82-03C4-48D0-966D-26A9E1A1CD36}"/>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D57042A9-F676-4A99-BF90-D262D329DB8F}"/>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BB1D8CEA-834D-42B0-BB0D-742C5B20913C}"/>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4C8515F7-9C95-4C39-BE01-D999E003A8BA}"/>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FB4D586E-D2F0-46CB-A147-671C817D1D06}"/>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21866C4C-4577-4FF5-9BB2-5B88F96F964F}"/>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8FF4B9C8-00C0-402C-B05F-D118C26BAEAE}"/>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02 / ARCHITECTURE</a:t>
            </a:r>
          </a:p>
        </p:txBody>
      </p:sp>
      <p:sp>
        <p:nvSpPr>
          <p:cNvPr id="24" name="">
            <a:extLst xmlns:a="http://schemas.openxmlformats.org/drawingml/2006/main">
              <a:ext uri="{FF2B5EF4-FFF2-40B4-BE49-F238E27FC236}">
                <a16:creationId xmlns:a16="http://schemas.microsoft.com/office/drawing/2014/main" id="{3A5DC33C-FB99-4AF4-9AB5-9CF14424431C}"/>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AskChing turns Graph access into comparable research</a:t>
            </a:r>
          </a:p>
        </p:txBody>
      </p:sp>
      <p:sp>
        <p:nvSpPr>
          <p:cNvPr id="25" name="">
            <a:extLst xmlns:a="http://schemas.openxmlformats.org/drawingml/2006/main">
              <a:ext uri="{FF2B5EF4-FFF2-40B4-BE49-F238E27FC236}">
                <a16:creationId xmlns:a16="http://schemas.microsoft.com/office/drawing/2014/main" id="{CAD2C09F-CB33-4B17-975C-09DECDF1DAEB}"/>
              </a:ext>
            </a:extLst>
          </p:cNvPr>
          <p:cNvSpPr>
            <a:spLocks xmlns:a="http://schemas.openxmlformats.org/drawingml/2006/main" noGrp="1"/>
          </p:cNvSpPr>
          <p:nvPr/>
        </p:nvSpPr>
        <p:spPr>
          <a:xfrm xmlns:a="http://schemas.openxmlformats.org/drawingml/2006/main">
            <a:off x="609600" y="2324100"/>
            <a:ext cx="215265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5D6FF"/>
            </a:solidFill>
            <a:prstDash val="solid"/>
          </a:ln>
        </p:spPr>
      </p:sp>
      <p:sp>
        <p:nvSpPr>
          <p:cNvPr id="26" name="">
            <a:extLst xmlns:a="http://schemas.openxmlformats.org/drawingml/2006/main">
              <a:ext uri="{FF2B5EF4-FFF2-40B4-BE49-F238E27FC236}">
                <a16:creationId xmlns:a16="http://schemas.microsoft.com/office/drawing/2014/main" id="{DAD0C1BA-99FA-4868-A4BF-86ED03DEC9BD}"/>
              </a:ext>
            </a:extLst>
          </p:cNvPr>
          <p:cNvSpPr>
            <a:spLocks xmlns:a="http://schemas.openxmlformats.org/drawingml/2006/main" noGrp="1"/>
          </p:cNvSpPr>
          <p:nvPr/>
        </p:nvSpPr>
        <p:spPr>
          <a:xfrm xmlns:a="http://schemas.openxmlformats.org/drawingml/2006/main">
            <a:off x="781050" y="25336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5D6FF"/>
                </a:solidFill>
                <a:latin typeface="Courier New"/>
                <a:ea typeface="Courier New"/>
                <a:cs typeface="Courier New"/>
              </a:defRPr>
            </a:pPr>
            <a:r>
              <a:rPr sz="1350" b="1">
                <a:solidFill>
                  <a:srgbClr val="35D6FF"/>
                </a:solidFill>
                <a:latin typeface="Courier New"/>
                <a:ea typeface="Courier New"/>
                <a:cs typeface="Courier New"/>
              </a:rPr>
              <a:t>ANY MCP CLIENT</a:t>
            </a:r>
          </a:p>
        </p:txBody>
      </p:sp>
      <p:sp>
        <p:nvSpPr>
          <p:cNvPr id="27" name="">
            <a:extLst xmlns:a="http://schemas.openxmlformats.org/drawingml/2006/main">
              <a:ext uri="{FF2B5EF4-FFF2-40B4-BE49-F238E27FC236}">
                <a16:creationId xmlns:a16="http://schemas.microsoft.com/office/drawing/2014/main" id="{4FCB638B-881E-4184-9E01-112049F61F29}"/>
              </a:ext>
            </a:extLst>
          </p:cNvPr>
          <p:cNvSpPr>
            <a:spLocks xmlns:a="http://schemas.openxmlformats.org/drawingml/2006/main" noGrp="1"/>
          </p:cNvSpPr>
          <p:nvPr/>
        </p:nvSpPr>
        <p:spPr>
          <a:xfrm xmlns:a="http://schemas.openxmlformats.org/drawingml/2006/main">
            <a:off x="781050" y="300990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93479"/>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Claude · Cursor · VS Code</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Codex · Gemini · ChatGPT</a:t>
            </a:r>
          </a:p>
        </p:txBody>
      </p:sp>
      <p:sp>
        <p:nvSpPr>
          <p:cNvPr id="28" name="">
            <a:extLst xmlns:a="http://schemas.openxmlformats.org/drawingml/2006/main">
              <a:ext uri="{FF2B5EF4-FFF2-40B4-BE49-F238E27FC236}">
                <a16:creationId xmlns:a16="http://schemas.microsoft.com/office/drawing/2014/main" id="{928EF2B7-C44B-4E8F-ADED-B0D3DFEF5F75}"/>
              </a:ext>
            </a:extLst>
          </p:cNvPr>
          <p:cNvSpPr>
            <a:spLocks xmlns:a="http://schemas.openxmlformats.org/drawingml/2006/main" noGrp="1"/>
          </p:cNvSpPr>
          <p:nvPr/>
        </p:nvSpPr>
        <p:spPr>
          <a:xfrm xmlns:a="http://schemas.openxmlformats.org/drawingml/2006/main">
            <a:off x="2914650" y="2857500"/>
            <a:ext cx="342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3000" b="0">
                <a:solidFill>
                  <a:srgbClr val="5C7368"/>
                </a:solidFill>
                <a:latin typeface="Courier New"/>
                <a:ea typeface="Courier New"/>
                <a:cs typeface="Courier New"/>
              </a:defRPr>
            </a:pPr>
            <a:r>
              <a:rPr sz="3000" b="0">
                <a:solidFill>
                  <a:srgbClr val="5C7368"/>
                </a:solidFill>
                <a:latin typeface="Courier New"/>
                <a:ea typeface="Courier New"/>
                <a:cs typeface="Courier New"/>
              </a:rPr>
              <a:t>›</a:t>
            </a:r>
          </a:p>
        </p:txBody>
      </p:sp>
      <p:sp>
        <p:nvSpPr>
          <p:cNvPr id="29" name="">
            <a:extLst xmlns:a="http://schemas.openxmlformats.org/drawingml/2006/main">
              <a:ext uri="{FF2B5EF4-FFF2-40B4-BE49-F238E27FC236}">
                <a16:creationId xmlns:a16="http://schemas.microsoft.com/office/drawing/2014/main" id="{48110A03-89E0-4E26-91AE-B66E614B0351}"/>
              </a:ext>
            </a:extLst>
          </p:cNvPr>
          <p:cNvSpPr>
            <a:spLocks xmlns:a="http://schemas.openxmlformats.org/drawingml/2006/main" noGrp="1"/>
          </p:cNvSpPr>
          <p:nvPr/>
        </p:nvSpPr>
        <p:spPr>
          <a:xfrm xmlns:a="http://schemas.openxmlformats.org/drawingml/2006/main">
            <a:off x="3333750" y="2324100"/>
            <a:ext cx="232410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DF59A"/>
            </a:solidFill>
            <a:prstDash val="solid"/>
          </a:ln>
        </p:spPr>
      </p:sp>
      <p:sp>
        <p:nvSpPr>
          <p:cNvPr id="30" name="">
            <a:extLst xmlns:a="http://schemas.openxmlformats.org/drawingml/2006/main">
              <a:ext uri="{FF2B5EF4-FFF2-40B4-BE49-F238E27FC236}">
                <a16:creationId xmlns:a16="http://schemas.microsoft.com/office/drawing/2014/main" id="{AD67748E-191C-43CF-91D3-24A101ECFD04}"/>
              </a:ext>
            </a:extLst>
          </p:cNvPr>
          <p:cNvSpPr>
            <a:spLocks xmlns:a="http://schemas.openxmlformats.org/drawingml/2006/main" noGrp="1"/>
          </p:cNvSpPr>
          <p:nvPr/>
        </p:nvSpPr>
        <p:spPr>
          <a:xfrm xmlns:a="http://schemas.openxmlformats.org/drawingml/2006/main">
            <a:off x="3505200" y="25336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ASKCHING</a:t>
            </a:r>
          </a:p>
        </p:txBody>
      </p:sp>
      <p:sp>
        <p:nvSpPr>
          <p:cNvPr id="31" name="">
            <a:extLst xmlns:a="http://schemas.openxmlformats.org/drawingml/2006/main">
              <a:ext uri="{FF2B5EF4-FFF2-40B4-BE49-F238E27FC236}">
                <a16:creationId xmlns:a16="http://schemas.microsoft.com/office/drawing/2014/main" id="{1DF4D3B9-676F-433B-965E-A5C249121407}"/>
              </a:ext>
            </a:extLst>
          </p:cNvPr>
          <p:cNvSpPr>
            <a:spLocks xmlns:a="http://schemas.openxmlformats.org/drawingml/2006/main" noGrp="1"/>
          </p:cNvSpPr>
          <p:nvPr/>
        </p:nvSpPr>
        <p:spPr>
          <a:xfrm xmlns:a="http://schemas.openxmlformats.org/drawingml/2006/main">
            <a:off x="3505200" y="3009900"/>
            <a:ext cx="1981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7 tools</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normalization + evidence gates</a:t>
            </a:r>
          </a:p>
        </p:txBody>
      </p:sp>
      <p:sp>
        <p:nvSpPr>
          <p:cNvPr id="32" name="">
            <a:extLst xmlns:a="http://schemas.openxmlformats.org/drawingml/2006/main">
              <a:ext uri="{FF2B5EF4-FFF2-40B4-BE49-F238E27FC236}">
                <a16:creationId xmlns:a16="http://schemas.microsoft.com/office/drawing/2014/main" id="{7F8B608A-3613-4903-AAD7-57E1C17DA797}"/>
              </a:ext>
            </a:extLst>
          </p:cNvPr>
          <p:cNvSpPr>
            <a:spLocks xmlns:a="http://schemas.openxmlformats.org/drawingml/2006/main" noGrp="1"/>
          </p:cNvSpPr>
          <p:nvPr/>
        </p:nvSpPr>
        <p:spPr>
          <a:xfrm xmlns:a="http://schemas.openxmlformats.org/drawingml/2006/main">
            <a:off x="5810250" y="2857500"/>
            <a:ext cx="342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3000" b="0">
                <a:solidFill>
                  <a:srgbClr val="5C7368"/>
                </a:solidFill>
                <a:latin typeface="Courier New"/>
                <a:ea typeface="Courier New"/>
                <a:cs typeface="Courier New"/>
              </a:defRPr>
            </a:pPr>
            <a:r>
              <a:rPr sz="3000" b="0">
                <a:solidFill>
                  <a:srgbClr val="5C7368"/>
                </a:solidFill>
                <a:latin typeface="Courier New"/>
                <a:ea typeface="Courier New"/>
                <a:cs typeface="Courier New"/>
              </a:rPr>
              <a:t>›</a:t>
            </a:r>
          </a:p>
        </p:txBody>
      </p:sp>
      <p:sp>
        <p:nvSpPr>
          <p:cNvPr id="33" name="">
            <a:extLst xmlns:a="http://schemas.openxmlformats.org/drawingml/2006/main">
              <a:ext uri="{FF2B5EF4-FFF2-40B4-BE49-F238E27FC236}">
                <a16:creationId xmlns:a16="http://schemas.microsoft.com/office/drawing/2014/main" id="{037E6339-B2CC-47BC-AE6C-2F9FA799EB7E}"/>
              </a:ext>
            </a:extLst>
          </p:cNvPr>
          <p:cNvSpPr>
            <a:spLocks xmlns:a="http://schemas.openxmlformats.org/drawingml/2006/main" noGrp="1"/>
          </p:cNvSpPr>
          <p:nvPr/>
        </p:nvSpPr>
        <p:spPr>
          <a:xfrm xmlns:a="http://schemas.openxmlformats.org/drawingml/2006/main">
            <a:off x="6229350" y="2324100"/>
            <a:ext cx="232410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5D6FF"/>
            </a:solidFill>
            <a:prstDash val="solid"/>
          </a:ln>
        </p:spPr>
      </p:sp>
      <p:sp>
        <p:nvSpPr>
          <p:cNvPr id="34" name="">
            <a:extLst xmlns:a="http://schemas.openxmlformats.org/drawingml/2006/main">
              <a:ext uri="{FF2B5EF4-FFF2-40B4-BE49-F238E27FC236}">
                <a16:creationId xmlns:a16="http://schemas.microsoft.com/office/drawing/2014/main" id="{33219F45-1EA4-46A9-8889-4CB04C99E0CC}"/>
              </a:ext>
            </a:extLst>
          </p:cNvPr>
          <p:cNvSpPr>
            <a:spLocks xmlns:a="http://schemas.openxmlformats.org/drawingml/2006/main" noGrp="1"/>
          </p:cNvSpPr>
          <p:nvPr/>
        </p:nvSpPr>
        <p:spPr>
          <a:xfrm xmlns:a="http://schemas.openxmlformats.org/drawingml/2006/main">
            <a:off x="6400800" y="2533650"/>
            <a:ext cx="1981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5D6FF"/>
                </a:solidFill>
                <a:latin typeface="Courier New"/>
                <a:ea typeface="Courier New"/>
                <a:cs typeface="Courier New"/>
              </a:defRPr>
            </a:pPr>
            <a:r>
              <a:rPr sz="1350" b="1">
                <a:solidFill>
                  <a:srgbClr val="35D6FF"/>
                </a:solidFill>
                <a:latin typeface="Courier New"/>
                <a:ea typeface="Courier New"/>
                <a:cs typeface="Courier New"/>
              </a:rPr>
              <a:t>THE GRAPH</a:t>
            </a:r>
          </a:p>
        </p:txBody>
      </p:sp>
      <p:sp>
        <p:nvSpPr>
          <p:cNvPr id="35" name="">
            <a:extLst xmlns:a="http://schemas.openxmlformats.org/drawingml/2006/main">
              <a:ext uri="{FF2B5EF4-FFF2-40B4-BE49-F238E27FC236}">
                <a16:creationId xmlns:a16="http://schemas.microsoft.com/office/drawing/2014/main" id="{6879780D-AD67-4FF8-B996-EA2843F6F674}"/>
              </a:ext>
            </a:extLst>
          </p:cNvPr>
          <p:cNvSpPr>
            <a:spLocks xmlns:a="http://schemas.openxmlformats.org/drawingml/2006/main" noGrp="1"/>
          </p:cNvSpPr>
          <p:nvPr/>
        </p:nvSpPr>
        <p:spPr>
          <a:xfrm xmlns:a="http://schemas.openxmlformats.org/drawingml/2006/main">
            <a:off x="6400800" y="3009900"/>
            <a:ext cx="1981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Gateway</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Messari subgraph schemas</a:t>
            </a:r>
          </a:p>
        </p:txBody>
      </p:sp>
      <p:sp>
        <p:nvSpPr>
          <p:cNvPr id="36" name="">
            <a:extLst xmlns:a="http://schemas.openxmlformats.org/drawingml/2006/main">
              <a:ext uri="{FF2B5EF4-FFF2-40B4-BE49-F238E27FC236}">
                <a16:creationId xmlns:a16="http://schemas.microsoft.com/office/drawing/2014/main" id="{662D8DEB-66AF-461B-92B1-0B6AE3944272}"/>
              </a:ext>
            </a:extLst>
          </p:cNvPr>
          <p:cNvSpPr>
            <a:spLocks xmlns:a="http://schemas.openxmlformats.org/drawingml/2006/main" noGrp="1"/>
          </p:cNvSpPr>
          <p:nvPr/>
        </p:nvSpPr>
        <p:spPr>
          <a:xfrm xmlns:a="http://schemas.openxmlformats.org/drawingml/2006/main">
            <a:off x="8705850" y="2857500"/>
            <a:ext cx="342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3000" b="0">
                <a:solidFill>
                  <a:srgbClr val="5C7368"/>
                </a:solidFill>
                <a:latin typeface="Courier New"/>
                <a:ea typeface="Courier New"/>
                <a:cs typeface="Courier New"/>
              </a:defRPr>
            </a:pPr>
            <a:r>
              <a:rPr sz="3000" b="0">
                <a:solidFill>
                  <a:srgbClr val="5C7368"/>
                </a:solidFill>
                <a:latin typeface="Courier New"/>
                <a:ea typeface="Courier New"/>
                <a:cs typeface="Courier New"/>
              </a:rPr>
              <a:t>›</a:t>
            </a:r>
          </a:p>
        </p:txBody>
      </p:sp>
      <p:sp>
        <p:nvSpPr>
          <p:cNvPr id="37" name="">
            <a:extLst xmlns:a="http://schemas.openxmlformats.org/drawingml/2006/main">
              <a:ext uri="{FF2B5EF4-FFF2-40B4-BE49-F238E27FC236}">
                <a16:creationId xmlns:a16="http://schemas.microsoft.com/office/drawing/2014/main" id="{67F4D15C-190F-4032-A24B-5C3B455060DE}"/>
              </a:ext>
            </a:extLst>
          </p:cNvPr>
          <p:cNvSpPr>
            <a:spLocks xmlns:a="http://schemas.openxmlformats.org/drawingml/2006/main" noGrp="1"/>
          </p:cNvSpPr>
          <p:nvPr/>
        </p:nvSpPr>
        <p:spPr>
          <a:xfrm xmlns:a="http://schemas.openxmlformats.org/drawingml/2006/main">
            <a:off x="9124950" y="2324100"/>
            <a:ext cx="2457450" cy="1619250"/>
          </a:xfrm>
          <a:prstGeom xmlns:a="http://schemas.openxmlformats.org/drawingml/2006/main" prst="roundRect">
            <a:avLst>
              <a:gd name="adj" fmla="val 7059"/>
            </a:avLst>
          </a:prstGeom>
          <a:solidFill xmlns:a="http://schemas.openxmlformats.org/drawingml/2006/main">
            <a:srgbClr val="0A100E"/>
          </a:solidFill>
          <a:ln xmlns:a="http://schemas.openxmlformats.org/drawingml/2006/main" w="9525">
            <a:solidFill>
              <a:srgbClr val="3DF59A"/>
            </a:solidFill>
            <a:prstDash val="solid"/>
          </a:ln>
        </p:spPr>
      </p:sp>
      <p:sp>
        <p:nvSpPr>
          <p:cNvPr id="38" name="">
            <a:extLst xmlns:a="http://schemas.openxmlformats.org/drawingml/2006/main">
              <a:ext uri="{FF2B5EF4-FFF2-40B4-BE49-F238E27FC236}">
                <a16:creationId xmlns:a16="http://schemas.microsoft.com/office/drawing/2014/main" id="{CFF4BF8E-07BC-4B97-9F9F-24905AF729CE}"/>
              </a:ext>
            </a:extLst>
          </p:cNvPr>
          <p:cNvSpPr>
            <a:spLocks xmlns:a="http://schemas.openxmlformats.org/drawingml/2006/main" noGrp="1"/>
          </p:cNvSpPr>
          <p:nvPr/>
        </p:nvSpPr>
        <p:spPr>
          <a:xfrm xmlns:a="http://schemas.openxmlformats.org/drawingml/2006/main">
            <a:off x="9296400" y="2533650"/>
            <a:ext cx="2114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350" b="1">
                <a:solidFill>
                  <a:srgbClr val="3DF59A"/>
                </a:solidFill>
                <a:latin typeface="Courier New"/>
                <a:ea typeface="Courier New"/>
                <a:cs typeface="Courier New"/>
              </a:defRPr>
            </a:pPr>
            <a:r>
              <a:rPr sz="1350" b="1">
                <a:solidFill>
                  <a:srgbClr val="3DF59A"/>
                </a:solidFill>
                <a:latin typeface="Courier New"/>
                <a:ea typeface="Courier New"/>
                <a:cs typeface="Courier New"/>
              </a:rPr>
              <a:t>6 LIVE SOURCES</a:t>
            </a:r>
          </a:p>
        </p:txBody>
      </p:sp>
      <p:sp>
        <p:nvSpPr>
          <p:cNvPr id="39" name="">
            <a:extLst xmlns:a="http://schemas.openxmlformats.org/drawingml/2006/main">
              <a:ext uri="{FF2B5EF4-FFF2-40B4-BE49-F238E27FC236}">
                <a16:creationId xmlns:a16="http://schemas.microsoft.com/office/drawing/2014/main" id="{1AE4C9CB-CDF1-45A9-9A65-8A624301D48A}"/>
              </a:ext>
            </a:extLst>
          </p:cNvPr>
          <p:cNvSpPr>
            <a:spLocks xmlns:a="http://schemas.openxmlformats.org/drawingml/2006/main" noGrp="1"/>
          </p:cNvSpPr>
          <p:nvPr/>
        </p:nvSpPr>
        <p:spPr>
          <a:xfrm xmlns:a="http://schemas.openxmlformats.org/drawingml/2006/main">
            <a:off x="9296400" y="3009900"/>
            <a:ext cx="21145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4 lending + 2 DEX</a:t>
            </a:r>
          </a:p>
          <a:p xmlns:a="http://schemas.openxmlformats.org/drawingml/2006/main">
            <a:pPr algn="ctr">
              <a:lnSpc>
                <a:spcPct val="105000"/>
              </a:lnSpc>
              <a:buNone/>
              <a:defRPr sz="1275" b="0">
                <a:solidFill>
                  <a:srgbClr val="DCF3E5"/>
                </a:solidFill>
                <a:latin typeface="Arial"/>
                <a:ea typeface="Arial"/>
                <a:cs typeface="Arial"/>
              </a:defRPr>
            </a:pPr>
            <a:r>
              <a:rPr sz="1275" b="0">
                <a:solidFill>
                  <a:srgbClr val="DCF3E5"/>
                </a:solidFill>
                <a:latin typeface="Arial"/>
                <a:ea typeface="Arial"/>
                <a:cs typeface="Arial"/>
              </a:rPr>
              <a:t>Ethereum mainnet</a:t>
            </a:r>
          </a:p>
        </p:txBody>
      </p:sp>
      <p:sp>
        <p:nvSpPr>
          <p:cNvPr id="40" name="">
            <a:extLst xmlns:a="http://schemas.openxmlformats.org/drawingml/2006/main">
              <a:ext uri="{FF2B5EF4-FFF2-40B4-BE49-F238E27FC236}">
                <a16:creationId xmlns:a16="http://schemas.microsoft.com/office/drawing/2014/main" id="{37933C49-C864-436C-A4E5-284BD723EB38}"/>
              </a:ext>
            </a:extLst>
          </p:cNvPr>
          <p:cNvSpPr>
            <a:spLocks xmlns:a="http://schemas.openxmlformats.org/drawingml/2006/main" noGrp="1"/>
          </p:cNvSpPr>
          <p:nvPr/>
        </p:nvSpPr>
        <p:spPr>
          <a:xfrm xmlns:a="http://schemas.openxmlformats.org/drawingml/2006/main">
            <a:off x="1104900" y="44196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5D6FF"/>
                </a:solidFill>
                <a:latin typeface="Courier New"/>
                <a:ea typeface="Courier New"/>
                <a:cs typeface="Courier New"/>
              </a:defRPr>
            </a:pPr>
            <a:r>
              <a:rPr sz="1200" b="1">
                <a:solidFill>
                  <a:srgbClr val="35D6FF"/>
                </a:solidFill>
                <a:latin typeface="Courier New"/>
                <a:ea typeface="Courier New"/>
                <a:cs typeface="Courier New"/>
              </a:rPr>
              <a:t>THE GRAPH</a:t>
            </a:r>
          </a:p>
        </p:txBody>
      </p:sp>
      <p:sp>
        <p:nvSpPr>
          <p:cNvPr id="41" name="">
            <a:extLst xmlns:a="http://schemas.openxmlformats.org/drawingml/2006/main">
              <a:ext uri="{FF2B5EF4-FFF2-40B4-BE49-F238E27FC236}">
                <a16:creationId xmlns:a16="http://schemas.microsoft.com/office/drawing/2014/main" id="{9373A249-62A7-497D-BF28-A2246007857B}"/>
              </a:ext>
            </a:extLst>
          </p:cNvPr>
          <p:cNvSpPr>
            <a:spLocks xmlns:a="http://schemas.openxmlformats.org/drawingml/2006/main" noGrp="1"/>
          </p:cNvSpPr>
          <p:nvPr/>
        </p:nvSpPr>
        <p:spPr>
          <a:xfrm xmlns:a="http://schemas.openxmlformats.org/drawingml/2006/main">
            <a:off x="2609850" y="438150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0">
                <a:solidFill>
                  <a:srgbClr val="DCF3E5"/>
                </a:solidFill>
                <a:latin typeface="Arial"/>
                <a:ea typeface="Arial"/>
                <a:cs typeface="Arial"/>
              </a:defRPr>
            </a:pPr>
            <a:r>
              <a:rPr sz="1425" b="0">
                <a:solidFill>
                  <a:srgbClr val="DCF3E5"/>
                </a:solidFill>
                <a:latin typeface="Arial"/>
                <a:ea typeface="Arial"/>
                <a:cs typeface="Arial"/>
              </a:rPr>
              <a:t>queryable protocol data + block provenance</a:t>
            </a:r>
          </a:p>
        </p:txBody>
      </p:sp>
      <p:sp>
        <p:nvSpPr>
          <p:cNvPr id="42" name="">
            <a:extLst xmlns:a="http://schemas.openxmlformats.org/drawingml/2006/main">
              <a:ext uri="{FF2B5EF4-FFF2-40B4-BE49-F238E27FC236}">
                <a16:creationId xmlns:a16="http://schemas.microsoft.com/office/drawing/2014/main" id="{C87A985A-1E66-4E6E-8E9C-DCCB9C60DF50}"/>
              </a:ext>
            </a:extLst>
          </p:cNvPr>
          <p:cNvSpPr>
            <a:spLocks xmlns:a="http://schemas.openxmlformats.org/drawingml/2006/main" noGrp="1"/>
          </p:cNvSpPr>
          <p:nvPr/>
        </p:nvSpPr>
        <p:spPr>
          <a:xfrm xmlns:a="http://schemas.openxmlformats.org/drawingml/2006/main">
            <a:off x="1104900" y="489585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ASKCHING</a:t>
            </a:r>
          </a:p>
        </p:txBody>
      </p:sp>
      <p:sp>
        <p:nvSpPr>
          <p:cNvPr id="43" name="">
            <a:extLst xmlns:a="http://schemas.openxmlformats.org/drawingml/2006/main">
              <a:ext uri="{FF2B5EF4-FFF2-40B4-BE49-F238E27FC236}">
                <a16:creationId xmlns:a16="http://schemas.microsoft.com/office/drawing/2014/main" id="{6E514F87-33B8-49BC-8F40-7CE77C77DA30}"/>
              </a:ext>
            </a:extLst>
          </p:cNvPr>
          <p:cNvSpPr>
            <a:spLocks xmlns:a="http://schemas.openxmlformats.org/drawingml/2006/main" noGrp="1"/>
          </p:cNvSpPr>
          <p:nvPr/>
        </p:nvSpPr>
        <p:spPr>
          <a:xfrm xmlns:a="http://schemas.openxmlformats.org/drawingml/2006/main">
            <a:off x="2609850" y="4857750"/>
            <a:ext cx="809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0">
                <a:solidFill>
                  <a:srgbClr val="DCF3E5"/>
                </a:solidFill>
                <a:latin typeface="Arial"/>
                <a:ea typeface="Arial"/>
                <a:cs typeface="Arial"/>
              </a:defRPr>
            </a:pPr>
            <a:r>
              <a:rPr sz="1425" b="0">
                <a:solidFill>
                  <a:srgbClr val="DCF3E5"/>
                </a:solidFill>
                <a:latin typeface="Arial"/>
                <a:ea typeface="Arial"/>
                <a:cs typeface="Arial"/>
              </a:rPr>
              <a:t>fan-out + normalization + ranking + evidence gates</a:t>
            </a:r>
          </a:p>
        </p:txBody>
      </p:sp>
      <p:sp>
        <p:nvSpPr>
          <p:cNvPr id="44" name="">
            <a:extLst xmlns:a="http://schemas.openxmlformats.org/drawingml/2006/main">
              <a:ext uri="{FF2B5EF4-FFF2-40B4-BE49-F238E27FC236}">
                <a16:creationId xmlns:a16="http://schemas.microsoft.com/office/drawing/2014/main" id="{60FD0552-C160-4333-88B9-C5C7F1F3D67B}"/>
              </a:ext>
            </a:extLst>
          </p:cNvPr>
          <p:cNvSpPr>
            <a:spLocks xmlns:a="http://schemas.openxmlformats.org/drawingml/2006/main" noGrp="1"/>
          </p:cNvSpPr>
          <p:nvPr/>
        </p:nvSpPr>
        <p:spPr>
          <a:xfrm xmlns:a="http://schemas.openxmlformats.org/drawingml/2006/main">
            <a:off x="1104900" y="5391150"/>
            <a:ext cx="9601200" cy="514350"/>
          </a:xfrm>
          <a:prstGeom xmlns:a="http://schemas.openxmlformats.org/drawingml/2006/main" prst="roundRect">
            <a:avLst>
              <a:gd name="adj" fmla="val 14815"/>
            </a:avLst>
          </a:prstGeom>
          <a:solidFill xmlns:a="http://schemas.openxmlformats.org/drawingml/2006/main">
            <a:srgbClr val="020304"/>
          </a:solidFill>
          <a:ln xmlns:a="http://schemas.openxmlformats.org/drawingml/2006/main" w="9525">
            <a:solidFill>
              <a:srgbClr val="1D2B24"/>
            </a:solidFill>
            <a:prstDash val="solid"/>
          </a:ln>
        </p:spPr>
      </p:sp>
      <p:sp>
        <p:nvSpPr>
          <p:cNvPr id="45" name="">
            <a:extLst xmlns:a="http://schemas.openxmlformats.org/drawingml/2006/main">
              <a:ext uri="{FF2B5EF4-FFF2-40B4-BE49-F238E27FC236}">
                <a16:creationId xmlns:a16="http://schemas.microsoft.com/office/drawing/2014/main" id="{AC6FF246-FECA-4D8A-9F98-4EDF681E5ED3}"/>
              </a:ext>
            </a:extLst>
          </p:cNvPr>
          <p:cNvSpPr>
            <a:spLocks xmlns:a="http://schemas.openxmlformats.org/drawingml/2006/main" noGrp="1"/>
          </p:cNvSpPr>
          <p:nvPr/>
        </p:nvSpPr>
        <p:spPr>
          <a:xfrm xmlns:a="http://schemas.openxmlformats.org/drawingml/2006/main">
            <a:off x="1352550" y="5524500"/>
            <a:ext cx="1809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FF5AA0"/>
                </a:solidFill>
                <a:latin typeface="Courier New"/>
                <a:ea typeface="Courier New"/>
                <a:cs typeface="Courier New"/>
              </a:defRPr>
            </a:pPr>
            <a:r>
              <a:rPr sz="1050" b="1">
                <a:solidFill>
                  <a:srgbClr val="FF5AA0"/>
                </a:solidFill>
                <a:latin typeface="Courier New"/>
                <a:ea typeface="Courier New"/>
                <a:cs typeface="Courier New"/>
              </a:rPr>
              <a:t>GROK DEMO CLI</a:t>
            </a:r>
          </a:p>
        </p:txBody>
      </p:sp>
      <p:sp>
        <p:nvSpPr>
          <p:cNvPr id="46" name="">
            <a:extLst xmlns:a="http://schemas.openxmlformats.org/drawingml/2006/main">
              <a:ext uri="{FF2B5EF4-FFF2-40B4-BE49-F238E27FC236}">
                <a16:creationId xmlns:a16="http://schemas.microsoft.com/office/drawing/2014/main" id="{F456E046-9959-4861-AF05-57DD6C5FD816}"/>
              </a:ext>
            </a:extLst>
          </p:cNvPr>
          <p:cNvSpPr>
            <a:spLocks xmlns:a="http://schemas.openxmlformats.org/drawingml/2006/main" noGrp="1"/>
          </p:cNvSpPr>
          <p:nvPr/>
        </p:nvSpPr>
        <p:spPr>
          <a:xfrm xmlns:a="http://schemas.openxmlformats.org/drawingml/2006/main">
            <a:off x="3257550" y="5495925"/>
            <a:ext cx="712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8AA79A"/>
                </a:solidFill>
                <a:latin typeface="Arial"/>
                <a:ea typeface="Arial"/>
                <a:cs typeface="Arial"/>
              </a:defRPr>
            </a:pPr>
            <a:r>
              <a:rPr sz="1275" b="0">
                <a:solidFill>
                  <a:srgbClr val="8AA79A"/>
                </a:solidFill>
                <a:latin typeface="Arial"/>
                <a:ea typeface="Arial"/>
                <a:cs typeface="Arial"/>
              </a:rPr>
              <a:t>Grok routes the demo. Other MCP clients call AskChing directly.</a:t>
            </a:r>
          </a:p>
        </p:txBody>
      </p:sp>
      <p:sp>
        <p:nvSpPr>
          <p:cNvPr id="47" name="">
            <a:extLst xmlns:a="http://schemas.openxmlformats.org/drawingml/2006/main">
              <a:ext uri="{FF2B5EF4-FFF2-40B4-BE49-F238E27FC236}">
                <a16:creationId xmlns:a16="http://schemas.microsoft.com/office/drawing/2014/main" id="{787774DE-ED02-49D2-9417-E0279D84E890}"/>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8" name="">
            <a:extLst xmlns:a="http://schemas.openxmlformats.org/drawingml/2006/main">
              <a:ext uri="{FF2B5EF4-FFF2-40B4-BE49-F238E27FC236}">
                <a16:creationId xmlns:a16="http://schemas.microsoft.com/office/drawing/2014/main" id="{921B3EB5-94EE-4516-9A62-ED2B9DB402C4}"/>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49" name="">
            <a:extLst xmlns:a="http://schemas.openxmlformats.org/drawingml/2006/main">
              <a:ext uri="{FF2B5EF4-FFF2-40B4-BE49-F238E27FC236}">
                <a16:creationId xmlns:a16="http://schemas.microsoft.com/office/drawing/2014/main" id="{AB7E9227-0B60-4524-BC99-6F4994E5862F}"/>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03</a:t>
            </a:r>
          </a:p>
        </p:txBody>
      </p:sp>
    </p:spTree>
    <p:extLst>
      <p:ext uri="{BB962C8B-B14F-4D97-AF65-F5344CB8AC3E}">
        <p14:creationId xmlns:p14="http://schemas.microsoft.com/office/powerpoint/2010/main" val="362812395"/>
      </p:ext>
    </p:extLst>
  </p:cSld>
</p:sld>
</file>

<file path=ppt/slides/slide4.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A2DC56F-F89F-4B06-99C6-435B22C63269}"/>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723B9623-E4C9-4794-8360-55053B9436F2}"/>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33D89B68-5750-4ABB-A923-1E8F5B4B2ABC}"/>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FEF1170B-4C17-4D38-A872-18C22E716C70}"/>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F8F1BAC0-8A4D-4F68-B428-73CFD097FE01}"/>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5188B49B-96BA-4B12-8976-FFBD6BCF7BD9}"/>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FD52B6E9-82D8-4A96-B1A7-6B7AAC296CB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5CA2E407-A5DB-4FED-888B-4CBBD772F77A}"/>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1A1CD725-0742-40DD-B3AB-74F1AD47E221}"/>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0357394E-08A4-441F-A3BB-E2C3973AD4B7}"/>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03265505-2A24-4E6D-A166-93AADF0CCC60}"/>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CB35DEA5-A911-4675-9E67-5069BA451D60}"/>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C4E34D04-7BE3-4670-8D56-6C1378846199}"/>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5E2CE2B6-EE54-4BB8-8D9E-60027934D7A3}"/>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BECF5C56-60D0-4D21-B74B-D09181CB90C6}"/>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32B38026-F035-4EEF-B4E0-C9A7AD248682}"/>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F3A74EB1-C8FC-44B9-B034-A61EA6AA1809}"/>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C7CEEE2C-3F33-46FB-90D7-EE1BDA010E52}"/>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4CFA5517-D2C6-4E0D-858B-8338AE19D9DA}"/>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DB81BE89-397D-4FF0-8968-F9BAD63413BC}"/>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64C872A9-F1FD-43B3-AF29-25DB22D62C79}"/>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B861ED00-2702-4FA4-B078-530A0E889E5A}"/>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69295A6C-4769-4129-BE16-355094AA5A3C}"/>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03 / DEMO</a:t>
            </a:r>
          </a:p>
        </p:txBody>
      </p:sp>
      <p:sp>
        <p:nvSpPr>
          <p:cNvPr id="24" name="">
            <a:extLst xmlns:a="http://schemas.openxmlformats.org/drawingml/2006/main">
              <a:ext uri="{FF2B5EF4-FFF2-40B4-BE49-F238E27FC236}">
                <a16:creationId xmlns:a16="http://schemas.microsoft.com/office/drawing/2014/main" id="{72824BEE-4860-4363-882A-3B4AAAA5CF67}"/>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Live comparison: one question, three cited markets</a:t>
            </a:r>
          </a:p>
        </p:txBody>
      </p:sp>
      <p:sp>
        <p:nvSpPr>
          <p:cNvPr id="25" name="">
            <a:extLst xmlns:a="http://schemas.openxmlformats.org/drawingml/2006/main">
              <a:ext uri="{FF2B5EF4-FFF2-40B4-BE49-F238E27FC236}">
                <a16:creationId xmlns:a16="http://schemas.microsoft.com/office/drawing/2014/main" id="{D85BB7C9-A617-49A1-A6A3-DE479D8251B2}"/>
              </a:ext>
            </a:extLst>
          </p:cNvPr>
          <p:cNvSpPr>
            <a:spLocks xmlns:a="http://schemas.openxmlformats.org/drawingml/2006/main" noGrp="1"/>
          </p:cNvSpPr>
          <p:nvPr/>
        </p:nvSpPr>
        <p:spPr>
          <a:xfrm xmlns:a="http://schemas.openxmlformats.org/drawingml/2006/main">
            <a:off x="628650" y="12954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425" b="0">
                <a:solidFill>
                  <a:srgbClr val="8AA79A"/>
                </a:solidFill>
                <a:latin typeface="Arial"/>
                <a:ea typeface="Arial"/>
                <a:cs typeface="Arial"/>
              </a:defRPr>
            </a:pPr>
            <a:r>
              <a:rPr sz="1425" b="0">
                <a:solidFill>
                  <a:srgbClr val="8AA79A"/>
                </a:solidFill>
                <a:latin typeface="Arial"/>
                <a:ea typeface="Arial"/>
                <a:cs typeface="Arial"/>
              </a:rPr>
              <a:t>Switch to the deployed app after reading the prompt</a:t>
            </a:r>
          </a:p>
        </p:txBody>
      </p:sp>
      <p:sp>
        <p:nvSpPr>
          <p:cNvPr id="26" name="">
            <a:extLst xmlns:a="http://schemas.openxmlformats.org/drawingml/2006/main">
              <a:ext uri="{FF2B5EF4-FFF2-40B4-BE49-F238E27FC236}">
                <a16:creationId xmlns:a16="http://schemas.microsoft.com/office/drawing/2014/main" id="{2C2E26EF-745A-48D2-8020-787C4D45BED6}"/>
              </a:ext>
            </a:extLst>
          </p:cNvPr>
          <p:cNvSpPr>
            <a:spLocks xmlns:a="http://schemas.openxmlformats.org/drawingml/2006/main" noGrp="1"/>
          </p:cNvSpPr>
          <p:nvPr/>
        </p:nvSpPr>
        <p:spPr>
          <a:xfrm xmlns:a="http://schemas.openxmlformats.org/drawingml/2006/main">
            <a:off x="609600" y="1866900"/>
            <a:ext cx="4762500" cy="3429000"/>
          </a:xfrm>
          <a:prstGeom xmlns:a="http://schemas.openxmlformats.org/drawingml/2006/main" prst="roundRect">
            <a:avLst>
              <a:gd name="adj" fmla="val 3889"/>
            </a:avLst>
          </a:prstGeom>
          <a:solidFill xmlns:a="http://schemas.openxmlformats.org/drawingml/2006/main">
            <a:srgbClr val="0A100E"/>
          </a:solidFill>
          <a:ln xmlns:a="http://schemas.openxmlformats.org/drawingml/2006/main" w="9525">
            <a:solidFill>
              <a:srgbClr val="35D6FF"/>
            </a:solidFill>
            <a:prstDash val="solid"/>
          </a:ln>
        </p:spPr>
      </p:sp>
      <p:sp>
        <p:nvSpPr>
          <p:cNvPr id="27" name="">
            <a:extLst xmlns:a="http://schemas.openxmlformats.org/drawingml/2006/main">
              <a:ext uri="{FF2B5EF4-FFF2-40B4-BE49-F238E27FC236}">
                <a16:creationId xmlns:a16="http://schemas.microsoft.com/office/drawing/2014/main" id="{A8C2AA54-5755-43E4-9717-BEDF93BCA0C6}"/>
              </a:ext>
            </a:extLst>
          </p:cNvPr>
          <p:cNvSpPr>
            <a:spLocks xmlns:a="http://schemas.openxmlformats.org/drawingml/2006/main" noGrp="1"/>
          </p:cNvSpPr>
          <p:nvPr/>
        </p:nvSpPr>
        <p:spPr>
          <a:xfrm xmlns:a="http://schemas.openxmlformats.org/drawingml/2006/main">
            <a:off x="857250" y="21336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FF5AA0"/>
                </a:solidFill>
                <a:latin typeface="Courier New"/>
                <a:ea typeface="Courier New"/>
                <a:cs typeface="Courier New"/>
              </a:defRPr>
            </a:pPr>
            <a:r>
              <a:rPr sz="1275" b="1">
                <a:solidFill>
                  <a:srgbClr val="FF5AA0"/>
                </a:solidFill>
                <a:latin typeface="Courier New"/>
                <a:ea typeface="Courier New"/>
                <a:cs typeface="Courier New"/>
              </a:rPr>
              <a:t>&gt; compare_markets</a:t>
            </a:r>
          </a:p>
        </p:txBody>
      </p:sp>
      <p:sp>
        <p:nvSpPr>
          <p:cNvPr id="28" name="">
            <a:extLst xmlns:a="http://schemas.openxmlformats.org/drawingml/2006/main">
              <a:ext uri="{FF2B5EF4-FFF2-40B4-BE49-F238E27FC236}">
                <a16:creationId xmlns:a16="http://schemas.microsoft.com/office/drawing/2014/main" id="{C0478129-0689-49C4-A8F8-2E7131055D7B}"/>
              </a:ext>
            </a:extLst>
          </p:cNvPr>
          <p:cNvSpPr>
            <a:spLocks xmlns:a="http://schemas.openxmlformats.org/drawingml/2006/main" noGrp="1"/>
          </p:cNvSpPr>
          <p:nvPr/>
        </p:nvSpPr>
        <p:spPr>
          <a:xfrm xmlns:a="http://schemas.openxmlformats.org/drawingml/2006/main">
            <a:off x="857250" y="2667000"/>
            <a:ext cx="4000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2770"/>
          </a:bodyPr>
          <a:lstStyle xmlns:a="http://schemas.openxmlformats.org/drawingml/2006/main"/>
          <a:p xmlns:a="http://schemas.openxmlformats.org/drawingml/2006/main">
            <a:pPr algn="l">
              <a:lnSpc>
                <a:spcPct val="115000"/>
              </a:lnSpc>
              <a:buNone/>
              <a:defRPr sz="1875" b="0">
                <a:solidFill>
                  <a:srgbClr val="DCF3E5"/>
                </a:solidFill>
                <a:latin typeface="Courier New"/>
                <a:ea typeface="Courier New"/>
                <a:cs typeface="Courier New"/>
              </a:defRPr>
            </a:pPr>
            <a:r>
              <a:rPr sz="1875" b="0">
                <a:solidFill>
                  <a:srgbClr val="DCF3E5"/>
                </a:solidFill>
                <a:latin typeface="Courier New"/>
                <a:ea typeface="Courier New"/>
                <a:cs typeface="Courier New"/>
              </a:rPr>
              <a:t>Compare live USDC supply APY across Aave V3, Compound V3, and Spark Lend right now. Rank the results, cite each source, and state the as-of time.</a:t>
            </a:r>
          </a:p>
        </p:txBody>
      </p:sp>
      <p:sp>
        <p:nvSpPr>
          <p:cNvPr id="29" name="">
            <a:extLst xmlns:a="http://schemas.openxmlformats.org/drawingml/2006/main">
              <a:ext uri="{FF2B5EF4-FFF2-40B4-BE49-F238E27FC236}">
                <a16:creationId xmlns:a16="http://schemas.microsoft.com/office/drawing/2014/main" id="{D02AA410-54CC-487D-89D1-4F1C96FC7048}"/>
              </a:ext>
            </a:extLst>
          </p:cNvPr>
          <p:cNvSpPr>
            <a:spLocks xmlns:a="http://schemas.openxmlformats.org/drawingml/2006/main" noGrp="1"/>
          </p:cNvSpPr>
          <p:nvPr/>
        </p:nvSpPr>
        <p:spPr>
          <a:xfrm xmlns:a="http://schemas.openxmlformats.org/drawingml/2006/main">
            <a:off x="857250" y="4629150"/>
            <a:ext cx="4019550" cy="419100"/>
          </a:xfrm>
          <a:prstGeom xmlns:a="http://schemas.openxmlformats.org/drawingml/2006/main" prst="roundRect">
            <a:avLst>
              <a:gd name="adj" fmla="val 18182"/>
            </a:avLst>
          </a:prstGeom>
          <a:solidFill xmlns:a="http://schemas.openxmlformats.org/drawingml/2006/main">
            <a:srgbClr val="020304"/>
          </a:solidFill>
          <a:ln xmlns:a="http://schemas.openxmlformats.org/drawingml/2006/main" w="9525">
            <a:solidFill>
              <a:srgbClr val="3DF59A"/>
            </a:solidFill>
            <a:prstDash val="solid"/>
          </a:ln>
        </p:spPr>
      </p:sp>
      <p:sp>
        <p:nvSpPr>
          <p:cNvPr id="30" name="">
            <a:extLst xmlns:a="http://schemas.openxmlformats.org/drawingml/2006/main">
              <a:ext uri="{FF2B5EF4-FFF2-40B4-BE49-F238E27FC236}">
                <a16:creationId xmlns:a16="http://schemas.microsoft.com/office/drawing/2014/main" id="{628DE833-D081-434D-8FF6-C992A2AD9B62}"/>
              </a:ext>
            </a:extLst>
          </p:cNvPr>
          <p:cNvSpPr>
            <a:spLocks xmlns:a="http://schemas.openxmlformats.org/drawingml/2006/main" noGrp="1"/>
          </p:cNvSpPr>
          <p:nvPr/>
        </p:nvSpPr>
        <p:spPr>
          <a:xfrm xmlns:a="http://schemas.openxmlformats.org/drawingml/2006/main">
            <a:off x="1009650" y="472440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3DF59A"/>
                </a:solidFill>
                <a:latin typeface="Courier New"/>
                <a:ea typeface="Courier New"/>
                <a:cs typeface="Courier New"/>
              </a:defRPr>
            </a:pPr>
            <a:r>
              <a:rPr sz="1275" b="1">
                <a:solidFill>
                  <a:srgbClr val="3DF59A"/>
                </a:solidFill>
                <a:latin typeface="Courier New"/>
                <a:ea typeface="Courier New"/>
                <a:cs typeface="Courier New"/>
              </a:rPr>
              <a:t>▶ SWITCH TO LIVE APP</a:t>
            </a:r>
          </a:p>
        </p:txBody>
      </p:sp>
      <p:sp>
        <p:nvSpPr>
          <p:cNvPr id="31" name="">
            <a:extLst xmlns:a="http://schemas.openxmlformats.org/drawingml/2006/main">
              <a:ext uri="{FF2B5EF4-FFF2-40B4-BE49-F238E27FC236}">
                <a16:creationId xmlns:a16="http://schemas.microsoft.com/office/drawing/2014/main" id="{A08722B0-E98C-4028-A9DE-FA85A1B2E22B}"/>
              </a:ext>
            </a:extLst>
          </p:cNvPr>
          <p:cNvSpPr>
            <a:spLocks xmlns:a="http://schemas.openxmlformats.org/drawingml/2006/main" noGrp="1"/>
          </p:cNvSpPr>
          <p:nvPr/>
        </p:nvSpPr>
        <p:spPr>
          <a:xfrm xmlns:a="http://schemas.openxmlformats.org/drawingml/2006/main">
            <a:off x="5886450" y="1866900"/>
            <a:ext cx="5695950" cy="3200400"/>
          </a:xfrm>
          <a:prstGeom xmlns:a="http://schemas.openxmlformats.org/drawingml/2006/main" prst="roundRect">
            <a:avLst>
              <a:gd name="adj" fmla="val 3571"/>
            </a:avLst>
          </a:prstGeom>
          <a:solidFill xmlns:a="http://schemas.openxmlformats.org/drawingml/2006/main">
            <a:srgbClr val="020304"/>
          </a:solidFill>
          <a:ln xmlns:a="http://schemas.openxmlformats.org/drawingml/2006/main" w="9525">
            <a:solidFill>
              <a:srgbClr val="1D2B24"/>
            </a:solidFill>
            <a:prstDash val="solid"/>
          </a:ln>
        </p:spPr>
      </p:sp>
      <p:sp>
        <p:nvSpPr>
          <p:cNvPr id="32" name="">
            <a:extLst xmlns:a="http://schemas.openxmlformats.org/drawingml/2006/main">
              <a:ext uri="{FF2B5EF4-FFF2-40B4-BE49-F238E27FC236}">
                <a16:creationId xmlns:a16="http://schemas.microsoft.com/office/drawing/2014/main" id="{555B0A57-543D-4107-B065-9CE53734BEC2}"/>
              </a:ext>
            </a:extLst>
          </p:cNvPr>
          <p:cNvSpPr>
            <a:spLocks xmlns:a="http://schemas.openxmlformats.org/drawingml/2006/main" noGrp="1"/>
          </p:cNvSpPr>
          <p:nvPr/>
        </p:nvSpPr>
        <p:spPr>
          <a:xfrm xmlns:a="http://schemas.openxmlformats.org/drawingml/2006/main">
            <a:off x="5886450" y="1866900"/>
            <a:ext cx="5695950" cy="400050"/>
          </a:xfrm>
          <a:prstGeom xmlns:a="http://schemas.openxmlformats.org/drawingml/2006/main" prst="roundRect">
            <a:avLst>
              <a:gd name="adj" fmla="val 28571"/>
            </a:avLst>
          </a:prstGeom>
          <a:solidFill xmlns:a="http://schemas.openxmlformats.org/drawingml/2006/main">
            <a:srgbClr val="0A100E"/>
          </a:solidFill>
          <a:ln xmlns:a="http://schemas.openxmlformats.org/drawingml/2006/main" w="9525">
            <a:solidFill>
              <a:srgbClr val="1D2B24"/>
            </a:solidFill>
            <a:prstDash val="solid"/>
          </a:ln>
        </p:spPr>
      </p:sp>
      <p:sp>
        <p:nvSpPr>
          <p:cNvPr id="33" name="">
            <a:extLst xmlns:a="http://schemas.openxmlformats.org/drawingml/2006/main">
              <a:ext uri="{FF2B5EF4-FFF2-40B4-BE49-F238E27FC236}">
                <a16:creationId xmlns:a16="http://schemas.microsoft.com/office/drawing/2014/main" id="{A8888B79-F2EE-4C72-9E31-D67F1FE3C2E3}"/>
              </a:ext>
            </a:extLst>
          </p:cNvPr>
          <p:cNvSpPr>
            <a:spLocks xmlns:a="http://schemas.openxmlformats.org/drawingml/2006/main" noGrp="1"/>
          </p:cNvSpPr>
          <p:nvPr/>
        </p:nvSpPr>
        <p:spPr>
          <a:xfrm xmlns:a="http://schemas.openxmlformats.org/drawingml/2006/main">
            <a:off x="6076950" y="19716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900" b="0">
                <a:solidFill>
                  <a:srgbClr val="5C7368"/>
                </a:solidFill>
                <a:latin typeface="Courier New"/>
                <a:ea typeface="Courier New"/>
                <a:cs typeface="Courier New"/>
              </a:defRPr>
            </a:pPr>
            <a:r>
              <a:rPr sz="900" b="0">
                <a:solidFill>
                  <a:srgbClr val="5C7368"/>
                </a:solidFill>
                <a:latin typeface="Courier New"/>
                <a:ea typeface="Courier New"/>
                <a:cs typeface="Courier New"/>
              </a:rPr>
              <a:t>●  ●  ●    askching · grok tool loop</a:t>
            </a:r>
          </a:p>
        </p:txBody>
      </p:sp>
      <p:sp>
        <p:nvSpPr>
          <p:cNvPr id="34" name="">
            <a:extLst xmlns:a="http://schemas.openxmlformats.org/drawingml/2006/main">
              <a:ext uri="{FF2B5EF4-FFF2-40B4-BE49-F238E27FC236}">
                <a16:creationId xmlns:a16="http://schemas.microsoft.com/office/drawing/2014/main" id="{ED41DFA8-E1C3-4A76-B512-31C77903FB4F}"/>
              </a:ext>
            </a:extLst>
          </p:cNvPr>
          <p:cNvSpPr>
            <a:spLocks xmlns:a="http://schemas.openxmlformats.org/drawingml/2006/main" noGrp="1"/>
          </p:cNvSpPr>
          <p:nvPr/>
        </p:nvSpPr>
        <p:spPr>
          <a:xfrm xmlns:a="http://schemas.openxmlformats.org/drawingml/2006/main">
            <a:off x="6153150" y="25336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AA79A"/>
                </a:solidFill>
                <a:latin typeface="Courier New"/>
                <a:ea typeface="Courier New"/>
                <a:cs typeface="Courier New"/>
              </a:defRPr>
            </a:pPr>
            <a:r>
              <a:rPr sz="1050" b="0">
                <a:solidFill>
                  <a:srgbClr val="8AA79A"/>
                </a:solidFill>
                <a:latin typeface="Courier New"/>
                <a:ea typeface="Courier New"/>
                <a:cs typeface="Courier New"/>
              </a:rPr>
              <a:t>selected tool</a:t>
            </a:r>
          </a:p>
        </p:txBody>
      </p:sp>
      <p:sp>
        <p:nvSpPr>
          <p:cNvPr id="35" name="">
            <a:extLst xmlns:a="http://schemas.openxmlformats.org/drawingml/2006/main">
              <a:ext uri="{FF2B5EF4-FFF2-40B4-BE49-F238E27FC236}">
                <a16:creationId xmlns:a16="http://schemas.microsoft.com/office/drawing/2014/main" id="{B36845ED-A5B2-4DDD-B4E9-1AB606474464}"/>
              </a:ext>
            </a:extLst>
          </p:cNvPr>
          <p:cNvSpPr>
            <a:spLocks xmlns:a="http://schemas.openxmlformats.org/drawingml/2006/main" noGrp="1"/>
          </p:cNvSpPr>
          <p:nvPr/>
        </p:nvSpPr>
        <p:spPr>
          <a:xfrm xmlns:a="http://schemas.openxmlformats.org/drawingml/2006/main">
            <a:off x="7981950" y="25336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5D6FF"/>
                </a:solidFill>
                <a:latin typeface="Courier New"/>
                <a:ea typeface="Courier New"/>
                <a:cs typeface="Courier New"/>
              </a:defRPr>
            </a:pPr>
            <a:r>
              <a:rPr sz="1275" b="1">
                <a:solidFill>
                  <a:srgbClr val="35D6FF"/>
                </a:solidFill>
                <a:latin typeface="Courier New"/>
                <a:ea typeface="Courier New"/>
                <a:cs typeface="Courier New"/>
              </a:rPr>
              <a:t>compare_markets</a:t>
            </a:r>
          </a:p>
        </p:txBody>
      </p:sp>
      <p:sp>
        <p:nvSpPr>
          <p:cNvPr id="36" name="">
            <a:extLst xmlns:a="http://schemas.openxmlformats.org/drawingml/2006/main">
              <a:ext uri="{FF2B5EF4-FFF2-40B4-BE49-F238E27FC236}">
                <a16:creationId xmlns:a16="http://schemas.microsoft.com/office/drawing/2014/main" id="{025C5932-EB37-4E61-88A3-39E84914DCA2}"/>
              </a:ext>
            </a:extLst>
          </p:cNvPr>
          <p:cNvSpPr>
            <a:spLocks xmlns:a="http://schemas.openxmlformats.org/drawingml/2006/main" noGrp="1"/>
          </p:cNvSpPr>
          <p:nvPr/>
        </p:nvSpPr>
        <p:spPr>
          <a:xfrm xmlns:a="http://schemas.openxmlformats.org/drawingml/2006/main">
            <a:off x="6153150" y="300990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AA79A"/>
                </a:solidFill>
                <a:latin typeface="Courier New"/>
                <a:ea typeface="Courier New"/>
                <a:cs typeface="Courier New"/>
              </a:defRPr>
            </a:pPr>
            <a:r>
              <a:rPr sz="1050" b="0">
                <a:solidFill>
                  <a:srgbClr val="8AA79A"/>
                </a:solidFill>
                <a:latin typeface="Courier New"/>
                <a:ea typeface="Courier New"/>
                <a:cs typeface="Courier New"/>
              </a:rPr>
              <a:t>query fan-out</a:t>
            </a:r>
          </a:p>
        </p:txBody>
      </p:sp>
      <p:sp>
        <p:nvSpPr>
          <p:cNvPr id="37" name="">
            <a:extLst xmlns:a="http://schemas.openxmlformats.org/drawingml/2006/main">
              <a:ext uri="{FF2B5EF4-FFF2-40B4-BE49-F238E27FC236}">
                <a16:creationId xmlns:a16="http://schemas.microsoft.com/office/drawing/2014/main" id="{CB5F04C0-49D0-4BBE-8AE5-72C12D5A730E}"/>
              </a:ext>
            </a:extLst>
          </p:cNvPr>
          <p:cNvSpPr>
            <a:spLocks xmlns:a="http://schemas.openxmlformats.org/drawingml/2006/main" noGrp="1"/>
          </p:cNvSpPr>
          <p:nvPr/>
        </p:nvSpPr>
        <p:spPr>
          <a:xfrm xmlns:a="http://schemas.openxmlformats.org/drawingml/2006/main">
            <a:off x="7981950" y="300990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3 live lending subgraphs</a:t>
            </a:r>
          </a:p>
        </p:txBody>
      </p:sp>
      <p:sp>
        <p:nvSpPr>
          <p:cNvPr id="38" name="">
            <a:extLst xmlns:a="http://schemas.openxmlformats.org/drawingml/2006/main">
              <a:ext uri="{FF2B5EF4-FFF2-40B4-BE49-F238E27FC236}">
                <a16:creationId xmlns:a16="http://schemas.microsoft.com/office/drawing/2014/main" id="{46F81813-65A3-433E-81DF-EFB837E14ABF}"/>
              </a:ext>
            </a:extLst>
          </p:cNvPr>
          <p:cNvSpPr>
            <a:spLocks xmlns:a="http://schemas.openxmlformats.org/drawingml/2006/main" noGrp="1"/>
          </p:cNvSpPr>
          <p:nvPr/>
        </p:nvSpPr>
        <p:spPr>
          <a:xfrm xmlns:a="http://schemas.openxmlformats.org/drawingml/2006/main">
            <a:off x="6153150" y="34861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0">
                <a:solidFill>
                  <a:srgbClr val="8AA79A"/>
                </a:solidFill>
                <a:latin typeface="Courier New"/>
                <a:ea typeface="Courier New"/>
                <a:cs typeface="Courier New"/>
              </a:defRPr>
            </a:pPr>
            <a:r>
              <a:rPr sz="1050" b="0">
                <a:solidFill>
                  <a:srgbClr val="8AA79A"/>
                </a:solidFill>
                <a:latin typeface="Courier New"/>
                <a:ea typeface="Courier New"/>
                <a:cs typeface="Courier New"/>
              </a:rPr>
              <a:t>sources</a:t>
            </a:r>
          </a:p>
        </p:txBody>
      </p:sp>
      <p:sp>
        <p:nvSpPr>
          <p:cNvPr id="39" name="">
            <a:extLst xmlns:a="http://schemas.openxmlformats.org/drawingml/2006/main">
              <a:ext uri="{FF2B5EF4-FFF2-40B4-BE49-F238E27FC236}">
                <a16:creationId xmlns:a16="http://schemas.microsoft.com/office/drawing/2014/main" id="{A764C941-2348-487C-B01D-0F0E00D0A80E}"/>
              </a:ext>
            </a:extLst>
          </p:cNvPr>
          <p:cNvSpPr>
            <a:spLocks xmlns:a="http://schemas.openxmlformats.org/drawingml/2006/main" noGrp="1"/>
          </p:cNvSpPr>
          <p:nvPr/>
        </p:nvSpPr>
        <p:spPr>
          <a:xfrm xmlns:a="http://schemas.openxmlformats.org/drawingml/2006/main">
            <a:off x="7981950" y="34861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Courier New"/>
                <a:ea typeface="Courier New"/>
                <a:cs typeface="Courier New"/>
              </a:defRPr>
            </a:pPr>
            <a:r>
              <a:rPr sz="1200" b="0">
                <a:solidFill>
                  <a:srgbClr val="DCF3E5"/>
                </a:solidFill>
                <a:latin typeface="Courier New"/>
                <a:ea typeface="Courier New"/>
                <a:cs typeface="Courier New"/>
              </a:rPr>
              <a:t>Aave V3 · Compound V3 · Spark Lend</a:t>
            </a:r>
          </a:p>
        </p:txBody>
      </p:sp>
      <p:sp>
        <p:nvSpPr>
          <p:cNvPr id="40" name="">
            <a:extLst xmlns:a="http://schemas.openxmlformats.org/drawingml/2006/main">
              <a:ext uri="{FF2B5EF4-FFF2-40B4-BE49-F238E27FC236}">
                <a16:creationId xmlns:a16="http://schemas.microsoft.com/office/drawing/2014/main" id="{8D85F856-A800-4D41-BC95-D25947DB98C1}"/>
              </a:ext>
            </a:extLst>
          </p:cNvPr>
          <p:cNvSpPr>
            <a:spLocks xmlns:a="http://schemas.openxmlformats.org/drawingml/2006/main" noGrp="1"/>
          </p:cNvSpPr>
          <p:nvPr/>
        </p:nvSpPr>
        <p:spPr>
          <a:xfrm xmlns:a="http://schemas.openxmlformats.org/drawingml/2006/main">
            <a:off x="6153150" y="4076700"/>
            <a:ext cx="51435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1" name="">
            <a:extLst xmlns:a="http://schemas.openxmlformats.org/drawingml/2006/main">
              <a:ext uri="{FF2B5EF4-FFF2-40B4-BE49-F238E27FC236}">
                <a16:creationId xmlns:a16="http://schemas.microsoft.com/office/drawing/2014/main" id="{CF880384-6A7C-4D64-8342-0084533918EB}"/>
              </a:ext>
            </a:extLst>
          </p:cNvPr>
          <p:cNvSpPr>
            <a:spLocks xmlns:a="http://schemas.openxmlformats.org/drawingml/2006/main" noGrp="1"/>
          </p:cNvSpPr>
          <p:nvPr/>
        </p:nvSpPr>
        <p:spPr>
          <a:xfrm xmlns:a="http://schemas.openxmlformats.org/drawingml/2006/main">
            <a:off x="6153150" y="43434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 ranked values   ✓ citations   ✓ asOf</a:t>
            </a:r>
          </a:p>
        </p:txBody>
      </p:sp>
      <p:sp>
        <p:nvSpPr>
          <p:cNvPr id="42" name="">
            <a:extLst xmlns:a="http://schemas.openxmlformats.org/drawingml/2006/main">
              <a:ext uri="{FF2B5EF4-FFF2-40B4-BE49-F238E27FC236}">
                <a16:creationId xmlns:a16="http://schemas.microsoft.com/office/drawing/2014/main" id="{7E98CB1C-D60A-421A-9369-A409FCABDF71}"/>
              </a:ext>
            </a:extLst>
          </p:cNvPr>
          <p:cNvSpPr>
            <a:spLocks xmlns:a="http://schemas.openxmlformats.org/drawingml/2006/main" noGrp="1"/>
          </p:cNvSpPr>
          <p:nvPr/>
        </p:nvSpPr>
        <p:spPr>
          <a:xfrm xmlns:a="http://schemas.openxmlformats.org/drawingml/2006/main">
            <a:off x="5905500" y="529590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Point out</a:t>
            </a:r>
          </a:p>
        </p:txBody>
      </p:sp>
      <p:sp>
        <p:nvSpPr>
          <p:cNvPr id="43" name="">
            <a:extLst xmlns:a="http://schemas.openxmlformats.org/drawingml/2006/main">
              <a:ext uri="{FF2B5EF4-FFF2-40B4-BE49-F238E27FC236}">
                <a16:creationId xmlns:a16="http://schemas.microsoft.com/office/drawing/2014/main" id="{DD0EAC0F-02DD-41C2-BA86-D37A392BD5F8}"/>
              </a:ext>
            </a:extLst>
          </p:cNvPr>
          <p:cNvSpPr>
            <a:spLocks xmlns:a="http://schemas.openxmlformats.org/drawingml/2006/main" noGrp="1"/>
          </p:cNvSpPr>
          <p:nvPr/>
        </p:nvSpPr>
        <p:spPr>
          <a:xfrm xmlns:a="http://schemas.openxmlformats.org/drawingml/2006/main">
            <a:off x="7086600" y="5257800"/>
            <a:ext cx="4495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75" b="0">
                <a:solidFill>
                  <a:srgbClr val="DCF3E5"/>
                </a:solidFill>
                <a:latin typeface="Courier New"/>
                <a:ea typeface="Courier New"/>
                <a:cs typeface="Courier New"/>
              </a:defRPr>
            </a:pPr>
            <a:r>
              <a:rPr sz="1275" b="0">
                <a:solidFill>
                  <a:srgbClr val="DCF3E5"/>
                </a:solidFill>
                <a:latin typeface="Courier New"/>
                <a:ea typeface="Courier New"/>
                <a:cs typeface="Courier New"/>
              </a:rPr>
              <a:t>rank · asOf · subgraph ID · block · query hash</a:t>
            </a:r>
          </a:p>
        </p:txBody>
      </p:sp>
      <p:sp>
        <p:nvSpPr>
          <p:cNvPr id="44" name="">
            <a:extLst xmlns:a="http://schemas.openxmlformats.org/drawingml/2006/main">
              <a:ext uri="{FF2B5EF4-FFF2-40B4-BE49-F238E27FC236}">
                <a16:creationId xmlns:a16="http://schemas.microsoft.com/office/drawing/2014/main" id="{055EFA47-5E2A-48FB-87AA-5545EAD88D0B}"/>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5" name="">
            <a:extLst xmlns:a="http://schemas.openxmlformats.org/drawingml/2006/main">
              <a:ext uri="{FF2B5EF4-FFF2-40B4-BE49-F238E27FC236}">
                <a16:creationId xmlns:a16="http://schemas.microsoft.com/office/drawing/2014/main" id="{4A6507FF-8D96-41D9-98EB-A147BE518594}"/>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46" name="">
            <a:extLst xmlns:a="http://schemas.openxmlformats.org/drawingml/2006/main">
              <a:ext uri="{FF2B5EF4-FFF2-40B4-BE49-F238E27FC236}">
                <a16:creationId xmlns:a16="http://schemas.microsoft.com/office/drawing/2014/main" id="{3F373205-0459-47DF-8F77-7CEAF0E4816F}"/>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04</a:t>
            </a:r>
          </a:p>
        </p:txBody>
      </p:sp>
    </p:spTree>
    <p:extLst>
      <p:ext uri="{BB962C8B-B14F-4D97-AF65-F5344CB8AC3E}">
        <p14:creationId xmlns:p14="http://schemas.microsoft.com/office/powerpoint/2010/main" val="18100400"/>
      </p:ext>
    </p:extLst>
  </p:cSld>
</p:sld>
</file>

<file path=ppt/slides/slide5.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E2258AC3-2410-4DF4-82F8-DC218D017868}"/>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593D44BA-1F99-4A03-B422-E36503B1B28B}"/>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CBE7C980-7AED-488E-A8BC-B0D65A4CE0C7}"/>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82814730-EF4A-49BF-9467-4830D1CC570A}"/>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7F6E0B63-3B83-4F1A-9DBE-47379DDA9BC4}"/>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111E3F1E-2692-4094-A568-76FBE3C00160}"/>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D7B6BAC7-B10D-4729-A95F-857C55B1829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1F117982-49EC-4F6C-B057-7F059BA07996}"/>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6104EB60-EFCD-4C0A-9E04-16ADBBBB7CB6}"/>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35A8CB1C-1276-49E4-A64C-9B01B5082C92}"/>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C085B8B4-7C48-4B94-A8DA-CC074F7D5BFB}"/>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3AF653ED-50D1-447C-A105-D015AB6FF6AC}"/>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3BDF72D7-58F7-4018-AE81-14DFD1E29D11}"/>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4886D14A-0345-4CC4-9E3D-C43D1C7763BE}"/>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0FC4D6A6-FCBF-420C-B2B1-93E37FE2DE93}"/>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5D9025F8-83E6-4FFA-8C82-CF1ACBF80109}"/>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39078503-9A94-44EA-B329-3A899FC9B58D}"/>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FF35CA6D-602F-4428-B383-95C3C14531F7}"/>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726BCB15-4B55-4D0D-8D63-2244542E4F79}"/>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851599FA-1019-4D2C-A6A2-78A0B9EE8B66}"/>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FA4F2C35-69E9-4F30-BE10-9F9C1ABC8D96}"/>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3EDFB549-43C1-42F7-BB5D-35721F5549F1}"/>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80CA4734-8D88-4174-B31D-DFE9800AAF83}"/>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04 / TRUST</a:t>
            </a:r>
          </a:p>
        </p:txBody>
      </p:sp>
      <p:sp>
        <p:nvSpPr>
          <p:cNvPr id="24" name="">
            <a:extLst xmlns:a="http://schemas.openxmlformats.org/drawingml/2006/main">
              <a:ext uri="{FF2B5EF4-FFF2-40B4-BE49-F238E27FC236}">
                <a16:creationId xmlns:a16="http://schemas.microsoft.com/office/drawing/2014/main" id="{835B5043-721A-4D26-AB9F-B01AA295723E}"/>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AskChing reports gaps instead of inventing evidence</a:t>
            </a:r>
          </a:p>
        </p:txBody>
      </p:sp>
      <p:sp>
        <p:nvSpPr>
          <p:cNvPr id="25" name="">
            <a:extLst xmlns:a="http://schemas.openxmlformats.org/drawingml/2006/main">
              <a:ext uri="{FF2B5EF4-FFF2-40B4-BE49-F238E27FC236}">
                <a16:creationId xmlns:a16="http://schemas.microsoft.com/office/drawing/2014/main" id="{44143E32-2F17-463C-B7C9-F87A05175FDC}"/>
              </a:ext>
            </a:extLst>
          </p:cNvPr>
          <p:cNvSpPr>
            <a:spLocks xmlns:a="http://schemas.openxmlformats.org/drawingml/2006/main" noGrp="1"/>
          </p:cNvSpPr>
          <p:nvPr/>
        </p:nvSpPr>
        <p:spPr>
          <a:xfrm xmlns:a="http://schemas.openxmlformats.org/drawingml/2006/main">
            <a:off x="628650" y="1924050"/>
            <a:ext cx="161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4350" b="1">
                <a:solidFill>
                  <a:srgbClr val="3DF59A"/>
                </a:solidFill>
                <a:latin typeface="Courier New"/>
                <a:ea typeface="Courier New"/>
                <a:cs typeface="Courier New"/>
              </a:defRPr>
            </a:pPr>
            <a:r>
              <a:rPr sz="4350" b="1">
                <a:solidFill>
                  <a:srgbClr val="3DF59A"/>
                </a:solidFill>
                <a:latin typeface="Courier New"/>
                <a:ea typeface="Courier New"/>
                <a:cs typeface="Courier New"/>
              </a:rPr>
              <a:t>≥ 2</a:t>
            </a:r>
          </a:p>
        </p:txBody>
      </p:sp>
      <p:sp>
        <p:nvSpPr>
          <p:cNvPr id="26" name="">
            <a:extLst xmlns:a="http://schemas.openxmlformats.org/drawingml/2006/main">
              <a:ext uri="{FF2B5EF4-FFF2-40B4-BE49-F238E27FC236}">
                <a16:creationId xmlns:a16="http://schemas.microsoft.com/office/drawing/2014/main" id="{3C2B515A-D922-461F-8BF3-5A075E55E860}"/>
              </a:ext>
            </a:extLst>
          </p:cNvPr>
          <p:cNvSpPr>
            <a:spLocks xmlns:a="http://schemas.openxmlformats.org/drawingml/2006/main" noGrp="1"/>
          </p:cNvSpPr>
          <p:nvPr/>
        </p:nvSpPr>
        <p:spPr>
          <a:xfrm xmlns:a="http://schemas.openxmlformats.org/drawingml/2006/main">
            <a:off x="628650" y="2724150"/>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800" b="1">
                <a:solidFill>
                  <a:srgbClr val="DCF3E5"/>
                </a:solidFill>
                <a:latin typeface="Arial"/>
                <a:ea typeface="Arial"/>
                <a:cs typeface="Arial"/>
              </a:defRPr>
            </a:pPr>
            <a:r>
              <a:rPr sz="1800" b="1">
                <a:solidFill>
                  <a:srgbClr val="DCF3E5"/>
                </a:solidFill>
                <a:latin typeface="Arial"/>
                <a:ea typeface="Arial"/>
                <a:cs typeface="Arial"/>
              </a:rPr>
              <a:t>independently cited sources</a:t>
            </a:r>
          </a:p>
          <a:p xmlns:a="http://schemas.openxmlformats.org/drawingml/2006/main">
            <a:pPr algn="l">
              <a:lnSpc>
                <a:spcPct val="105000"/>
              </a:lnSpc>
              <a:buNone/>
              <a:defRPr sz="1800" b="1">
                <a:solidFill>
                  <a:srgbClr val="DCF3E5"/>
                </a:solidFill>
                <a:latin typeface="Arial"/>
                <a:ea typeface="Arial"/>
                <a:cs typeface="Arial"/>
              </a:defRPr>
            </a:pPr>
            <a:r>
              <a:rPr sz="1800" b="1">
                <a:solidFill>
                  <a:srgbClr val="DCF3E5"/>
                </a:solidFill>
                <a:latin typeface="Arial"/>
                <a:ea typeface="Arial"/>
                <a:cs typeface="Arial"/>
              </a:rPr>
              <a:t>or no quantitative comparison</a:t>
            </a:r>
          </a:p>
        </p:txBody>
      </p:sp>
      <p:sp>
        <p:nvSpPr>
          <p:cNvPr id="27" name="">
            <a:extLst xmlns:a="http://schemas.openxmlformats.org/drawingml/2006/main">
              <a:ext uri="{FF2B5EF4-FFF2-40B4-BE49-F238E27FC236}">
                <a16:creationId xmlns:a16="http://schemas.microsoft.com/office/drawing/2014/main" id="{36D9F67D-27D7-48C8-9B00-7C31EBAA9D98}"/>
              </a:ext>
            </a:extLst>
          </p:cNvPr>
          <p:cNvSpPr>
            <a:spLocks xmlns:a="http://schemas.openxmlformats.org/drawingml/2006/main" noGrp="1"/>
          </p:cNvSpPr>
          <p:nvPr/>
        </p:nvSpPr>
        <p:spPr>
          <a:xfrm xmlns:a="http://schemas.openxmlformats.org/drawingml/2006/main">
            <a:off x="628650" y="3886200"/>
            <a:ext cx="42291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28" name="">
            <a:extLst xmlns:a="http://schemas.openxmlformats.org/drawingml/2006/main">
              <a:ext uri="{FF2B5EF4-FFF2-40B4-BE49-F238E27FC236}">
                <a16:creationId xmlns:a16="http://schemas.microsoft.com/office/drawing/2014/main" id="{7F68DF5E-BABF-4082-B6B6-40BC2DB6CEEB}"/>
              </a:ext>
            </a:extLst>
          </p:cNvPr>
          <p:cNvSpPr>
            <a:spLocks xmlns:a="http://schemas.openxmlformats.org/drawingml/2006/main" noGrp="1"/>
          </p:cNvSpPr>
          <p:nvPr/>
        </p:nvSpPr>
        <p:spPr>
          <a:xfrm xmlns:a="http://schemas.openxmlformats.org/drawingml/2006/main">
            <a:off x="628650" y="415290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C857"/>
                </a:solidFill>
                <a:latin typeface="Courier New"/>
                <a:ea typeface="Courier New"/>
                <a:cs typeface="Courier New"/>
              </a:defRPr>
            </a:pPr>
            <a:r>
              <a:rPr sz="1200" b="1">
                <a:solidFill>
                  <a:srgbClr val="FFC857"/>
                </a:solidFill>
                <a:latin typeface="Courier New"/>
                <a:ea typeface="Courier New"/>
                <a:cs typeface="Courier New"/>
              </a:rPr>
              <a:t>MISSING HISTORY</a:t>
            </a:r>
          </a:p>
        </p:txBody>
      </p:sp>
      <p:sp>
        <p:nvSpPr>
          <p:cNvPr id="29" name="">
            <a:extLst xmlns:a="http://schemas.openxmlformats.org/drawingml/2006/main">
              <a:ext uri="{FF2B5EF4-FFF2-40B4-BE49-F238E27FC236}">
                <a16:creationId xmlns:a16="http://schemas.microsoft.com/office/drawing/2014/main" id="{0BE193A4-3CBD-4273-A2BD-55CB947998A5}"/>
              </a:ext>
            </a:extLst>
          </p:cNvPr>
          <p:cNvSpPr>
            <a:spLocks xmlns:a="http://schemas.openxmlformats.org/drawingml/2006/main" noGrp="1"/>
          </p:cNvSpPr>
          <p:nvPr/>
        </p:nvSpPr>
        <p:spPr>
          <a:xfrm xmlns:a="http://schemas.openxmlformats.org/drawingml/2006/main">
            <a:off x="628650" y="4533900"/>
            <a:ext cx="42291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8AA79A"/>
                </a:solidFill>
                <a:latin typeface="Arial"/>
                <a:ea typeface="Arial"/>
                <a:cs typeface="Arial"/>
              </a:defRPr>
            </a:pPr>
            <a:r>
              <a:rPr sz="1725" b="0">
                <a:solidFill>
                  <a:srgbClr val="8AA79A"/>
                </a:solidFill>
                <a:latin typeface="Arial"/>
                <a:ea typeface="Arial"/>
                <a:cs typeface="Arial"/>
              </a:rPr>
              <a:t>The answer carries an explicit gap. A spot value never pretends to be a trend.</a:t>
            </a:r>
          </a:p>
        </p:txBody>
      </p:sp>
      <p:sp>
        <p:nvSpPr>
          <p:cNvPr id="30" name="">
            <a:extLst xmlns:a="http://schemas.openxmlformats.org/drawingml/2006/main">
              <a:ext uri="{FF2B5EF4-FFF2-40B4-BE49-F238E27FC236}">
                <a16:creationId xmlns:a16="http://schemas.microsoft.com/office/drawing/2014/main" id="{7312C81A-9592-4862-9EF9-DB5699AB80F6}"/>
              </a:ext>
            </a:extLst>
          </p:cNvPr>
          <p:cNvSpPr>
            <a:spLocks xmlns:a="http://schemas.openxmlformats.org/drawingml/2006/main" noGrp="1"/>
          </p:cNvSpPr>
          <p:nvPr/>
        </p:nvSpPr>
        <p:spPr>
          <a:xfrm xmlns:a="http://schemas.openxmlformats.org/drawingml/2006/main">
            <a:off x="5314950" y="1790700"/>
            <a:ext cx="6286500" cy="3552825"/>
          </a:xfrm>
          <a:prstGeom xmlns:a="http://schemas.openxmlformats.org/drawingml/2006/main" prst="roundRect">
            <a:avLst>
              <a:gd name="adj" fmla="val 3217"/>
            </a:avLst>
          </a:prstGeom>
          <a:solidFill xmlns:a="http://schemas.openxmlformats.org/drawingml/2006/main">
            <a:srgbClr val="020304"/>
          </a:solidFill>
          <a:ln xmlns:a="http://schemas.openxmlformats.org/drawingml/2006/main" w="9525">
            <a:solidFill>
              <a:srgbClr val="1D2B24"/>
            </a:solidFill>
            <a:prstDash val="solid"/>
          </a:ln>
        </p:spPr>
      </p:sp>
      <p:pic>
        <p:nvPicPr>
          <p:cNvPr id="66" name=""/>
          <p:cNvPicPr>
            <a:picLocks xmlns:a="http://schemas.openxmlformats.org/drawingml/2006/main" noChangeAspect="1"/>
          </p:cNvPicPr>
          <p:nvPr/>
        </p:nvPicPr>
        <p:blipFill>
          <a:blip xmlns:r="http://schemas.openxmlformats.org/officeDocument/2006/relationships" xmlns:a="http://schemas.openxmlformats.org/drawingml/2006/main" r:embed="Rfa12ffd857c143a3"/>
          <a:stretch xmlns:a="http://schemas.openxmlformats.org/drawingml/2006/main"/>
        </p:blipFill>
        <p:spPr>
          <a:xfrm xmlns:a="http://schemas.openxmlformats.org/drawingml/2006/main">
            <a:off x="5334000" y="1809750"/>
            <a:ext cx="6248400" cy="3514725"/>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983E8AF6-4726-40A8-AA17-AE9235B1DF7C}"/>
              </a:ext>
            </a:extLst>
          </p:cNvPr>
          <p:cNvSpPr>
            <a:spLocks xmlns:a="http://schemas.openxmlformats.org/drawingml/2006/main" noGrp="1"/>
          </p:cNvSpPr>
          <p:nvPr/>
        </p:nvSpPr>
        <p:spPr>
          <a:xfrm xmlns:a="http://schemas.openxmlformats.org/drawingml/2006/main">
            <a:off x="5334000" y="5562600"/>
            <a:ext cx="6248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125" b="0">
                <a:solidFill>
                  <a:srgbClr val="35D6FF"/>
                </a:solidFill>
                <a:latin typeface="Courier New"/>
                <a:ea typeface="Courier New"/>
                <a:cs typeface="Courier New"/>
              </a:defRPr>
            </a:pPr>
            <a:r>
              <a:rPr sz="1125" b="0">
                <a:solidFill>
                  <a:srgbClr val="35D6FF"/>
                </a:solidFill>
                <a:latin typeface="Courier New"/>
                <a:ea typeface="Courier New"/>
                <a:cs typeface="Courier New"/>
              </a:rPr>
              <a:t>source ID · deployment · block · timestamp · query hash</a:t>
            </a:r>
          </a:p>
        </p:txBody>
      </p:sp>
      <p:sp>
        <p:nvSpPr>
          <p:cNvPr id="33" name="">
            <a:extLst xmlns:a="http://schemas.openxmlformats.org/drawingml/2006/main">
              <a:ext uri="{FF2B5EF4-FFF2-40B4-BE49-F238E27FC236}">
                <a16:creationId xmlns:a16="http://schemas.microsoft.com/office/drawing/2014/main" id="{4859B365-2058-4C50-ABD0-7D1D7A342D26}"/>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4" name="">
            <a:extLst xmlns:a="http://schemas.openxmlformats.org/drawingml/2006/main">
              <a:ext uri="{FF2B5EF4-FFF2-40B4-BE49-F238E27FC236}">
                <a16:creationId xmlns:a16="http://schemas.microsoft.com/office/drawing/2014/main" id="{2FFD7AF0-BA7A-4E7A-A74E-F1D877495369}"/>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35" name="">
            <a:extLst xmlns:a="http://schemas.openxmlformats.org/drawingml/2006/main">
              <a:ext uri="{FF2B5EF4-FFF2-40B4-BE49-F238E27FC236}">
                <a16:creationId xmlns:a16="http://schemas.microsoft.com/office/drawing/2014/main" id="{A5B08940-69BA-42AC-A1C9-43BD705AA788}"/>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05</a:t>
            </a:r>
          </a:p>
        </p:txBody>
      </p:sp>
    </p:spTree>
    <p:extLst>
      <p:ext uri="{BB962C8B-B14F-4D97-AF65-F5344CB8AC3E}">
        <p14:creationId xmlns:p14="http://schemas.microsoft.com/office/powerpoint/2010/main" val="555328363"/>
      </p:ext>
    </p:extLst>
  </p:cSld>
</p:sld>
</file>

<file path=ppt/slides/slide6.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651E9866-EE23-47F1-90CD-0CDF3D72C0E2}"/>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36C893B4-767A-4F6B-9E19-BCECB4CA8820}"/>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33522832-5DDA-4E3F-9612-733FD485A2BA}"/>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1AD923A3-08C2-4677-9BE5-59E3F86E8FDD}"/>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806CDCD9-9D4D-458E-9ED2-FBCEA2AAADC1}"/>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0B37BEC7-797D-485F-B842-F52F0F6EC3FE}"/>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DAB9FFB3-13C2-4926-A275-33F0A5B0F53B}"/>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E21BA7E9-55D9-41A5-A343-1D53D7908303}"/>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EE169671-AA2D-4FD3-A804-E4C7C962493B}"/>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2138ED4E-180E-493E-81D3-E5B5C53F646B}"/>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C31989E1-F3A9-4FCA-96A5-44BB58696661}"/>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3E6B6EAF-81D2-4AF1-B8AE-B6E25D250906}"/>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B790D73B-B653-48BA-B197-543CF73915A5}"/>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931B1C21-6DE1-491F-971E-6E88A83211F8}"/>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65051853-2AEC-43E6-B648-484C4F9BF32C}"/>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CA95DF7E-1416-417A-B6F3-1E5862742AED}"/>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86E1E7F2-0E77-4E26-B99C-D2E204E94B40}"/>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5D09530C-9DE9-4C0B-B609-7CF57875D637}"/>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C01A0B00-EFD6-40BA-A903-696899BB10B4}"/>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E2B53CA7-F857-4BB4-AFA1-7E39AFF33C4C}"/>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C697FE39-E6EB-4350-8D5B-E73FCBE0D437}"/>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D2B4F17B-4AA1-44CE-B512-1B6BAF50AB93}"/>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3" name="">
            <a:extLst xmlns:a="http://schemas.openxmlformats.org/drawingml/2006/main">
              <a:ext uri="{FF2B5EF4-FFF2-40B4-BE49-F238E27FC236}">
                <a16:creationId xmlns:a16="http://schemas.microsoft.com/office/drawing/2014/main" id="{32688366-7DB3-4BBC-933A-D20713195725}"/>
              </a:ext>
            </a:extLst>
          </p:cNvPr>
          <p:cNvSpPr>
            <a:spLocks xmlns:a="http://schemas.openxmlformats.org/drawingml/2006/main" noGrp="1"/>
          </p:cNvSpPr>
          <p:nvPr/>
        </p:nvSpPr>
        <p:spPr>
          <a:xfrm xmlns:a="http://schemas.openxmlformats.org/drawingml/2006/main">
            <a:off x="609600" y="3619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05 / RESEARCH</a:t>
            </a:r>
          </a:p>
        </p:txBody>
      </p:sp>
      <p:sp>
        <p:nvSpPr>
          <p:cNvPr id="24" name="">
            <a:extLst xmlns:a="http://schemas.openxmlformats.org/drawingml/2006/main">
              <a:ext uri="{FF2B5EF4-FFF2-40B4-BE49-F238E27FC236}">
                <a16:creationId xmlns:a16="http://schemas.microsoft.com/office/drawing/2014/main" id="{7299AE15-1B06-48A9-8C58-9424BE2518D4}"/>
              </a:ext>
            </a:extLst>
          </p:cNvPr>
          <p:cNvSpPr>
            <a:spLocks xmlns:a="http://schemas.openxmlformats.org/drawingml/2006/main" noGrp="1"/>
          </p:cNvSpPr>
          <p:nvPr/>
        </p:nvSpPr>
        <p:spPr>
          <a:xfrm xmlns:a="http://schemas.openxmlformats.org/drawingml/2006/main">
            <a:off x="609600" y="685800"/>
            <a:ext cx="10839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93218"/>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Seven tools cover spot research, history, and yield discovery</a:t>
            </a:r>
          </a:p>
        </p:txBody>
      </p:sp>
      <p:sp>
        <p:nvSpPr>
          <p:cNvPr id="25" name="">
            <a:extLst xmlns:a="http://schemas.openxmlformats.org/drawingml/2006/main">
              <a:ext uri="{FF2B5EF4-FFF2-40B4-BE49-F238E27FC236}">
                <a16:creationId xmlns:a16="http://schemas.microsoft.com/office/drawing/2014/main" id="{F254DED4-FBE8-4184-92BF-800DECA565F9}"/>
              </a:ext>
            </a:extLst>
          </p:cNvPr>
          <p:cNvSpPr>
            <a:spLocks xmlns:a="http://schemas.openxmlformats.org/drawingml/2006/main" noGrp="1"/>
          </p:cNvSpPr>
          <p:nvPr/>
        </p:nvSpPr>
        <p:spPr>
          <a:xfrm xmlns:a="http://schemas.openxmlformats.org/drawingml/2006/main">
            <a:off x="628650" y="18097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compare_markets</a:t>
            </a:r>
          </a:p>
        </p:txBody>
      </p:sp>
      <p:sp>
        <p:nvSpPr>
          <p:cNvPr id="26" name="">
            <a:extLst xmlns:a="http://schemas.openxmlformats.org/drawingml/2006/main">
              <a:ext uri="{FF2B5EF4-FFF2-40B4-BE49-F238E27FC236}">
                <a16:creationId xmlns:a16="http://schemas.microsoft.com/office/drawing/2014/main" id="{30D23FD1-CE50-4853-B02E-BF7AF91E50ED}"/>
              </a:ext>
            </a:extLst>
          </p:cNvPr>
          <p:cNvSpPr>
            <a:spLocks xmlns:a="http://schemas.openxmlformats.org/drawingml/2006/main" noGrp="1"/>
          </p:cNvSpPr>
          <p:nvPr/>
        </p:nvSpPr>
        <p:spPr>
          <a:xfrm xmlns:a="http://schemas.openxmlformats.org/drawingml/2006/main">
            <a:off x="3067050" y="18097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rank comparable metrics</a:t>
            </a:r>
          </a:p>
        </p:txBody>
      </p:sp>
      <p:sp>
        <p:nvSpPr>
          <p:cNvPr id="27" name="">
            <a:extLst xmlns:a="http://schemas.openxmlformats.org/drawingml/2006/main">
              <a:ext uri="{FF2B5EF4-FFF2-40B4-BE49-F238E27FC236}">
                <a16:creationId xmlns:a16="http://schemas.microsoft.com/office/drawing/2014/main" id="{D4DF40A0-7904-44F0-A797-3784AEAB7489}"/>
              </a:ext>
            </a:extLst>
          </p:cNvPr>
          <p:cNvSpPr>
            <a:spLocks xmlns:a="http://schemas.openxmlformats.org/drawingml/2006/main" noGrp="1"/>
          </p:cNvSpPr>
          <p:nvPr/>
        </p:nvSpPr>
        <p:spPr>
          <a:xfrm xmlns:a="http://schemas.openxmlformats.org/drawingml/2006/main">
            <a:off x="628650" y="21717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28" name="">
            <a:extLst xmlns:a="http://schemas.openxmlformats.org/drawingml/2006/main">
              <a:ext uri="{FF2B5EF4-FFF2-40B4-BE49-F238E27FC236}">
                <a16:creationId xmlns:a16="http://schemas.microsoft.com/office/drawing/2014/main" id="{F0E3C5C6-1A22-4151-9FAD-E17CC6B2E590}"/>
              </a:ext>
            </a:extLst>
          </p:cNvPr>
          <p:cNvSpPr>
            <a:spLocks xmlns:a="http://schemas.openxmlformats.org/drawingml/2006/main" noGrp="1"/>
          </p:cNvSpPr>
          <p:nvPr/>
        </p:nvSpPr>
        <p:spPr>
          <a:xfrm xmlns:a="http://schemas.openxmlformats.org/drawingml/2006/main">
            <a:off x="628650" y="23622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research_brief</a:t>
            </a:r>
          </a:p>
        </p:txBody>
      </p:sp>
      <p:sp>
        <p:nvSpPr>
          <p:cNvPr id="29" name="">
            <a:extLst xmlns:a="http://schemas.openxmlformats.org/drawingml/2006/main">
              <a:ext uri="{FF2B5EF4-FFF2-40B4-BE49-F238E27FC236}">
                <a16:creationId xmlns:a16="http://schemas.microsoft.com/office/drawing/2014/main" id="{E978D002-837E-4EAD-AB10-B35B5E0B0378}"/>
              </a:ext>
            </a:extLst>
          </p:cNvPr>
          <p:cNvSpPr>
            <a:spLocks xmlns:a="http://schemas.openxmlformats.org/drawingml/2006/main" noGrp="1"/>
          </p:cNvSpPr>
          <p:nvPr/>
        </p:nvSpPr>
        <p:spPr>
          <a:xfrm xmlns:a="http://schemas.openxmlformats.org/drawingml/2006/main">
            <a:off x="3067050" y="23622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summarize cited findings</a:t>
            </a:r>
          </a:p>
        </p:txBody>
      </p:sp>
      <p:sp>
        <p:nvSpPr>
          <p:cNvPr id="30" name="">
            <a:extLst xmlns:a="http://schemas.openxmlformats.org/drawingml/2006/main">
              <a:ext uri="{FF2B5EF4-FFF2-40B4-BE49-F238E27FC236}">
                <a16:creationId xmlns:a16="http://schemas.microsoft.com/office/drawing/2014/main" id="{A377FDB4-E623-4B4E-8533-D92C7B4C2048}"/>
              </a:ext>
            </a:extLst>
          </p:cNvPr>
          <p:cNvSpPr>
            <a:spLocks xmlns:a="http://schemas.openxmlformats.org/drawingml/2006/main" noGrp="1"/>
          </p:cNvSpPr>
          <p:nvPr/>
        </p:nvSpPr>
        <p:spPr>
          <a:xfrm xmlns:a="http://schemas.openxmlformats.org/drawingml/2006/main">
            <a:off x="628650" y="272415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1" name="">
            <a:extLst xmlns:a="http://schemas.openxmlformats.org/drawingml/2006/main">
              <a:ext uri="{FF2B5EF4-FFF2-40B4-BE49-F238E27FC236}">
                <a16:creationId xmlns:a16="http://schemas.microsoft.com/office/drawing/2014/main" id="{88392FC9-1941-4B7F-9D4F-C4910D12328C}"/>
              </a:ext>
            </a:extLst>
          </p:cNvPr>
          <p:cNvSpPr>
            <a:spLocks xmlns:a="http://schemas.openxmlformats.org/drawingml/2006/main" noGrp="1"/>
          </p:cNvSpPr>
          <p:nvPr/>
        </p:nvSpPr>
        <p:spPr>
          <a:xfrm xmlns:a="http://schemas.openxmlformats.org/drawingml/2006/main">
            <a:off x="628650" y="29146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risk_scan</a:t>
            </a:r>
          </a:p>
        </p:txBody>
      </p:sp>
      <p:sp>
        <p:nvSpPr>
          <p:cNvPr id="32" name="">
            <a:extLst xmlns:a="http://schemas.openxmlformats.org/drawingml/2006/main">
              <a:ext uri="{FF2B5EF4-FFF2-40B4-BE49-F238E27FC236}">
                <a16:creationId xmlns:a16="http://schemas.microsoft.com/office/drawing/2014/main" id="{1E4FC116-F677-41E0-BDF3-A7470E250D95}"/>
              </a:ext>
            </a:extLst>
          </p:cNvPr>
          <p:cNvSpPr>
            <a:spLocks xmlns:a="http://schemas.openxmlformats.org/drawingml/2006/main" noGrp="1"/>
          </p:cNvSpPr>
          <p:nvPr/>
        </p:nvSpPr>
        <p:spPr>
          <a:xfrm xmlns:a="http://schemas.openxmlformats.org/drawingml/2006/main">
            <a:off x="3067050" y="29146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peer-relative spot signals</a:t>
            </a:r>
          </a:p>
        </p:txBody>
      </p:sp>
      <p:sp>
        <p:nvSpPr>
          <p:cNvPr id="33" name="">
            <a:extLst xmlns:a="http://schemas.openxmlformats.org/drawingml/2006/main">
              <a:ext uri="{FF2B5EF4-FFF2-40B4-BE49-F238E27FC236}">
                <a16:creationId xmlns:a16="http://schemas.microsoft.com/office/drawing/2014/main" id="{A3B2E8CE-0073-40EF-9FFE-7D5C061D341F}"/>
              </a:ext>
            </a:extLst>
          </p:cNvPr>
          <p:cNvSpPr>
            <a:spLocks xmlns:a="http://schemas.openxmlformats.org/drawingml/2006/main" noGrp="1"/>
          </p:cNvSpPr>
          <p:nvPr/>
        </p:nvSpPr>
        <p:spPr>
          <a:xfrm xmlns:a="http://schemas.openxmlformats.org/drawingml/2006/main">
            <a:off x="628650" y="32766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4" name="">
            <a:extLst xmlns:a="http://schemas.openxmlformats.org/drawingml/2006/main">
              <a:ext uri="{FF2B5EF4-FFF2-40B4-BE49-F238E27FC236}">
                <a16:creationId xmlns:a16="http://schemas.microsoft.com/office/drawing/2014/main" id="{7414675B-67A1-45ED-A119-1862AD12EA4C}"/>
              </a:ext>
            </a:extLst>
          </p:cNvPr>
          <p:cNvSpPr>
            <a:spLocks xmlns:a="http://schemas.openxmlformats.org/drawingml/2006/main" noGrp="1"/>
          </p:cNvSpPr>
          <p:nvPr/>
        </p:nvSpPr>
        <p:spPr>
          <a:xfrm xmlns:a="http://schemas.openxmlformats.org/drawingml/2006/main">
            <a:off x="628650" y="34671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analyze_markets</a:t>
            </a:r>
          </a:p>
        </p:txBody>
      </p:sp>
      <p:sp>
        <p:nvSpPr>
          <p:cNvPr id="35" name="">
            <a:extLst xmlns:a="http://schemas.openxmlformats.org/drawingml/2006/main">
              <a:ext uri="{FF2B5EF4-FFF2-40B4-BE49-F238E27FC236}">
                <a16:creationId xmlns:a16="http://schemas.microsoft.com/office/drawing/2014/main" id="{55433E2C-E5D4-4DEF-AE7B-9B253C63C93C}"/>
              </a:ext>
            </a:extLst>
          </p:cNvPr>
          <p:cNvSpPr>
            <a:spLocks xmlns:a="http://schemas.openxmlformats.org/drawingml/2006/main" noGrp="1"/>
          </p:cNvSpPr>
          <p:nvPr/>
        </p:nvSpPr>
        <p:spPr>
          <a:xfrm xmlns:a="http://schemas.openxmlformats.org/drawingml/2006/main">
            <a:off x="3067050" y="34671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explain calculations and confidence</a:t>
            </a:r>
          </a:p>
        </p:txBody>
      </p:sp>
      <p:sp>
        <p:nvSpPr>
          <p:cNvPr id="36" name="">
            <a:extLst xmlns:a="http://schemas.openxmlformats.org/drawingml/2006/main">
              <a:ext uri="{FF2B5EF4-FFF2-40B4-BE49-F238E27FC236}">
                <a16:creationId xmlns:a16="http://schemas.microsoft.com/office/drawing/2014/main" id="{10DEB767-2917-4E7A-B1E6-C89D4AA907C6}"/>
              </a:ext>
            </a:extLst>
          </p:cNvPr>
          <p:cNvSpPr>
            <a:spLocks xmlns:a="http://schemas.openxmlformats.org/drawingml/2006/main" noGrp="1"/>
          </p:cNvSpPr>
          <p:nvPr/>
        </p:nvSpPr>
        <p:spPr>
          <a:xfrm xmlns:a="http://schemas.openxmlformats.org/drawingml/2006/main">
            <a:off x="628650" y="382905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7" name="">
            <a:extLst xmlns:a="http://schemas.openxmlformats.org/drawingml/2006/main">
              <a:ext uri="{FF2B5EF4-FFF2-40B4-BE49-F238E27FC236}">
                <a16:creationId xmlns:a16="http://schemas.microsoft.com/office/drawing/2014/main" id="{62E41C1E-276A-4A06-86E3-AA53FF9480EA}"/>
              </a:ext>
            </a:extLst>
          </p:cNvPr>
          <p:cNvSpPr>
            <a:spLocks xmlns:a="http://schemas.openxmlformats.org/drawingml/2006/main" noGrp="1"/>
          </p:cNvSpPr>
          <p:nvPr/>
        </p:nvSpPr>
        <p:spPr>
          <a:xfrm xmlns:a="http://schemas.openxmlformats.org/drawingml/2006/main">
            <a:off x="628650" y="40195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analyze_trends</a:t>
            </a:r>
          </a:p>
        </p:txBody>
      </p:sp>
      <p:sp>
        <p:nvSpPr>
          <p:cNvPr id="38" name="">
            <a:extLst xmlns:a="http://schemas.openxmlformats.org/drawingml/2006/main">
              <a:ext uri="{FF2B5EF4-FFF2-40B4-BE49-F238E27FC236}">
                <a16:creationId xmlns:a16="http://schemas.microsoft.com/office/drawing/2014/main" id="{9C10BEBA-4D07-4C2B-AD5F-BC6BBFDD006C}"/>
              </a:ext>
            </a:extLst>
          </p:cNvPr>
          <p:cNvSpPr>
            <a:spLocks xmlns:a="http://schemas.openxmlformats.org/drawingml/2006/main" noGrp="1"/>
          </p:cNvSpPr>
          <p:nvPr/>
        </p:nvSpPr>
        <p:spPr>
          <a:xfrm xmlns:a="http://schemas.openxmlformats.org/drawingml/2006/main">
            <a:off x="3067050" y="40195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7d / 30d cited daily history</a:t>
            </a:r>
          </a:p>
        </p:txBody>
      </p:sp>
      <p:sp>
        <p:nvSpPr>
          <p:cNvPr id="39" name="">
            <a:extLst xmlns:a="http://schemas.openxmlformats.org/drawingml/2006/main">
              <a:ext uri="{FF2B5EF4-FFF2-40B4-BE49-F238E27FC236}">
                <a16:creationId xmlns:a16="http://schemas.microsoft.com/office/drawing/2014/main" id="{98FCD607-4D62-44FF-A730-F92C5F9C785E}"/>
              </a:ext>
            </a:extLst>
          </p:cNvPr>
          <p:cNvSpPr>
            <a:spLocks xmlns:a="http://schemas.openxmlformats.org/drawingml/2006/main" noGrp="1"/>
          </p:cNvSpPr>
          <p:nvPr/>
        </p:nvSpPr>
        <p:spPr>
          <a:xfrm xmlns:a="http://schemas.openxmlformats.org/drawingml/2006/main">
            <a:off x="628650" y="43815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0" name="">
            <a:extLst xmlns:a="http://schemas.openxmlformats.org/drawingml/2006/main">
              <a:ext uri="{FF2B5EF4-FFF2-40B4-BE49-F238E27FC236}">
                <a16:creationId xmlns:a16="http://schemas.microsoft.com/office/drawing/2014/main" id="{7E5ADA3D-0E64-42CD-B24E-A55BAF1DAD9F}"/>
              </a:ext>
            </a:extLst>
          </p:cNvPr>
          <p:cNvSpPr>
            <a:spLocks xmlns:a="http://schemas.openxmlformats.org/drawingml/2006/main" noGrp="1"/>
          </p:cNvSpPr>
          <p:nvPr/>
        </p:nvSpPr>
        <p:spPr>
          <a:xfrm xmlns:a="http://schemas.openxmlformats.org/drawingml/2006/main">
            <a:off x="628650" y="457200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FF5AA0"/>
                </a:solidFill>
                <a:latin typeface="Courier New"/>
                <a:ea typeface="Courier New"/>
                <a:cs typeface="Courier New"/>
              </a:defRPr>
            </a:pPr>
            <a:r>
              <a:rPr sz="1200" b="1">
                <a:solidFill>
                  <a:srgbClr val="FF5AA0"/>
                </a:solidFill>
                <a:latin typeface="Courier New"/>
                <a:ea typeface="Courier New"/>
                <a:cs typeface="Courier New"/>
              </a:rPr>
              <a:t>discover_yields</a:t>
            </a:r>
          </a:p>
        </p:txBody>
      </p:sp>
      <p:sp>
        <p:nvSpPr>
          <p:cNvPr id="41" name="">
            <a:extLst xmlns:a="http://schemas.openxmlformats.org/drawingml/2006/main">
              <a:ext uri="{FF2B5EF4-FFF2-40B4-BE49-F238E27FC236}">
                <a16:creationId xmlns:a16="http://schemas.microsoft.com/office/drawing/2014/main" id="{530DC6FD-2FC4-46DE-8EB8-3FA447E7052E}"/>
              </a:ext>
            </a:extLst>
          </p:cNvPr>
          <p:cNvSpPr>
            <a:spLocks xmlns:a="http://schemas.openxmlformats.org/drawingml/2006/main" noGrp="1"/>
          </p:cNvSpPr>
          <p:nvPr/>
        </p:nvSpPr>
        <p:spPr>
          <a:xfrm xmlns:a="http://schemas.openxmlformats.org/drawingml/2006/main">
            <a:off x="3067050" y="457200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separate lending and DEX LP rankings</a:t>
            </a:r>
          </a:p>
        </p:txBody>
      </p:sp>
      <p:sp>
        <p:nvSpPr>
          <p:cNvPr id="42" name="">
            <a:extLst xmlns:a="http://schemas.openxmlformats.org/drawingml/2006/main">
              <a:ext uri="{FF2B5EF4-FFF2-40B4-BE49-F238E27FC236}">
                <a16:creationId xmlns:a16="http://schemas.microsoft.com/office/drawing/2014/main" id="{0FC78D3F-D900-4560-9DEC-60784FBA91A4}"/>
              </a:ext>
            </a:extLst>
          </p:cNvPr>
          <p:cNvSpPr>
            <a:spLocks xmlns:a="http://schemas.openxmlformats.org/drawingml/2006/main" noGrp="1"/>
          </p:cNvSpPr>
          <p:nvPr/>
        </p:nvSpPr>
        <p:spPr>
          <a:xfrm xmlns:a="http://schemas.openxmlformats.org/drawingml/2006/main">
            <a:off x="628650" y="493395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3" name="">
            <a:extLst xmlns:a="http://schemas.openxmlformats.org/drawingml/2006/main">
              <a:ext uri="{FF2B5EF4-FFF2-40B4-BE49-F238E27FC236}">
                <a16:creationId xmlns:a16="http://schemas.microsoft.com/office/drawing/2014/main" id="{91D15964-146C-4ABD-B4B1-989094AA0265}"/>
              </a:ext>
            </a:extLst>
          </p:cNvPr>
          <p:cNvSpPr>
            <a:spLocks xmlns:a="http://schemas.openxmlformats.org/drawingml/2006/main" noGrp="1"/>
          </p:cNvSpPr>
          <p:nvPr/>
        </p:nvSpPr>
        <p:spPr>
          <a:xfrm xmlns:a="http://schemas.openxmlformats.org/drawingml/2006/main">
            <a:off x="628650" y="51244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1">
                <a:solidFill>
                  <a:srgbClr val="3DF59A"/>
                </a:solidFill>
                <a:latin typeface="Courier New"/>
                <a:ea typeface="Courier New"/>
                <a:cs typeface="Courier New"/>
              </a:defRPr>
            </a:pPr>
            <a:r>
              <a:rPr sz="1200" b="1">
                <a:solidFill>
                  <a:srgbClr val="3DF59A"/>
                </a:solidFill>
                <a:latin typeface="Courier New"/>
                <a:ea typeface="Courier New"/>
                <a:cs typeface="Courier New"/>
              </a:rPr>
              <a:t>get_info</a:t>
            </a:r>
          </a:p>
        </p:txBody>
      </p:sp>
      <p:sp>
        <p:nvSpPr>
          <p:cNvPr id="44" name="">
            <a:extLst xmlns:a="http://schemas.openxmlformats.org/drawingml/2006/main">
              <a:ext uri="{FF2B5EF4-FFF2-40B4-BE49-F238E27FC236}">
                <a16:creationId xmlns:a16="http://schemas.microsoft.com/office/drawing/2014/main" id="{CD8B5C1E-99C0-4CC0-97C6-1DD402C8CD9C}"/>
              </a:ext>
            </a:extLst>
          </p:cNvPr>
          <p:cNvSpPr>
            <a:spLocks xmlns:a="http://schemas.openxmlformats.org/drawingml/2006/main" noGrp="1"/>
          </p:cNvSpPr>
          <p:nvPr/>
        </p:nvSpPr>
        <p:spPr>
          <a:xfrm xmlns:a="http://schemas.openxmlformats.org/drawingml/2006/main">
            <a:off x="3067050" y="5124450"/>
            <a:ext cx="295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200" b="0">
                <a:solidFill>
                  <a:srgbClr val="DCF3E5"/>
                </a:solidFill>
                <a:latin typeface="Arial"/>
                <a:ea typeface="Arial"/>
                <a:cs typeface="Arial"/>
              </a:defRPr>
            </a:pPr>
            <a:r>
              <a:rPr sz="1200" b="0">
                <a:solidFill>
                  <a:srgbClr val="DCF3E5"/>
                </a:solidFill>
                <a:latin typeface="Arial"/>
                <a:ea typeface="Arial"/>
                <a:cs typeface="Arial"/>
              </a:rPr>
              <a:t>describe capabilities and examples</a:t>
            </a:r>
          </a:p>
        </p:txBody>
      </p:sp>
      <p:sp>
        <p:nvSpPr>
          <p:cNvPr id="45" name="">
            <a:extLst xmlns:a="http://schemas.openxmlformats.org/drawingml/2006/main">
              <a:ext uri="{FF2B5EF4-FFF2-40B4-BE49-F238E27FC236}">
                <a16:creationId xmlns:a16="http://schemas.microsoft.com/office/drawing/2014/main" id="{12FFB112-BA4A-4019-9E7D-6FC40B209978}"/>
              </a:ext>
            </a:extLst>
          </p:cNvPr>
          <p:cNvSpPr>
            <a:spLocks xmlns:a="http://schemas.openxmlformats.org/drawingml/2006/main" noGrp="1"/>
          </p:cNvSpPr>
          <p:nvPr/>
        </p:nvSpPr>
        <p:spPr>
          <a:xfrm xmlns:a="http://schemas.openxmlformats.org/drawingml/2006/main">
            <a:off x="628650" y="5486400"/>
            <a:ext cx="539115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46" name="">
            <a:extLst xmlns:a="http://schemas.openxmlformats.org/drawingml/2006/main">
              <a:ext uri="{FF2B5EF4-FFF2-40B4-BE49-F238E27FC236}">
                <a16:creationId xmlns:a16="http://schemas.microsoft.com/office/drawing/2014/main" id="{5D800DAB-2033-41A8-875D-36C30A24B59A}"/>
              </a:ext>
            </a:extLst>
          </p:cNvPr>
          <p:cNvSpPr>
            <a:spLocks xmlns:a="http://schemas.openxmlformats.org/drawingml/2006/main" noGrp="1"/>
          </p:cNvSpPr>
          <p:nvPr/>
        </p:nvSpPr>
        <p:spPr>
          <a:xfrm xmlns:a="http://schemas.openxmlformats.org/drawingml/2006/main">
            <a:off x="6400800" y="1733550"/>
            <a:ext cx="5200650" cy="2943225"/>
          </a:xfrm>
          <a:prstGeom xmlns:a="http://schemas.openxmlformats.org/drawingml/2006/main" prst="roundRect">
            <a:avLst>
              <a:gd name="adj" fmla="val 3883"/>
            </a:avLst>
          </a:prstGeom>
          <a:solidFill xmlns:a="http://schemas.openxmlformats.org/drawingml/2006/main">
            <a:srgbClr val="020304"/>
          </a:solidFill>
          <a:ln xmlns:a="http://schemas.openxmlformats.org/drawingml/2006/main" w="9525">
            <a:solidFill>
              <a:srgbClr val="1D2B24"/>
            </a:solidFill>
            <a:prstDash val="solid"/>
          </a:ln>
        </p:spPr>
      </p:sp>
      <p:pic>
        <p:nvPicPr>
          <p:cNvPr id="101" name=""/>
          <p:cNvPicPr>
            <a:picLocks xmlns:a="http://schemas.openxmlformats.org/drawingml/2006/main" noChangeAspect="1"/>
          </p:cNvPicPr>
          <p:nvPr/>
        </p:nvPicPr>
        <p:blipFill>
          <a:blip xmlns:r="http://schemas.openxmlformats.org/officeDocument/2006/relationships" xmlns:a="http://schemas.openxmlformats.org/drawingml/2006/main" r:embed="R9f5969bb9e974014"/>
          <a:stretch xmlns:a="http://schemas.openxmlformats.org/drawingml/2006/main"/>
        </p:blipFill>
        <p:spPr>
          <a:xfrm xmlns:a="http://schemas.openxmlformats.org/drawingml/2006/main">
            <a:off x="6419850" y="1753195"/>
            <a:ext cx="5162550" cy="2903934"/>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D2CF05DA-E7B7-4F1E-88EA-82E4524192AA}"/>
              </a:ext>
            </a:extLst>
          </p:cNvPr>
          <p:cNvSpPr>
            <a:spLocks xmlns:a="http://schemas.openxmlformats.org/drawingml/2006/main" noGrp="1"/>
          </p:cNvSpPr>
          <p:nvPr/>
        </p:nvSpPr>
        <p:spPr>
          <a:xfrm xmlns:a="http://schemas.openxmlformats.org/drawingml/2006/main">
            <a:off x="6419850" y="4953000"/>
            <a:ext cx="5162550" cy="800100"/>
          </a:xfrm>
          <a:prstGeom xmlns:a="http://schemas.openxmlformats.org/drawingml/2006/main" prst="roundRect">
            <a:avLst>
              <a:gd name="adj" fmla="val 11905"/>
            </a:avLst>
          </a:prstGeom>
          <a:solidFill xmlns:a="http://schemas.openxmlformats.org/drawingml/2006/main">
            <a:srgbClr val="0A100E"/>
          </a:solidFill>
          <a:ln xmlns:a="http://schemas.openxmlformats.org/drawingml/2006/main" w="9525">
            <a:solidFill>
              <a:srgbClr val="35D6FF"/>
            </a:solidFill>
            <a:prstDash val="solid"/>
          </a:ln>
        </p:spPr>
      </p:sp>
      <p:sp>
        <p:nvSpPr>
          <p:cNvPr id="49" name="">
            <a:extLst xmlns:a="http://schemas.openxmlformats.org/drawingml/2006/main">
              <a:ext uri="{FF2B5EF4-FFF2-40B4-BE49-F238E27FC236}">
                <a16:creationId xmlns:a16="http://schemas.microsoft.com/office/drawing/2014/main" id="{686B94E0-F507-473A-9DB0-39C0D31D11FC}"/>
              </a:ext>
            </a:extLst>
          </p:cNvPr>
          <p:cNvSpPr>
            <a:spLocks xmlns:a="http://schemas.openxmlformats.org/drawingml/2006/main" noGrp="1"/>
          </p:cNvSpPr>
          <p:nvPr/>
        </p:nvSpPr>
        <p:spPr>
          <a:xfrm xmlns:a="http://schemas.openxmlformats.org/drawingml/2006/main">
            <a:off x="6591300" y="5143500"/>
            <a:ext cx="219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LENDING SUPPLY APY</a:t>
            </a:r>
          </a:p>
        </p:txBody>
      </p:sp>
      <p:sp>
        <p:nvSpPr>
          <p:cNvPr id="50" name="">
            <a:extLst xmlns:a="http://schemas.openxmlformats.org/drawingml/2006/main">
              <a:ext uri="{FF2B5EF4-FFF2-40B4-BE49-F238E27FC236}">
                <a16:creationId xmlns:a16="http://schemas.microsoft.com/office/drawing/2014/main" id="{F4984AE2-37B9-45FA-9D8F-0A6F95C551B6}"/>
              </a:ext>
            </a:extLst>
          </p:cNvPr>
          <p:cNvSpPr>
            <a:spLocks xmlns:a="http://schemas.openxmlformats.org/drawingml/2006/main" noGrp="1"/>
          </p:cNvSpPr>
          <p:nvPr/>
        </p:nvSpPr>
        <p:spPr>
          <a:xfrm xmlns:a="http://schemas.openxmlformats.org/drawingml/2006/main">
            <a:off x="8782050" y="5105400"/>
            <a:ext cx="438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FFC857"/>
                </a:solidFill>
                <a:latin typeface="Courier New"/>
                <a:ea typeface="Courier New"/>
                <a:cs typeface="Courier New"/>
              </a:defRPr>
            </a:pPr>
            <a:r>
              <a:rPr sz="1875" b="1">
                <a:solidFill>
                  <a:srgbClr val="FFC857"/>
                </a:solidFill>
                <a:latin typeface="Courier New"/>
                <a:ea typeface="Courier New"/>
                <a:cs typeface="Courier New"/>
              </a:rPr>
              <a:t>≠</a:t>
            </a:r>
          </a:p>
        </p:txBody>
      </p:sp>
      <p:sp>
        <p:nvSpPr>
          <p:cNvPr id="51" name="">
            <a:extLst xmlns:a="http://schemas.openxmlformats.org/drawingml/2006/main">
              <a:ext uri="{FF2B5EF4-FFF2-40B4-BE49-F238E27FC236}">
                <a16:creationId xmlns:a16="http://schemas.microsoft.com/office/drawing/2014/main" id="{007147B0-D3DC-43AF-9B4B-C509B1A6DFE4}"/>
              </a:ext>
            </a:extLst>
          </p:cNvPr>
          <p:cNvSpPr>
            <a:spLocks xmlns:a="http://schemas.openxmlformats.org/drawingml/2006/main" noGrp="1"/>
          </p:cNvSpPr>
          <p:nvPr/>
        </p:nvSpPr>
        <p:spPr>
          <a:xfrm xmlns:a="http://schemas.openxmlformats.org/drawingml/2006/main">
            <a:off x="9239250" y="5143500"/>
            <a:ext cx="21526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050" b="1">
                <a:solidFill>
                  <a:srgbClr val="35D6FF"/>
                </a:solidFill>
                <a:latin typeface="Courier New"/>
                <a:ea typeface="Courier New"/>
                <a:cs typeface="Courier New"/>
              </a:defRPr>
            </a:pPr>
            <a:r>
              <a:rPr sz="1050" b="1">
                <a:solidFill>
                  <a:srgbClr val="35D6FF"/>
                </a:solidFill>
                <a:latin typeface="Courier New"/>
                <a:ea typeface="Courier New"/>
                <a:cs typeface="Courier New"/>
              </a:rPr>
              <a:t>HISTORICAL LP FEE APR</a:t>
            </a:r>
          </a:p>
        </p:txBody>
      </p:sp>
      <p:sp>
        <p:nvSpPr>
          <p:cNvPr id="52" name="">
            <a:extLst xmlns:a="http://schemas.openxmlformats.org/drawingml/2006/main">
              <a:ext uri="{FF2B5EF4-FFF2-40B4-BE49-F238E27FC236}">
                <a16:creationId xmlns:a16="http://schemas.microsoft.com/office/drawing/2014/main" id="{C340D824-B636-4DE4-9A29-90CDDFC22945}"/>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53" name="">
            <a:extLst xmlns:a="http://schemas.openxmlformats.org/drawingml/2006/main">
              <a:ext uri="{FF2B5EF4-FFF2-40B4-BE49-F238E27FC236}">
                <a16:creationId xmlns:a16="http://schemas.microsoft.com/office/drawing/2014/main" id="{5A1D052D-D408-44D7-961A-1DDBD5379CFD}"/>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54" name="">
            <a:extLst xmlns:a="http://schemas.openxmlformats.org/drawingml/2006/main">
              <a:ext uri="{FF2B5EF4-FFF2-40B4-BE49-F238E27FC236}">
                <a16:creationId xmlns:a16="http://schemas.microsoft.com/office/drawing/2014/main" id="{F4B5C762-01DB-4D4E-BBA8-3B4FE099E644}"/>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06</a:t>
            </a:r>
          </a:p>
        </p:txBody>
      </p:sp>
    </p:spTree>
    <p:extLst>
      <p:ext uri="{BB962C8B-B14F-4D97-AF65-F5344CB8AC3E}">
        <p14:creationId xmlns:p14="http://schemas.microsoft.com/office/powerpoint/2010/main" val="1266851798"/>
      </p:ext>
    </p:extLst>
  </p:cSld>
</p:sld>
</file>

<file path=ppt/slides/slide7.xml><?xml version="1.0" encoding="utf-8"?>
<p:sld xmlns:p="http://schemas.openxmlformats.org/presentationml/2006/main">
  <p:cSld>
    <p:bg>
      <p:bgPr>
        <a:solidFill xmlns:a="http://schemas.openxmlformats.org/drawingml/2006/main">
          <a:srgbClr val="05070A"/>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7DBC46DD-8141-409B-AC44-881137B66127}"/>
              </a:ext>
            </a:extLst>
          </p:cNvPr>
          <p:cNvSpPr>
            <a:spLocks xmlns:a="http://schemas.openxmlformats.org/drawingml/2006/main" noGrp="1"/>
          </p:cNvSpPr>
          <p:nvPr/>
        </p:nvSpPr>
        <p:spPr>
          <a:xfrm xmlns:a="http://schemas.openxmlformats.org/drawingml/2006/main">
            <a:off x="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 name="">
            <a:extLst xmlns:a="http://schemas.openxmlformats.org/drawingml/2006/main">
              <a:ext uri="{FF2B5EF4-FFF2-40B4-BE49-F238E27FC236}">
                <a16:creationId xmlns:a16="http://schemas.microsoft.com/office/drawing/2014/main" id="{86FD943C-B45E-40D5-8C5B-A7D97ABCB852}"/>
              </a:ext>
            </a:extLst>
          </p:cNvPr>
          <p:cNvSpPr>
            <a:spLocks xmlns:a="http://schemas.openxmlformats.org/drawingml/2006/main" noGrp="1"/>
          </p:cNvSpPr>
          <p:nvPr/>
        </p:nvSpPr>
        <p:spPr>
          <a:xfrm xmlns:a="http://schemas.openxmlformats.org/drawingml/2006/main">
            <a:off x="914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3" name="">
            <a:extLst xmlns:a="http://schemas.openxmlformats.org/drawingml/2006/main">
              <a:ext uri="{FF2B5EF4-FFF2-40B4-BE49-F238E27FC236}">
                <a16:creationId xmlns:a16="http://schemas.microsoft.com/office/drawing/2014/main" id="{F463F000-FA9A-4296-AF78-BB067681E3E2}"/>
              </a:ext>
            </a:extLst>
          </p:cNvPr>
          <p:cNvSpPr>
            <a:spLocks xmlns:a="http://schemas.openxmlformats.org/drawingml/2006/main" noGrp="1"/>
          </p:cNvSpPr>
          <p:nvPr/>
        </p:nvSpPr>
        <p:spPr>
          <a:xfrm xmlns:a="http://schemas.openxmlformats.org/drawingml/2006/main">
            <a:off x="1828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4" name="">
            <a:extLst xmlns:a="http://schemas.openxmlformats.org/drawingml/2006/main">
              <a:ext uri="{FF2B5EF4-FFF2-40B4-BE49-F238E27FC236}">
                <a16:creationId xmlns:a16="http://schemas.microsoft.com/office/drawing/2014/main" id="{47C6CC7B-E163-4E87-AC4B-6D9345480079}"/>
              </a:ext>
            </a:extLst>
          </p:cNvPr>
          <p:cNvSpPr>
            <a:spLocks xmlns:a="http://schemas.openxmlformats.org/drawingml/2006/main" noGrp="1"/>
          </p:cNvSpPr>
          <p:nvPr/>
        </p:nvSpPr>
        <p:spPr>
          <a:xfrm xmlns:a="http://schemas.openxmlformats.org/drawingml/2006/main">
            <a:off x="2743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5" name="">
            <a:extLst xmlns:a="http://schemas.openxmlformats.org/drawingml/2006/main">
              <a:ext uri="{FF2B5EF4-FFF2-40B4-BE49-F238E27FC236}">
                <a16:creationId xmlns:a16="http://schemas.microsoft.com/office/drawing/2014/main" id="{5033BA8D-DE0E-4274-9E8A-C192BAB06956}"/>
              </a:ext>
            </a:extLst>
          </p:cNvPr>
          <p:cNvSpPr>
            <a:spLocks xmlns:a="http://schemas.openxmlformats.org/drawingml/2006/main" noGrp="1"/>
          </p:cNvSpPr>
          <p:nvPr/>
        </p:nvSpPr>
        <p:spPr>
          <a:xfrm xmlns:a="http://schemas.openxmlformats.org/drawingml/2006/main">
            <a:off x="3657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6" name="">
            <a:extLst xmlns:a="http://schemas.openxmlformats.org/drawingml/2006/main">
              <a:ext uri="{FF2B5EF4-FFF2-40B4-BE49-F238E27FC236}">
                <a16:creationId xmlns:a16="http://schemas.microsoft.com/office/drawing/2014/main" id="{8E80D083-D855-46F5-BDD4-A47E21E80EBF}"/>
              </a:ext>
            </a:extLst>
          </p:cNvPr>
          <p:cNvSpPr>
            <a:spLocks xmlns:a="http://schemas.openxmlformats.org/drawingml/2006/main" noGrp="1"/>
          </p:cNvSpPr>
          <p:nvPr/>
        </p:nvSpPr>
        <p:spPr>
          <a:xfrm xmlns:a="http://schemas.openxmlformats.org/drawingml/2006/main">
            <a:off x="4572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7" name="">
            <a:extLst xmlns:a="http://schemas.openxmlformats.org/drawingml/2006/main">
              <a:ext uri="{FF2B5EF4-FFF2-40B4-BE49-F238E27FC236}">
                <a16:creationId xmlns:a16="http://schemas.microsoft.com/office/drawing/2014/main" id="{5A27C186-32F0-4ECC-B52D-F5964F10097F}"/>
              </a:ext>
            </a:extLst>
          </p:cNvPr>
          <p:cNvSpPr>
            <a:spLocks xmlns:a="http://schemas.openxmlformats.org/drawingml/2006/main" noGrp="1"/>
          </p:cNvSpPr>
          <p:nvPr/>
        </p:nvSpPr>
        <p:spPr>
          <a:xfrm xmlns:a="http://schemas.openxmlformats.org/drawingml/2006/main">
            <a:off x="5486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8" name="">
            <a:extLst xmlns:a="http://schemas.openxmlformats.org/drawingml/2006/main">
              <a:ext uri="{FF2B5EF4-FFF2-40B4-BE49-F238E27FC236}">
                <a16:creationId xmlns:a16="http://schemas.microsoft.com/office/drawing/2014/main" id="{C5D2285C-C3A5-4F45-84CF-37D52928562A}"/>
              </a:ext>
            </a:extLst>
          </p:cNvPr>
          <p:cNvSpPr>
            <a:spLocks xmlns:a="http://schemas.openxmlformats.org/drawingml/2006/main" noGrp="1"/>
          </p:cNvSpPr>
          <p:nvPr/>
        </p:nvSpPr>
        <p:spPr>
          <a:xfrm xmlns:a="http://schemas.openxmlformats.org/drawingml/2006/main">
            <a:off x="6400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9" name="">
            <a:extLst xmlns:a="http://schemas.openxmlformats.org/drawingml/2006/main">
              <a:ext uri="{FF2B5EF4-FFF2-40B4-BE49-F238E27FC236}">
                <a16:creationId xmlns:a16="http://schemas.microsoft.com/office/drawing/2014/main" id="{BCAB8210-F6BD-45B7-B7C7-AB2286687996}"/>
              </a:ext>
            </a:extLst>
          </p:cNvPr>
          <p:cNvSpPr>
            <a:spLocks xmlns:a="http://schemas.openxmlformats.org/drawingml/2006/main" noGrp="1"/>
          </p:cNvSpPr>
          <p:nvPr/>
        </p:nvSpPr>
        <p:spPr>
          <a:xfrm xmlns:a="http://schemas.openxmlformats.org/drawingml/2006/main">
            <a:off x="7315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0" name="">
            <a:extLst xmlns:a="http://schemas.openxmlformats.org/drawingml/2006/main">
              <a:ext uri="{FF2B5EF4-FFF2-40B4-BE49-F238E27FC236}">
                <a16:creationId xmlns:a16="http://schemas.microsoft.com/office/drawing/2014/main" id="{F6E57ECE-B8A0-4E68-9928-62820B0B4450}"/>
              </a:ext>
            </a:extLst>
          </p:cNvPr>
          <p:cNvSpPr>
            <a:spLocks xmlns:a="http://schemas.openxmlformats.org/drawingml/2006/main" noGrp="1"/>
          </p:cNvSpPr>
          <p:nvPr/>
        </p:nvSpPr>
        <p:spPr>
          <a:xfrm xmlns:a="http://schemas.openxmlformats.org/drawingml/2006/main">
            <a:off x="82296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1" name="">
            <a:extLst xmlns:a="http://schemas.openxmlformats.org/drawingml/2006/main">
              <a:ext uri="{FF2B5EF4-FFF2-40B4-BE49-F238E27FC236}">
                <a16:creationId xmlns:a16="http://schemas.microsoft.com/office/drawing/2014/main" id="{61065359-C992-484A-80A6-21AA8A78B6D6}"/>
              </a:ext>
            </a:extLst>
          </p:cNvPr>
          <p:cNvSpPr>
            <a:spLocks xmlns:a="http://schemas.openxmlformats.org/drawingml/2006/main" noGrp="1"/>
          </p:cNvSpPr>
          <p:nvPr/>
        </p:nvSpPr>
        <p:spPr>
          <a:xfrm xmlns:a="http://schemas.openxmlformats.org/drawingml/2006/main">
            <a:off x="91440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2" name="">
            <a:extLst xmlns:a="http://schemas.openxmlformats.org/drawingml/2006/main">
              <a:ext uri="{FF2B5EF4-FFF2-40B4-BE49-F238E27FC236}">
                <a16:creationId xmlns:a16="http://schemas.microsoft.com/office/drawing/2014/main" id="{07D71705-1BD0-43C7-A1FC-F421247342A5}"/>
              </a:ext>
            </a:extLst>
          </p:cNvPr>
          <p:cNvSpPr>
            <a:spLocks xmlns:a="http://schemas.openxmlformats.org/drawingml/2006/main" noGrp="1"/>
          </p:cNvSpPr>
          <p:nvPr/>
        </p:nvSpPr>
        <p:spPr>
          <a:xfrm xmlns:a="http://schemas.openxmlformats.org/drawingml/2006/main">
            <a:off x="100584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3" name="">
            <a:extLst xmlns:a="http://schemas.openxmlformats.org/drawingml/2006/main">
              <a:ext uri="{FF2B5EF4-FFF2-40B4-BE49-F238E27FC236}">
                <a16:creationId xmlns:a16="http://schemas.microsoft.com/office/drawing/2014/main" id="{1CDF3568-77C8-4F85-900A-5DBED12EA95A}"/>
              </a:ext>
            </a:extLst>
          </p:cNvPr>
          <p:cNvSpPr>
            <a:spLocks xmlns:a="http://schemas.openxmlformats.org/drawingml/2006/main" noGrp="1"/>
          </p:cNvSpPr>
          <p:nvPr/>
        </p:nvSpPr>
        <p:spPr>
          <a:xfrm xmlns:a="http://schemas.openxmlformats.org/drawingml/2006/main">
            <a:off x="109728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4" name="">
            <a:extLst xmlns:a="http://schemas.openxmlformats.org/drawingml/2006/main">
              <a:ext uri="{FF2B5EF4-FFF2-40B4-BE49-F238E27FC236}">
                <a16:creationId xmlns:a16="http://schemas.microsoft.com/office/drawing/2014/main" id="{5807AE1A-106B-412E-9197-A5B094E62718}"/>
              </a:ext>
            </a:extLst>
          </p:cNvPr>
          <p:cNvSpPr>
            <a:spLocks xmlns:a="http://schemas.openxmlformats.org/drawingml/2006/main" noGrp="1"/>
          </p:cNvSpPr>
          <p:nvPr/>
        </p:nvSpPr>
        <p:spPr>
          <a:xfrm xmlns:a="http://schemas.openxmlformats.org/drawingml/2006/main">
            <a:off x="11887200" y="0"/>
            <a:ext cx="0" cy="685800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5" name="">
            <a:extLst xmlns:a="http://schemas.openxmlformats.org/drawingml/2006/main">
              <a:ext uri="{FF2B5EF4-FFF2-40B4-BE49-F238E27FC236}">
                <a16:creationId xmlns:a16="http://schemas.microsoft.com/office/drawing/2014/main" id="{62237AD1-D4E6-4351-8A6E-582A736F092D}"/>
              </a:ext>
            </a:extLst>
          </p:cNvPr>
          <p:cNvSpPr>
            <a:spLocks xmlns:a="http://schemas.openxmlformats.org/drawingml/2006/main" noGrp="1"/>
          </p:cNvSpPr>
          <p:nvPr/>
        </p:nvSpPr>
        <p:spPr>
          <a:xfrm xmlns:a="http://schemas.openxmlformats.org/drawingml/2006/main">
            <a:off x="0" y="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6" name="">
            <a:extLst xmlns:a="http://schemas.openxmlformats.org/drawingml/2006/main">
              <a:ext uri="{FF2B5EF4-FFF2-40B4-BE49-F238E27FC236}">
                <a16:creationId xmlns:a16="http://schemas.microsoft.com/office/drawing/2014/main" id="{74CCF6B5-6409-4F9D-B4E0-12B2E893C6B6}"/>
              </a:ext>
            </a:extLst>
          </p:cNvPr>
          <p:cNvSpPr>
            <a:spLocks xmlns:a="http://schemas.openxmlformats.org/drawingml/2006/main" noGrp="1"/>
          </p:cNvSpPr>
          <p:nvPr/>
        </p:nvSpPr>
        <p:spPr>
          <a:xfrm xmlns:a="http://schemas.openxmlformats.org/drawingml/2006/main">
            <a:off x="0" y="914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7" name="">
            <a:extLst xmlns:a="http://schemas.openxmlformats.org/drawingml/2006/main">
              <a:ext uri="{FF2B5EF4-FFF2-40B4-BE49-F238E27FC236}">
                <a16:creationId xmlns:a16="http://schemas.microsoft.com/office/drawing/2014/main" id="{BE2551CF-E888-43F2-9B93-BC8EB59C4CEA}"/>
              </a:ext>
            </a:extLst>
          </p:cNvPr>
          <p:cNvSpPr>
            <a:spLocks xmlns:a="http://schemas.openxmlformats.org/drawingml/2006/main" noGrp="1"/>
          </p:cNvSpPr>
          <p:nvPr/>
        </p:nvSpPr>
        <p:spPr>
          <a:xfrm xmlns:a="http://schemas.openxmlformats.org/drawingml/2006/main">
            <a:off x="0" y="1828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8" name="">
            <a:extLst xmlns:a="http://schemas.openxmlformats.org/drawingml/2006/main">
              <a:ext uri="{FF2B5EF4-FFF2-40B4-BE49-F238E27FC236}">
                <a16:creationId xmlns:a16="http://schemas.microsoft.com/office/drawing/2014/main" id="{F4331FA0-9896-4937-812A-F1A3853DDB6A}"/>
              </a:ext>
            </a:extLst>
          </p:cNvPr>
          <p:cNvSpPr>
            <a:spLocks xmlns:a="http://schemas.openxmlformats.org/drawingml/2006/main" noGrp="1"/>
          </p:cNvSpPr>
          <p:nvPr/>
        </p:nvSpPr>
        <p:spPr>
          <a:xfrm xmlns:a="http://schemas.openxmlformats.org/drawingml/2006/main">
            <a:off x="0" y="27432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19" name="">
            <a:extLst xmlns:a="http://schemas.openxmlformats.org/drawingml/2006/main">
              <a:ext uri="{FF2B5EF4-FFF2-40B4-BE49-F238E27FC236}">
                <a16:creationId xmlns:a16="http://schemas.microsoft.com/office/drawing/2014/main" id="{5F064069-FF95-4B0C-99E6-2E0561F41B42}"/>
              </a:ext>
            </a:extLst>
          </p:cNvPr>
          <p:cNvSpPr>
            <a:spLocks xmlns:a="http://schemas.openxmlformats.org/drawingml/2006/main" noGrp="1"/>
          </p:cNvSpPr>
          <p:nvPr/>
        </p:nvSpPr>
        <p:spPr>
          <a:xfrm xmlns:a="http://schemas.openxmlformats.org/drawingml/2006/main">
            <a:off x="0" y="36576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0" name="">
            <a:extLst xmlns:a="http://schemas.openxmlformats.org/drawingml/2006/main">
              <a:ext uri="{FF2B5EF4-FFF2-40B4-BE49-F238E27FC236}">
                <a16:creationId xmlns:a16="http://schemas.microsoft.com/office/drawing/2014/main" id="{F6AD4065-C4F3-42BF-B97D-5E7591DA2E82}"/>
              </a:ext>
            </a:extLst>
          </p:cNvPr>
          <p:cNvSpPr>
            <a:spLocks xmlns:a="http://schemas.openxmlformats.org/drawingml/2006/main" noGrp="1"/>
          </p:cNvSpPr>
          <p:nvPr/>
        </p:nvSpPr>
        <p:spPr>
          <a:xfrm xmlns:a="http://schemas.openxmlformats.org/drawingml/2006/main">
            <a:off x="0" y="45720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1" name="">
            <a:extLst xmlns:a="http://schemas.openxmlformats.org/drawingml/2006/main">
              <a:ext uri="{FF2B5EF4-FFF2-40B4-BE49-F238E27FC236}">
                <a16:creationId xmlns:a16="http://schemas.microsoft.com/office/drawing/2014/main" id="{BFA905FA-5F7F-4717-A5AB-F1B21CED55F2}"/>
              </a:ext>
            </a:extLst>
          </p:cNvPr>
          <p:cNvSpPr>
            <a:spLocks xmlns:a="http://schemas.openxmlformats.org/drawingml/2006/main" noGrp="1"/>
          </p:cNvSpPr>
          <p:nvPr/>
        </p:nvSpPr>
        <p:spPr>
          <a:xfrm xmlns:a="http://schemas.openxmlformats.org/drawingml/2006/main">
            <a:off x="0" y="54864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sp>
        <p:nvSpPr>
          <p:cNvPr id="22" name="">
            <a:extLst xmlns:a="http://schemas.openxmlformats.org/drawingml/2006/main">
              <a:ext uri="{FF2B5EF4-FFF2-40B4-BE49-F238E27FC236}">
                <a16:creationId xmlns:a16="http://schemas.microsoft.com/office/drawing/2014/main" id="{67115E08-CAAC-4BF8-8815-B4BEC5AC3682}"/>
              </a:ext>
            </a:extLst>
          </p:cNvPr>
          <p:cNvSpPr>
            <a:spLocks xmlns:a="http://schemas.openxmlformats.org/drawingml/2006/main" noGrp="1"/>
          </p:cNvSpPr>
          <p:nvPr/>
        </p:nvSpPr>
        <p:spPr>
          <a:xfrm xmlns:a="http://schemas.openxmlformats.org/drawingml/2006/main">
            <a:off x="0" y="6400800"/>
            <a:ext cx="12192000" cy="0"/>
          </a:xfrm>
          <a:prstGeom xmlns:a="http://schemas.openxmlformats.org/drawingml/2006/main" prst="line">
            <a:avLst/>
          </a:prstGeom>
          <a:noFill xmlns:a="http://schemas.openxmlformats.org/drawingml/2006/main"/>
          <a:ln xmlns:a="http://schemas.openxmlformats.org/drawingml/2006/main" w="4763">
            <a:solidFill>
              <a:srgbClr val="0D1817"/>
            </a:solidFill>
            <a:prstDash val="solid"/>
          </a:ln>
        </p:spPr>
      </p:sp>
      <p:pic>
        <p:nvPicPr>
          <p:cNvPr id="59" name=""/>
          <p:cNvPicPr>
            <a:picLocks xmlns:a="http://schemas.openxmlformats.org/drawingml/2006/main" noChangeAspect="1"/>
          </p:cNvPicPr>
          <p:nvPr/>
        </p:nvPicPr>
        <p:blipFill>
          <a:blip xmlns:r="http://schemas.openxmlformats.org/officeDocument/2006/relationships" xmlns:a="http://schemas.openxmlformats.org/drawingml/2006/main" r:embed="Re819dde410824971"/>
          <a:stretch xmlns:a="http://schemas.openxmlformats.org/drawingml/2006/main"/>
        </p:blipFill>
        <p:spPr>
          <a:xfrm xmlns:a="http://schemas.openxmlformats.org/drawingml/2006/main">
            <a:off x="704850" y="704850"/>
            <a:ext cx="1104900" cy="11049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1B836B6F-9B1B-4876-9EC4-E15F93FA99F9}"/>
              </a:ext>
            </a:extLst>
          </p:cNvPr>
          <p:cNvSpPr>
            <a:spLocks xmlns:a="http://schemas.openxmlformats.org/drawingml/2006/main" noGrp="1"/>
          </p:cNvSpPr>
          <p:nvPr/>
        </p:nvSpPr>
        <p:spPr>
          <a:xfrm xmlns:a="http://schemas.openxmlformats.org/drawingml/2006/main">
            <a:off x="2114550" y="7429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3150" b="1">
                <a:solidFill>
                  <a:srgbClr val="DCF3E5"/>
                </a:solidFill>
                <a:latin typeface="Arial"/>
                <a:ea typeface="Arial"/>
                <a:cs typeface="Arial"/>
              </a:defRPr>
            </a:pPr>
            <a:r>
              <a:rPr sz="3150" b="1">
                <a:solidFill>
                  <a:srgbClr val="DCF3E5"/>
                </a:solidFill>
                <a:latin typeface="Arial"/>
                <a:ea typeface="Arial"/>
                <a:cs typeface="Arial"/>
              </a:rPr>
              <a:t>One evidence layer for many agents</a:t>
            </a:r>
          </a:p>
        </p:txBody>
      </p:sp>
      <p:sp>
        <p:nvSpPr>
          <p:cNvPr id="25" name="">
            <a:extLst xmlns:a="http://schemas.openxmlformats.org/drawingml/2006/main">
              <a:ext uri="{FF2B5EF4-FFF2-40B4-BE49-F238E27FC236}">
                <a16:creationId xmlns:a16="http://schemas.microsoft.com/office/drawing/2014/main" id="{58699026-BAED-431C-83FD-7DA8375F3F06}"/>
              </a:ext>
            </a:extLst>
          </p:cNvPr>
          <p:cNvSpPr>
            <a:spLocks xmlns:a="http://schemas.openxmlformats.org/drawingml/2006/main" noGrp="1"/>
          </p:cNvSpPr>
          <p:nvPr/>
        </p:nvSpPr>
        <p:spPr>
          <a:xfrm xmlns:a="http://schemas.openxmlformats.org/drawingml/2006/main">
            <a:off x="2133600" y="1390650"/>
            <a:ext cx="857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650" b="1">
                <a:solidFill>
                  <a:srgbClr val="3DF59A"/>
                </a:solidFill>
                <a:latin typeface="Arial"/>
                <a:ea typeface="Arial"/>
                <a:cs typeface="Arial"/>
              </a:defRPr>
            </a:pPr>
            <a:r>
              <a:rPr sz="1650" b="1">
                <a:solidFill>
                  <a:srgbClr val="3DF59A"/>
                </a:solidFill>
                <a:latin typeface="Arial"/>
                <a:ea typeface="Arial"/>
                <a:cs typeface="Arial"/>
              </a:rPr>
              <a:t>AskChing would rather report a gap than invent a number.</a:t>
            </a:r>
          </a:p>
        </p:txBody>
      </p:sp>
      <p:sp>
        <p:nvSpPr>
          <p:cNvPr id="26" name="">
            <a:extLst xmlns:a="http://schemas.openxmlformats.org/drawingml/2006/main">
              <a:ext uri="{FF2B5EF4-FFF2-40B4-BE49-F238E27FC236}">
                <a16:creationId xmlns:a16="http://schemas.microsoft.com/office/drawing/2014/main" id="{47F8540E-F6A6-4E83-86E5-27B8E1927550}"/>
              </a:ext>
            </a:extLst>
          </p:cNvPr>
          <p:cNvSpPr>
            <a:spLocks xmlns:a="http://schemas.openxmlformats.org/drawingml/2006/main" noGrp="1"/>
          </p:cNvSpPr>
          <p:nvPr/>
        </p:nvSpPr>
        <p:spPr>
          <a:xfrm xmlns:a="http://schemas.openxmlformats.org/drawingml/2006/main">
            <a:off x="723900" y="2400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35D6FF"/>
                </a:solidFill>
                <a:latin typeface="Courier New"/>
                <a:ea typeface="Courier New"/>
                <a:cs typeface="Courier New"/>
              </a:defRPr>
            </a:pPr>
            <a:r>
              <a:rPr sz="1125" b="1">
                <a:solidFill>
                  <a:srgbClr val="35D6FF"/>
                </a:solidFill>
                <a:latin typeface="Courier New"/>
                <a:ea typeface="Courier New"/>
                <a:cs typeface="Courier New"/>
              </a:rPr>
              <a:t>REMOTE MCP</a:t>
            </a:r>
          </a:p>
        </p:txBody>
      </p:sp>
      <p:sp>
        <p:nvSpPr>
          <p:cNvPr id="27" name="">
            <a:extLst xmlns:a="http://schemas.openxmlformats.org/drawingml/2006/main">
              <a:ext uri="{FF2B5EF4-FFF2-40B4-BE49-F238E27FC236}">
                <a16:creationId xmlns:a16="http://schemas.microsoft.com/office/drawing/2014/main" id="{45C13FBE-8832-47E0-B4CB-28A2B34A5841}"/>
              </a:ext>
            </a:extLst>
          </p:cNvPr>
          <p:cNvSpPr>
            <a:spLocks xmlns:a="http://schemas.openxmlformats.org/drawingml/2006/main" noGrp="1"/>
          </p:cNvSpPr>
          <p:nvPr/>
        </p:nvSpPr>
        <p:spPr>
          <a:xfrm xmlns:a="http://schemas.openxmlformats.org/drawingml/2006/main">
            <a:off x="723900" y="2781300"/>
            <a:ext cx="10744200" cy="685800"/>
          </a:xfrm>
          <a:prstGeom xmlns:a="http://schemas.openxmlformats.org/drawingml/2006/main" prst="roundRect">
            <a:avLst>
              <a:gd name="adj" fmla="val 13889"/>
            </a:avLst>
          </a:prstGeom>
          <a:solidFill xmlns:a="http://schemas.openxmlformats.org/drawingml/2006/main">
            <a:srgbClr val="020304"/>
          </a:solidFill>
          <a:ln xmlns:a="http://schemas.openxmlformats.org/drawingml/2006/main" w="9525">
            <a:solidFill>
              <a:srgbClr val="3DF59A"/>
            </a:solidFill>
            <a:prstDash val="solid"/>
          </a:ln>
        </p:spPr>
      </p:sp>
      <p:sp>
        <p:nvSpPr>
          <p:cNvPr id="28" name="">
            <a:extLst xmlns:a="http://schemas.openxmlformats.org/drawingml/2006/main">
              <a:ext uri="{FF2B5EF4-FFF2-40B4-BE49-F238E27FC236}">
                <a16:creationId xmlns:a16="http://schemas.microsoft.com/office/drawing/2014/main" id="{6A94778E-FE06-4612-A693-06082FCB9AF3}"/>
              </a:ext>
            </a:extLst>
          </p:cNvPr>
          <p:cNvSpPr>
            <a:spLocks xmlns:a="http://schemas.openxmlformats.org/drawingml/2006/main" noGrp="1"/>
          </p:cNvSpPr>
          <p:nvPr/>
        </p:nvSpPr>
        <p:spPr>
          <a:xfrm xmlns:a="http://schemas.openxmlformats.org/drawingml/2006/main">
            <a:off x="990600" y="2971800"/>
            <a:ext cx="10210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5000"/>
              </a:lnSpc>
              <a:buNone/>
              <a:defRPr sz="1875" b="1">
                <a:solidFill>
                  <a:srgbClr val="3DF59A"/>
                </a:solidFill>
                <a:latin typeface="Courier New"/>
                <a:ea typeface="Courier New"/>
                <a:cs typeface="Courier New"/>
              </a:defRPr>
            </a:pPr>
            <a:r>
              <a:rPr sz="1875" b="1">
                <a:solidFill>
                  <a:srgbClr val="3DF59A"/>
                </a:solidFill>
                <a:latin typeface="Courier New"/>
                <a:ea typeface="Courier New"/>
                <a:cs typeface="Courier New"/>
              </a:rPr>
              <a:t>https://ask-ching-agent.vercel.app/api/mcp</a:t>
            </a:r>
          </a:p>
        </p:txBody>
      </p:sp>
      <p:sp>
        <p:nvSpPr>
          <p:cNvPr id="29" name="">
            <a:extLst xmlns:a="http://schemas.openxmlformats.org/drawingml/2006/main">
              <a:ext uri="{FF2B5EF4-FFF2-40B4-BE49-F238E27FC236}">
                <a16:creationId xmlns:a16="http://schemas.microsoft.com/office/drawing/2014/main" id="{6C08D40C-1962-4CB1-9536-4149881BF7F8}"/>
              </a:ext>
            </a:extLst>
          </p:cNvPr>
          <p:cNvSpPr>
            <a:spLocks xmlns:a="http://schemas.openxmlformats.org/drawingml/2006/main" noGrp="1"/>
          </p:cNvSpPr>
          <p:nvPr/>
        </p:nvSpPr>
        <p:spPr>
          <a:xfrm xmlns:a="http://schemas.openxmlformats.org/drawingml/2006/main">
            <a:off x="723900" y="3924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35D6FF"/>
                </a:solidFill>
                <a:latin typeface="Courier New"/>
                <a:ea typeface="Courier New"/>
                <a:cs typeface="Courier New"/>
              </a:defRPr>
            </a:pPr>
            <a:r>
              <a:rPr sz="1125" b="1">
                <a:solidFill>
                  <a:srgbClr val="35D6FF"/>
                </a:solidFill>
                <a:latin typeface="Courier New"/>
                <a:ea typeface="Courier New"/>
                <a:cs typeface="Courier New"/>
              </a:rPr>
              <a:t>COMPATIBLE CLIENTS</a:t>
            </a:r>
          </a:p>
        </p:txBody>
      </p:sp>
      <p:sp>
        <p:nvSpPr>
          <p:cNvPr id="30" name="">
            <a:extLst xmlns:a="http://schemas.openxmlformats.org/drawingml/2006/main">
              <a:ext uri="{FF2B5EF4-FFF2-40B4-BE49-F238E27FC236}">
                <a16:creationId xmlns:a16="http://schemas.microsoft.com/office/drawing/2014/main" id="{2F807BCA-6BD4-45E7-AAB6-A9759F93D5EA}"/>
              </a:ext>
            </a:extLst>
          </p:cNvPr>
          <p:cNvSpPr>
            <a:spLocks xmlns:a="http://schemas.openxmlformats.org/drawingml/2006/main" noGrp="1"/>
          </p:cNvSpPr>
          <p:nvPr/>
        </p:nvSpPr>
        <p:spPr>
          <a:xfrm xmlns:a="http://schemas.openxmlformats.org/drawingml/2006/main">
            <a:off x="723900" y="430530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5000"/>
              </a:lnSpc>
              <a:buNone/>
              <a:defRPr sz="1725" b="0">
                <a:solidFill>
                  <a:srgbClr val="DCF3E5"/>
                </a:solidFill>
                <a:latin typeface="Courier New"/>
                <a:ea typeface="Courier New"/>
                <a:cs typeface="Courier New"/>
              </a:defRPr>
            </a:pPr>
            <a:r>
              <a:rPr sz="1725" b="0">
                <a:solidFill>
                  <a:srgbClr val="DCF3E5"/>
                </a:solidFill>
                <a:latin typeface="Courier New"/>
                <a:ea typeface="Courier New"/>
                <a:cs typeface="Courier New"/>
              </a:rPr>
              <a:t>Claude   Cursor   VS Code   Codex   Gemini   ChatGPT</a:t>
            </a:r>
          </a:p>
        </p:txBody>
      </p:sp>
      <p:sp>
        <p:nvSpPr>
          <p:cNvPr id="31" name="">
            <a:extLst xmlns:a="http://schemas.openxmlformats.org/drawingml/2006/main">
              <a:ext uri="{FF2B5EF4-FFF2-40B4-BE49-F238E27FC236}">
                <a16:creationId xmlns:a16="http://schemas.microsoft.com/office/drawing/2014/main" id="{D9044E18-AADA-4253-A980-940D5D016644}"/>
              </a:ext>
            </a:extLst>
          </p:cNvPr>
          <p:cNvSpPr>
            <a:spLocks xmlns:a="http://schemas.openxmlformats.org/drawingml/2006/main" noGrp="1"/>
          </p:cNvSpPr>
          <p:nvPr/>
        </p:nvSpPr>
        <p:spPr>
          <a:xfrm xmlns:a="http://schemas.openxmlformats.org/drawingml/2006/main">
            <a:off x="723900" y="506730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25" b="1">
                <a:solidFill>
                  <a:srgbClr val="35D6FF"/>
                </a:solidFill>
                <a:latin typeface="Courier New"/>
                <a:ea typeface="Courier New"/>
                <a:cs typeface="Courier New"/>
              </a:defRPr>
            </a:pPr>
            <a:r>
              <a:rPr sz="1125" b="1">
                <a:solidFill>
                  <a:srgbClr val="35D6FF"/>
                </a:solidFill>
                <a:latin typeface="Courier New"/>
                <a:ea typeface="Courier New"/>
                <a:cs typeface="Courier New"/>
              </a:rPr>
              <a:t>PUBLIC CODE</a:t>
            </a:r>
          </a:p>
        </p:txBody>
      </p:sp>
      <p:sp>
        <p:nvSpPr>
          <p:cNvPr id="32" name="">
            <a:extLst xmlns:a="http://schemas.openxmlformats.org/drawingml/2006/main">
              <a:ext uri="{FF2B5EF4-FFF2-40B4-BE49-F238E27FC236}">
                <a16:creationId xmlns:a16="http://schemas.microsoft.com/office/drawing/2014/main" id="{6425D4A8-B07A-4968-8E13-94E17809EAAB}"/>
              </a:ext>
            </a:extLst>
          </p:cNvPr>
          <p:cNvSpPr>
            <a:spLocks xmlns:a="http://schemas.openxmlformats.org/drawingml/2006/main" noGrp="1"/>
          </p:cNvSpPr>
          <p:nvPr/>
        </p:nvSpPr>
        <p:spPr>
          <a:xfrm xmlns:a="http://schemas.openxmlformats.org/drawingml/2006/main">
            <a:off x="723900" y="5448300"/>
            <a:ext cx="762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725" b="0">
                <a:solidFill>
                  <a:srgbClr val="8AA79A"/>
                </a:solidFill>
                <a:latin typeface="Courier New"/>
                <a:ea typeface="Courier New"/>
                <a:cs typeface="Courier New"/>
              </a:defRPr>
            </a:pPr>
            <a:r>
              <a:rPr sz="1725" b="0">
                <a:solidFill>
                  <a:srgbClr val="8AA79A"/>
                </a:solidFill>
                <a:latin typeface="Courier New"/>
                <a:ea typeface="Courier New"/>
                <a:cs typeface="Courier New"/>
              </a:rPr>
              <a:t>github.com/Chonwai/AskChing_Agent</a:t>
            </a:r>
          </a:p>
        </p:txBody>
      </p:sp>
      <p:sp>
        <p:nvSpPr>
          <p:cNvPr id="33" name="">
            <a:extLst xmlns:a="http://schemas.openxmlformats.org/drawingml/2006/main">
              <a:ext uri="{FF2B5EF4-FFF2-40B4-BE49-F238E27FC236}">
                <a16:creationId xmlns:a16="http://schemas.microsoft.com/office/drawing/2014/main" id="{5DEF36D2-BCEF-4674-8850-8A5BA791D541}"/>
              </a:ext>
            </a:extLst>
          </p:cNvPr>
          <p:cNvSpPr>
            <a:spLocks xmlns:a="http://schemas.openxmlformats.org/drawingml/2006/main" noGrp="1"/>
          </p:cNvSpPr>
          <p:nvPr/>
        </p:nvSpPr>
        <p:spPr>
          <a:xfrm xmlns:a="http://schemas.openxmlformats.org/drawingml/2006/main">
            <a:off x="8229600" y="5486400"/>
            <a:ext cx="3238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900" b="1">
                <a:solidFill>
                  <a:srgbClr val="FF5AA0"/>
                </a:solidFill>
                <a:latin typeface="Courier New"/>
                <a:ea typeface="Courier New"/>
                <a:cs typeface="Courier New"/>
              </a:defRPr>
            </a:pPr>
            <a:r>
              <a:rPr sz="900" b="1">
                <a:solidFill>
                  <a:srgbClr val="FF5AA0"/>
                </a:solidFill>
                <a:latin typeface="Courier New"/>
                <a:ea typeface="Courier New"/>
                <a:cs typeface="Courier New"/>
              </a:rPr>
              <a:t>GROK CLI · FEATURED ORCHESTRATION DEMO</a:t>
            </a:r>
          </a:p>
        </p:txBody>
      </p:sp>
      <p:sp>
        <p:nvSpPr>
          <p:cNvPr id="34" name="">
            <a:extLst xmlns:a="http://schemas.openxmlformats.org/drawingml/2006/main">
              <a:ext uri="{FF2B5EF4-FFF2-40B4-BE49-F238E27FC236}">
                <a16:creationId xmlns:a16="http://schemas.microsoft.com/office/drawing/2014/main" id="{521EFB64-DAC0-4FFF-870F-6FBECE77BEF8}"/>
              </a:ext>
            </a:extLst>
          </p:cNvPr>
          <p:cNvSpPr>
            <a:spLocks xmlns:a="http://schemas.openxmlformats.org/drawingml/2006/main" noGrp="1"/>
          </p:cNvSpPr>
          <p:nvPr/>
        </p:nvSpPr>
        <p:spPr>
          <a:xfrm xmlns:a="http://schemas.openxmlformats.org/drawingml/2006/main">
            <a:off x="609600" y="6438900"/>
            <a:ext cx="10972800" cy="0"/>
          </a:xfrm>
          <a:prstGeom xmlns:a="http://schemas.openxmlformats.org/drawingml/2006/main" prst="line">
            <a:avLst/>
          </a:prstGeom>
          <a:noFill xmlns:a="http://schemas.openxmlformats.org/drawingml/2006/main"/>
          <a:ln xmlns:a="http://schemas.openxmlformats.org/drawingml/2006/main" w="9525">
            <a:solidFill>
              <a:srgbClr val="1D2B24"/>
            </a:solidFill>
            <a:prstDash val="solid"/>
          </a:ln>
        </p:spPr>
      </p:sp>
      <p:sp>
        <p:nvSpPr>
          <p:cNvPr id="35" name="">
            <a:extLst xmlns:a="http://schemas.openxmlformats.org/drawingml/2006/main">
              <a:ext uri="{FF2B5EF4-FFF2-40B4-BE49-F238E27FC236}">
                <a16:creationId xmlns:a16="http://schemas.microsoft.com/office/drawing/2014/main" id="{6A98443A-5F5D-4E6F-8676-C35ABCA1A8FF}"/>
              </a:ext>
            </a:extLst>
          </p:cNvPr>
          <p:cNvSpPr>
            <a:spLocks xmlns:a="http://schemas.openxmlformats.org/drawingml/2006/main" noGrp="1"/>
          </p:cNvSpPr>
          <p:nvPr/>
        </p:nvSpPr>
        <p:spPr>
          <a:xfrm xmlns:a="http://schemas.openxmlformats.org/drawingml/2006/main">
            <a:off x="609600" y="65341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750" b="0">
                <a:solidFill>
                  <a:srgbClr val="5C7368"/>
                </a:solidFill>
                <a:latin typeface="Courier New"/>
                <a:ea typeface="Courier New"/>
                <a:cs typeface="Courier New"/>
              </a:defRPr>
            </a:pPr>
            <a:r>
              <a:rPr sz="750" b="0">
                <a:solidFill>
                  <a:srgbClr val="5C7368"/>
                </a:solidFill>
                <a:latin typeface="Courier New"/>
                <a:ea typeface="Courier New"/>
                <a:cs typeface="Courier New"/>
              </a:rPr>
              <a:t>ASKCHING · ETHONLINE 2026</a:t>
            </a:r>
          </a:p>
        </p:txBody>
      </p:sp>
      <p:sp>
        <p:nvSpPr>
          <p:cNvPr id="36" name="">
            <a:extLst xmlns:a="http://schemas.openxmlformats.org/drawingml/2006/main">
              <a:ext uri="{FF2B5EF4-FFF2-40B4-BE49-F238E27FC236}">
                <a16:creationId xmlns:a16="http://schemas.microsoft.com/office/drawing/2014/main" id="{F1092600-AF45-46E2-92FC-E864FA46EBA3}"/>
              </a:ext>
            </a:extLst>
          </p:cNvPr>
          <p:cNvSpPr>
            <a:spLocks xmlns:a="http://schemas.openxmlformats.org/drawingml/2006/main" noGrp="1"/>
          </p:cNvSpPr>
          <p:nvPr/>
        </p:nvSpPr>
        <p:spPr>
          <a:xfrm xmlns:a="http://schemas.openxmlformats.org/drawingml/2006/main">
            <a:off x="11049000" y="653415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5000"/>
              </a:lnSpc>
              <a:buNone/>
              <a:defRPr sz="750" b="0">
                <a:solidFill>
                  <a:srgbClr val="35D6FF"/>
                </a:solidFill>
                <a:latin typeface="Courier New"/>
                <a:ea typeface="Courier New"/>
                <a:cs typeface="Courier New"/>
              </a:defRPr>
            </a:pPr>
            <a:r>
              <a:rPr sz="750" b="0">
                <a:solidFill>
                  <a:srgbClr val="35D6FF"/>
                </a:solidFill>
                <a:latin typeface="Courier New"/>
                <a:ea typeface="Courier New"/>
                <a:cs typeface="Courier New"/>
              </a:rPr>
              <a:t>07</a:t>
            </a:r>
          </a:p>
        </p:txBody>
      </p:sp>
    </p:spTree>
    <p:extLst>
      <p:ext uri="{BB962C8B-B14F-4D97-AF65-F5344CB8AC3E}">
        <p14:creationId xmlns:p14="http://schemas.microsoft.com/office/powerpoint/2010/main" val="906736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2026-09-13T09:44:55.9400000Z</dcterms:created>
  <dcterms:modified xsi:type="dcterms:W3CDTF">2026-09-13T09:44:55.9400000Z</dcterms:modified>
</coreProperties>
</file>