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47ab856773493f" /><Relationship Type="http://schemas.openxmlformats.org/officeDocument/2006/relationships/extended-properties" Target="/docProps/app.xml" Id="R0a38c15ecacc4f79" /><Relationship Type="http://schemas.openxmlformats.org/officeDocument/2006/relationships/officeDocument" Target="/ppt/presentation.xml" Id="Rba30ecdf351b4c48" /></Relationships>
</file>

<file path=ppt/presentation.xml><?xml version="1.0" encoding="utf-8"?>
<p:presentation xmlns:p="http://schemas.openxmlformats.org/presentationml/2006/main">
  <p:sldMasterIdLst>
    <p:sldMasterId xmlns:r="http://schemas.openxmlformats.org/officeDocument/2006/relationships" id="2147483648" r:id="R5b4620a6a47342e8"/>
  </p:sldMasterIdLst>
  <p:notesMasterIdLst>
    <p:notesMasterId xmlns:r="http://schemas.openxmlformats.org/officeDocument/2006/relationships" r:id="R55df46cde9ce429a"/>
  </p:notesMasterIdLst>
  <p:sldIdLst>
    <p:sldId xmlns:r="http://schemas.openxmlformats.org/officeDocument/2006/relationships" id="256" r:id="R40972736163246b1"/>
    <p:sldId xmlns:r="http://schemas.openxmlformats.org/officeDocument/2006/relationships" id="257" r:id="Rb224b97da6a24438"/>
    <p:sldId xmlns:r="http://schemas.openxmlformats.org/officeDocument/2006/relationships" id="258" r:id="Rd8abc81cb853470d"/>
    <p:sldId xmlns:r="http://schemas.openxmlformats.org/officeDocument/2006/relationships" id="259" r:id="R41948cdc776c4a69"/>
    <p:sldId xmlns:r="http://schemas.openxmlformats.org/officeDocument/2006/relationships" id="260" r:id="R06a4a0d7d38942ae"/>
    <p:sldId xmlns:r="http://schemas.openxmlformats.org/officeDocument/2006/relationships" id="261" r:id="Rc918137e3c6c4375"/>
    <p:sldId xmlns:r="http://schemas.openxmlformats.org/officeDocument/2006/relationships" id="262" r:id="Ref22a2b0632746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d6588ae4dd4e0f" /><Relationship Type="http://schemas.openxmlformats.org/officeDocument/2006/relationships/slideMaster" Target="/ppt/slideMasters/slideMaster1.xml" Id="R5b4620a6a47342e8" /><Relationship Type="http://schemas.openxmlformats.org/officeDocument/2006/relationships/notesMaster" Target="/ppt/notesMasters/notesMaster1.xml" Id="R55df46cde9ce429a" /><Relationship Type="http://schemas.openxmlformats.org/officeDocument/2006/relationships/presProps" Target="/ppt/presProps.xml" Id="Rb860e21703da4941" /><Relationship Type="http://schemas.openxmlformats.org/officeDocument/2006/relationships/tableStyles" Target="/ppt/tableStyles.xml" Id="R6446773a296744ba" /><Relationship Type="http://schemas.openxmlformats.org/officeDocument/2006/relationships/slide" Target="/ppt/slides/slide1.xml" Id="R40972736163246b1" /><Relationship Type="http://schemas.openxmlformats.org/officeDocument/2006/relationships/slide" Target="/ppt/slides/slide2.xml" Id="Rb224b97da6a24438" /><Relationship Type="http://schemas.openxmlformats.org/officeDocument/2006/relationships/slide" Target="/ppt/slides/slide3.xml" Id="Rd8abc81cb853470d" /><Relationship Type="http://schemas.openxmlformats.org/officeDocument/2006/relationships/slide" Target="/ppt/slides/slide4.xml" Id="R41948cdc776c4a69" /><Relationship Type="http://schemas.openxmlformats.org/officeDocument/2006/relationships/slide" Target="/ppt/slides/slide5.xml" Id="R06a4a0d7d38942ae" /><Relationship Type="http://schemas.openxmlformats.org/officeDocument/2006/relationships/slide" Target="/ppt/slides/slide6.xml" Id="Rc918137e3c6c4375" /><Relationship Type="http://schemas.openxmlformats.org/officeDocument/2006/relationships/slide" Target="/ppt/slides/slide7.xml" Id="Ref22a2b0632746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bb63f3425041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a0692c1adf47c8" /><Relationship Type="http://schemas.openxmlformats.org/officeDocument/2006/relationships/notesMaster" Target="/ppt/notesMasters/notesMaster1.xml" Id="R16283b95767f40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0b98c311f645b8" /><Relationship Type="http://schemas.openxmlformats.org/officeDocument/2006/relationships/notesMaster" Target="/ppt/notesMasters/notesMaster1.xml" Id="R1a0c89ac457c4a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4a6344425e419d" /><Relationship Type="http://schemas.openxmlformats.org/officeDocument/2006/relationships/notesMaster" Target="/ppt/notesMasters/notesMaster1.xml" Id="Rbf7639b843f947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8fc945ee1a4f7d" /><Relationship Type="http://schemas.openxmlformats.org/officeDocument/2006/relationships/notesMaster" Target="/ppt/notesMasters/notesMaster1.xml" Id="Re0a94ca1bf524d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deb86765754831" /><Relationship Type="http://schemas.openxmlformats.org/officeDocument/2006/relationships/notesMaster" Target="/ppt/notesMasters/notesMaster1.xml" Id="R001f4d531d6442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47bf416830474a" /><Relationship Type="http://schemas.openxmlformats.org/officeDocument/2006/relationships/notesMaster" Target="/ppt/notesMasters/notesMaster1.xml" Id="Rcb3bff4a32744c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bd0eb1bb4641a5" /><Relationship Type="http://schemas.openxmlformats.org/officeDocument/2006/relationships/notesMaster" Target="/ppt/notesMasters/notesMaster1.xml" Id="R64b848109d6f41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AskChing turns a natural-language DeFi question into a cited answer across multiple live subgraphs. The promise is simple: one question, multiple live sources, and every number carries its evidence. AskChing is research software built for ETHOnline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[0:15–0:35] Ask an AI which lending market has the best USDC rate and it may give you one confident number. But without the protocol, block, definition, or observation time, that number is difficult to trust. AskChing attaches the evidence to each figure: its subgraph, block, timestamp, and query hash.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[0:35–0:55] AskChing is a model-independent MCP server. Any compatible client can call the same seven tools. For our featured CLI demo, Grok interprets the question, selects a tool, and explains the cited result. AskChing then fans out through The Graph Gateway to four lending and two DEX subgraphs on Ethereum mainnet.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[0:55–1:45] Here is the live question. Compare USDC supply APY across Aave V3, Compound V3, and Spark Lend, rank the result, and cite every source. [SWITCH TO LIVE APP.] Show the selected tool and the three-source fan-out. Then point to the ranking, the as-of time, and one citation with its subgraph ID, block, and query hash. [RETURN TO SLIDES. Source: live AskChing MCP endpoint.]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[1:45–2:15] The trust rule is enforced in code. A quantitative comparison needs at least two independently cited sources. If only one survives, AskChing returns no comparison. Missing historical coverage also becomes an explicit gap, so a current snapshot never masquerades as a seven-day trend. This behavior matters more than producing an answer at any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[2:15–2:45] The project now exposes seven MCP tools. It can compare current markets, create research briefs, scan peer-relative risk, explain calculations, and analyze cited daily history over seven or thirty days. Yield discovery covers lending, Uniswap V3, and Curve while keeping current lending APY separate from historical LP fee APR because they describe different products and risks.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[2:45–3:15] AskChing exposes one remote MCP endpoint that compatible agents can call directly. Our Grok CLI demonstrates the orchestration path, but the research layer stays model-independent. The Graph supplies the live, verifiable market history, and AskChing adds normalization, evidence gates, and transparent analysis. The code is public. AskChing would rather report a gap than invent a number.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12bd7537c243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26485a91f54c68" /><Relationship Type="http://schemas.openxmlformats.org/officeDocument/2006/relationships/slideLayout" Target="/ppt/slideLayouts/slideLayout1.xml" Id="R829cdfb2c8e944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9cdfb2c8e944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005a61db264baf" /><Relationship Type="http://schemas.openxmlformats.org/officeDocument/2006/relationships/image" Target="/ppt/media/image.png" Id="Re0cc3ee5b2e54b29" /><Relationship Type="http://schemas.openxmlformats.org/officeDocument/2006/relationships/notesSlide" Target="/ppt/notesSlides/notesSlide1.xml" Id="R4586859dd60048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85b154862b42db" /><Relationship Type="http://schemas.openxmlformats.org/officeDocument/2006/relationships/notesSlide" Target="/ppt/notesSlides/notesSlide2.xml" Id="R6d877f4ad7af4a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4958b6fb1b4f51" /><Relationship Type="http://schemas.openxmlformats.org/officeDocument/2006/relationships/image" Target="/ppt/media/image2.png" Id="R1b65f7282e254dbb" /><Relationship Type="http://schemas.openxmlformats.org/officeDocument/2006/relationships/notesSlide" Target="/ppt/notesSlides/notesSlide3.xml" Id="R3107297bae8445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169bd291d7497d" /><Relationship Type="http://schemas.openxmlformats.org/officeDocument/2006/relationships/notesSlide" Target="/ppt/notesSlides/notesSlide4.xml" Id="R77a65bf2c66847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2c52869c9e48dc" /><Relationship Type="http://schemas.openxmlformats.org/officeDocument/2006/relationships/image" Target="/ppt/media/image.jpeg" Id="R7ad163bb9f034e35" /><Relationship Type="http://schemas.openxmlformats.org/officeDocument/2006/relationships/notesSlide" Target="/ppt/notesSlides/notesSlide5.xml" Id="Re2d1335521cc42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21cf55b33f419b" /><Relationship Type="http://schemas.openxmlformats.org/officeDocument/2006/relationships/image" Target="/ppt/media/image2.jpeg" Id="R16fa079207a9474f" /><Relationship Type="http://schemas.openxmlformats.org/officeDocument/2006/relationships/notesSlide" Target="/ppt/notesSlides/notesSlide6.xml" Id="Re307793510f441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3dfa9b90e54c6a" /><Relationship Type="http://schemas.openxmlformats.org/officeDocument/2006/relationships/image" Target="/ppt/media/image3.png" Id="Rdda62b83a1ff4296" /><Relationship Type="http://schemas.openxmlformats.org/officeDocument/2006/relationships/notesSlide" Target="/ppt/notesSlides/notesSlide7.xml" Id="Rdbfe4b9d71ec4aec" /></Relationships>
</file>

<file path=ppt/slides/slide1.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e0cc3ee5b2e54b2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541F56-A1EE-4FAA-9D2B-2BA103C5EDFB}"/>
              </a:ext>
            </a:extLst>
          </p:cNvPr>
          <p:cNvSpPr>
            <a:spLocks xmlns:a="http://schemas.openxmlformats.org/drawingml/2006/main" noGrp="1"/>
          </p:cNvSpPr>
          <p:nvPr/>
        </p:nvSpPr>
        <p:spPr>
          <a:xfrm xmlns:a="http://schemas.openxmlformats.org/drawingml/2006/main">
            <a:off x="495300" y="6057900"/>
            <a:ext cx="11201400" cy="457200"/>
          </a:xfrm>
          <a:prstGeom xmlns:a="http://schemas.openxmlformats.org/drawingml/2006/main" prst="roundRect">
            <a:avLst>
              <a:gd name="adj" fmla="val 16667"/>
            </a:avLst>
          </a:prstGeom>
          <a:solidFill xmlns:a="http://schemas.openxmlformats.org/drawingml/2006/main">
            <a:srgbClr val="020304"/>
          </a:solidFill>
          <a:ln xmlns:a="http://schemas.openxmlformats.org/drawingml/2006/main" w="9525">
            <a:solidFill>
              <a:srgbClr val="1D2B24"/>
            </a:solidFill>
            <a:prstDash val="solid"/>
          </a:ln>
        </p:spPr>
      </p:sp>
      <p:sp>
        <p:nvSpPr>
          <p:cNvPr id="3" name="">
            <a:extLst xmlns:a="http://schemas.openxmlformats.org/drawingml/2006/main">
              <a:ext uri="{FF2B5EF4-FFF2-40B4-BE49-F238E27FC236}">
                <a16:creationId xmlns:a16="http://schemas.microsoft.com/office/drawing/2014/main" id="{B2142E83-4BB7-4A04-BE57-BF317506D7D0}"/>
              </a:ext>
            </a:extLst>
          </p:cNvPr>
          <p:cNvSpPr>
            <a:spLocks xmlns:a="http://schemas.openxmlformats.org/drawingml/2006/main" noGrp="1"/>
          </p:cNvSpPr>
          <p:nvPr/>
        </p:nvSpPr>
        <p:spPr>
          <a:xfrm xmlns:a="http://schemas.openxmlformats.org/drawingml/2006/main">
            <a:off x="723900" y="61722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3DF59A"/>
                </a:solidFill>
                <a:latin typeface="Courier New"/>
                <a:ea typeface="Courier New"/>
                <a:cs typeface="Courier New"/>
              </a:defRPr>
            </a:pPr>
            <a:r>
              <a:rPr sz="1275" b="1">
                <a:solidFill>
                  <a:srgbClr val="3DF59A"/>
                </a:solidFill>
                <a:latin typeface="Courier New"/>
                <a:ea typeface="Courier New"/>
                <a:cs typeface="Courier New"/>
              </a:rPr>
              <a:t>ONE QUESTION · MULTIPLE LIVE SUBGRAPHS · EVERY NUMBER CITED</a:t>
            </a:r>
          </a:p>
        </p:txBody>
      </p:sp>
    </p:spTree>
    <p:extLst>
      <p:ext uri="{BB962C8B-B14F-4D97-AF65-F5344CB8AC3E}">
        <p14:creationId xmlns:p14="http://schemas.microsoft.com/office/powerpoint/2010/main" val="406064328"/>
      </p:ext>
    </p:extLst>
  </p:cSld>
</p:sld>
</file>

<file path=ppt/slides/slide2.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75401930-781B-449A-8594-BF155D1BC9ED}"/>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 name="">
            <a:extLst xmlns:a="http://schemas.openxmlformats.org/drawingml/2006/main">
              <a:ext uri="{FF2B5EF4-FFF2-40B4-BE49-F238E27FC236}">
                <a16:creationId xmlns:a16="http://schemas.microsoft.com/office/drawing/2014/main" id="{733C329F-7FEA-4CB2-887D-0DEBFFCFF009}"/>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3" name="">
            <a:extLst xmlns:a="http://schemas.openxmlformats.org/drawingml/2006/main">
              <a:ext uri="{FF2B5EF4-FFF2-40B4-BE49-F238E27FC236}">
                <a16:creationId xmlns:a16="http://schemas.microsoft.com/office/drawing/2014/main" id="{654626A8-11CD-4865-A64D-15DC3347A503}"/>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4" name="">
            <a:extLst xmlns:a="http://schemas.openxmlformats.org/drawingml/2006/main">
              <a:ext uri="{FF2B5EF4-FFF2-40B4-BE49-F238E27FC236}">
                <a16:creationId xmlns:a16="http://schemas.microsoft.com/office/drawing/2014/main" id="{84D43C4C-A60D-48F4-B7F6-1B361A00399B}"/>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5" name="">
            <a:extLst xmlns:a="http://schemas.openxmlformats.org/drawingml/2006/main">
              <a:ext uri="{FF2B5EF4-FFF2-40B4-BE49-F238E27FC236}">
                <a16:creationId xmlns:a16="http://schemas.microsoft.com/office/drawing/2014/main" id="{8FF44C22-4920-4201-A705-684C753FB3CC}"/>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6" name="">
            <a:extLst xmlns:a="http://schemas.openxmlformats.org/drawingml/2006/main">
              <a:ext uri="{FF2B5EF4-FFF2-40B4-BE49-F238E27FC236}">
                <a16:creationId xmlns:a16="http://schemas.microsoft.com/office/drawing/2014/main" id="{DCA4696B-9D2F-4B1A-B143-E8215A94D978}"/>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7" name="">
            <a:extLst xmlns:a="http://schemas.openxmlformats.org/drawingml/2006/main">
              <a:ext uri="{FF2B5EF4-FFF2-40B4-BE49-F238E27FC236}">
                <a16:creationId xmlns:a16="http://schemas.microsoft.com/office/drawing/2014/main" id="{7DB4A03E-CBA0-4151-8647-5F476299B992}"/>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8" name="">
            <a:extLst xmlns:a="http://schemas.openxmlformats.org/drawingml/2006/main">
              <a:ext uri="{FF2B5EF4-FFF2-40B4-BE49-F238E27FC236}">
                <a16:creationId xmlns:a16="http://schemas.microsoft.com/office/drawing/2014/main" id="{4282CDBF-B18B-47DC-86ED-C4CA99C0C39A}"/>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9" name="">
            <a:extLst xmlns:a="http://schemas.openxmlformats.org/drawingml/2006/main">
              <a:ext uri="{FF2B5EF4-FFF2-40B4-BE49-F238E27FC236}">
                <a16:creationId xmlns:a16="http://schemas.microsoft.com/office/drawing/2014/main" id="{52CDCB16-B852-4185-B1CC-879594D2C6B3}"/>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0" name="">
            <a:extLst xmlns:a="http://schemas.openxmlformats.org/drawingml/2006/main">
              <a:ext uri="{FF2B5EF4-FFF2-40B4-BE49-F238E27FC236}">
                <a16:creationId xmlns:a16="http://schemas.microsoft.com/office/drawing/2014/main" id="{DC81067E-275B-45DC-B032-FDADF53E1939}"/>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1" name="">
            <a:extLst xmlns:a="http://schemas.openxmlformats.org/drawingml/2006/main">
              <a:ext uri="{FF2B5EF4-FFF2-40B4-BE49-F238E27FC236}">
                <a16:creationId xmlns:a16="http://schemas.microsoft.com/office/drawing/2014/main" id="{90AC08F7-7282-4967-9CA2-DF78298C456E}"/>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2" name="">
            <a:extLst xmlns:a="http://schemas.openxmlformats.org/drawingml/2006/main">
              <a:ext uri="{FF2B5EF4-FFF2-40B4-BE49-F238E27FC236}">
                <a16:creationId xmlns:a16="http://schemas.microsoft.com/office/drawing/2014/main" id="{EAEF1F78-8C31-4792-B1AF-C4702CE183D9}"/>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3" name="">
            <a:extLst xmlns:a="http://schemas.openxmlformats.org/drawingml/2006/main">
              <a:ext uri="{FF2B5EF4-FFF2-40B4-BE49-F238E27FC236}">
                <a16:creationId xmlns:a16="http://schemas.microsoft.com/office/drawing/2014/main" id="{81AA80D7-70A6-4B8D-BC09-2F524F16EE91}"/>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4" name="">
            <a:extLst xmlns:a="http://schemas.openxmlformats.org/drawingml/2006/main">
              <a:ext uri="{FF2B5EF4-FFF2-40B4-BE49-F238E27FC236}">
                <a16:creationId xmlns:a16="http://schemas.microsoft.com/office/drawing/2014/main" id="{3490313C-1E46-4D93-8767-CDF914140619}"/>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5" name="">
            <a:extLst xmlns:a="http://schemas.openxmlformats.org/drawingml/2006/main">
              <a:ext uri="{FF2B5EF4-FFF2-40B4-BE49-F238E27FC236}">
                <a16:creationId xmlns:a16="http://schemas.microsoft.com/office/drawing/2014/main" id="{D8E23E0B-0419-4ED0-90B6-2D38B7519505}"/>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6" name="">
            <a:extLst xmlns:a="http://schemas.openxmlformats.org/drawingml/2006/main">
              <a:ext uri="{FF2B5EF4-FFF2-40B4-BE49-F238E27FC236}">
                <a16:creationId xmlns:a16="http://schemas.microsoft.com/office/drawing/2014/main" id="{748C8204-3A26-459E-B015-AC7B74008070}"/>
              </a:ext>
            </a:extLst>
          </p:cNvPr>
          <p:cNvSpPr>
            <a:spLocks xmlns:a="http://schemas.openxmlformats.org/drawingml/2006/main" noGrp="1"/>
          </p:cNvSpPr>
          <p:nvPr/>
        </p:nvSpPr>
        <p:spPr>
          <a:xfrm xmlns:a="http://schemas.openxmlformats.org/drawingml/2006/main">
            <a:off x="0" y="914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7" name="">
            <a:extLst xmlns:a="http://schemas.openxmlformats.org/drawingml/2006/main">
              <a:ext uri="{FF2B5EF4-FFF2-40B4-BE49-F238E27FC236}">
                <a16:creationId xmlns:a16="http://schemas.microsoft.com/office/drawing/2014/main" id="{FE1F7024-D4B6-4F06-8EBC-34E3689C76B9}"/>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8" name="">
            <a:extLst xmlns:a="http://schemas.openxmlformats.org/drawingml/2006/main">
              <a:ext uri="{FF2B5EF4-FFF2-40B4-BE49-F238E27FC236}">
                <a16:creationId xmlns:a16="http://schemas.microsoft.com/office/drawing/2014/main" id="{04D5D16D-EA43-4E3A-957E-8642292CBEA8}"/>
              </a:ext>
            </a:extLst>
          </p:cNvPr>
          <p:cNvSpPr>
            <a:spLocks xmlns:a="http://schemas.openxmlformats.org/drawingml/2006/main" noGrp="1"/>
          </p:cNvSpPr>
          <p:nvPr/>
        </p:nvSpPr>
        <p:spPr>
          <a:xfrm xmlns:a="http://schemas.openxmlformats.org/drawingml/2006/main">
            <a:off x="0" y="27432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9" name="">
            <a:extLst xmlns:a="http://schemas.openxmlformats.org/drawingml/2006/main">
              <a:ext uri="{FF2B5EF4-FFF2-40B4-BE49-F238E27FC236}">
                <a16:creationId xmlns:a16="http://schemas.microsoft.com/office/drawing/2014/main" id="{DC2F6C56-E992-4003-9A41-F40C98ED3A65}"/>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0" name="">
            <a:extLst xmlns:a="http://schemas.openxmlformats.org/drawingml/2006/main">
              <a:ext uri="{FF2B5EF4-FFF2-40B4-BE49-F238E27FC236}">
                <a16:creationId xmlns:a16="http://schemas.microsoft.com/office/drawing/2014/main" id="{008D74DB-BCCE-466A-9D64-C7699951844C}"/>
              </a:ext>
            </a:extLst>
          </p:cNvPr>
          <p:cNvSpPr>
            <a:spLocks xmlns:a="http://schemas.openxmlformats.org/drawingml/2006/main" noGrp="1"/>
          </p:cNvSpPr>
          <p:nvPr/>
        </p:nvSpPr>
        <p:spPr>
          <a:xfrm xmlns:a="http://schemas.openxmlformats.org/drawingml/2006/main">
            <a:off x="0" y="45720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1" name="">
            <a:extLst xmlns:a="http://schemas.openxmlformats.org/drawingml/2006/main">
              <a:ext uri="{FF2B5EF4-FFF2-40B4-BE49-F238E27FC236}">
                <a16:creationId xmlns:a16="http://schemas.microsoft.com/office/drawing/2014/main" id="{54430D9F-5E0E-49DE-92E4-8F9824C23B8D}"/>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2" name="">
            <a:extLst xmlns:a="http://schemas.openxmlformats.org/drawingml/2006/main">
              <a:ext uri="{FF2B5EF4-FFF2-40B4-BE49-F238E27FC236}">
                <a16:creationId xmlns:a16="http://schemas.microsoft.com/office/drawing/2014/main" id="{39433335-2EB2-4BF3-A150-A8F3BE230128}"/>
              </a:ext>
            </a:extLst>
          </p:cNvPr>
          <p:cNvSpPr>
            <a:spLocks xmlns:a="http://schemas.openxmlformats.org/drawingml/2006/main" noGrp="1"/>
          </p:cNvSpPr>
          <p:nvPr/>
        </p:nvSpPr>
        <p:spPr>
          <a:xfrm xmlns:a="http://schemas.openxmlformats.org/drawingml/2006/main">
            <a:off x="0" y="6400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3" name="">
            <a:extLst xmlns:a="http://schemas.openxmlformats.org/drawingml/2006/main">
              <a:ext uri="{FF2B5EF4-FFF2-40B4-BE49-F238E27FC236}">
                <a16:creationId xmlns:a16="http://schemas.microsoft.com/office/drawing/2014/main" id="{EF2D5E36-CD79-47E7-8AB4-ADB7493F9DA1}"/>
              </a:ext>
            </a:extLst>
          </p:cNvPr>
          <p:cNvSpPr>
            <a:spLocks xmlns:a="http://schemas.openxmlformats.org/drawingml/2006/main" noGrp="1"/>
          </p:cNvSpPr>
          <p:nvPr/>
        </p:nvSpPr>
        <p:spPr>
          <a:xfrm xmlns:a="http://schemas.openxmlformats.org/drawingml/2006/main">
            <a:off x="609600" y="361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01 / PROBLEM</a:t>
            </a:r>
          </a:p>
        </p:txBody>
      </p:sp>
      <p:sp>
        <p:nvSpPr>
          <p:cNvPr id="24" name="">
            <a:extLst xmlns:a="http://schemas.openxmlformats.org/drawingml/2006/main">
              <a:ext uri="{FF2B5EF4-FFF2-40B4-BE49-F238E27FC236}">
                <a16:creationId xmlns:a16="http://schemas.microsoft.com/office/drawing/2014/main" id="{3302ABFD-9D44-4882-BE79-056CA7643F7A}"/>
              </a:ext>
            </a:extLst>
          </p:cNvPr>
          <p:cNvSpPr>
            <a:spLocks xmlns:a="http://schemas.openxmlformats.org/drawingml/2006/main" noGrp="1"/>
          </p:cNvSpPr>
          <p:nvPr/>
        </p:nvSpPr>
        <p:spPr>
          <a:xfrm xmlns:a="http://schemas.openxmlformats.org/drawingml/2006/main">
            <a:off x="609600" y="68580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150" b="1">
                <a:solidFill>
                  <a:srgbClr val="DCF3E5"/>
                </a:solidFill>
                <a:latin typeface="Arial"/>
                <a:ea typeface="Arial"/>
                <a:cs typeface="Arial"/>
              </a:defRPr>
            </a:pPr>
            <a:r>
              <a:rPr sz="3150" b="1">
                <a:solidFill>
                  <a:srgbClr val="DCF3E5"/>
                </a:solidFill>
                <a:latin typeface="Arial"/>
                <a:ea typeface="Arial"/>
                <a:cs typeface="Arial"/>
              </a:rPr>
              <a:t>A DeFi number without evidence is impossible to trust</a:t>
            </a:r>
          </a:p>
        </p:txBody>
      </p:sp>
      <p:sp>
        <p:nvSpPr>
          <p:cNvPr id="25" name="">
            <a:extLst xmlns:a="http://schemas.openxmlformats.org/drawingml/2006/main">
              <a:ext uri="{FF2B5EF4-FFF2-40B4-BE49-F238E27FC236}">
                <a16:creationId xmlns:a16="http://schemas.microsoft.com/office/drawing/2014/main" id="{B2813FC5-CAAF-4282-8F9F-B37EEB5C9474}"/>
              </a:ext>
            </a:extLst>
          </p:cNvPr>
          <p:cNvSpPr>
            <a:spLocks xmlns:a="http://schemas.openxmlformats.org/drawingml/2006/main" noGrp="1"/>
          </p:cNvSpPr>
          <p:nvPr/>
        </p:nvSpPr>
        <p:spPr>
          <a:xfrm xmlns:a="http://schemas.openxmlformats.org/drawingml/2006/main">
            <a:off x="685800" y="18859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850" b="1">
                <a:solidFill>
                  <a:srgbClr val="FFC857"/>
                </a:solidFill>
                <a:latin typeface="Arial"/>
                <a:ea typeface="Arial"/>
                <a:cs typeface="Arial"/>
              </a:defRPr>
            </a:pPr>
            <a:r>
              <a:rPr sz="2850" b="1">
                <a:solidFill>
                  <a:srgbClr val="FFC857"/>
                </a:solidFill>
                <a:latin typeface="Arial"/>
                <a:ea typeface="Arial"/>
                <a:cs typeface="Arial"/>
              </a:rPr>
              <a:t>“USDC APY is 4.2%”</a:t>
            </a:r>
          </a:p>
        </p:txBody>
      </p:sp>
      <p:sp>
        <p:nvSpPr>
          <p:cNvPr id="26" name="">
            <a:extLst xmlns:a="http://schemas.openxmlformats.org/drawingml/2006/main">
              <a:ext uri="{FF2B5EF4-FFF2-40B4-BE49-F238E27FC236}">
                <a16:creationId xmlns:a16="http://schemas.microsoft.com/office/drawing/2014/main" id="{0482FFB0-97E8-49D6-9A3F-4A177D1D74D8}"/>
              </a:ext>
            </a:extLst>
          </p:cNvPr>
          <p:cNvSpPr>
            <a:spLocks xmlns:a="http://schemas.openxmlformats.org/drawingml/2006/main" noGrp="1"/>
          </p:cNvSpPr>
          <p:nvPr/>
        </p:nvSpPr>
        <p:spPr>
          <a:xfrm xmlns:a="http://schemas.openxmlformats.org/drawingml/2006/main">
            <a:off x="704850" y="2590800"/>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a:solidFill>
                  <a:srgbClr val="8AA79A"/>
                </a:solidFill>
                <a:latin typeface="Arial"/>
                <a:ea typeface="Arial"/>
                <a:cs typeface="Arial"/>
              </a:defRPr>
            </a:pPr>
            <a:r>
              <a:rPr sz="1725" b="0">
                <a:solidFill>
                  <a:srgbClr val="8AA79A"/>
                </a:solidFill>
                <a:latin typeface="Arial"/>
                <a:ea typeface="Arial"/>
                <a:cs typeface="Arial"/>
              </a:rPr>
              <a:t>Which protocol? Which block? Which definition? When was it observed?</a:t>
            </a:r>
          </a:p>
        </p:txBody>
      </p:sp>
      <p:sp>
        <p:nvSpPr>
          <p:cNvPr id="27" name="">
            <a:extLst xmlns:a="http://schemas.openxmlformats.org/drawingml/2006/main">
              <a:ext uri="{FF2B5EF4-FFF2-40B4-BE49-F238E27FC236}">
                <a16:creationId xmlns:a16="http://schemas.microsoft.com/office/drawing/2014/main" id="{27B0B296-8D38-4027-B5E9-D60E95ED63CC}"/>
              </a:ext>
            </a:extLst>
          </p:cNvPr>
          <p:cNvSpPr>
            <a:spLocks xmlns:a="http://schemas.openxmlformats.org/drawingml/2006/main" noGrp="1"/>
          </p:cNvSpPr>
          <p:nvPr/>
        </p:nvSpPr>
        <p:spPr>
          <a:xfrm xmlns:a="http://schemas.openxmlformats.org/drawingml/2006/main">
            <a:off x="7048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a:solidFill>
                  <a:srgbClr val="FF5AA0"/>
                </a:solidFill>
                <a:latin typeface="Courier New"/>
                <a:ea typeface="Courier New"/>
                <a:cs typeface="Courier New"/>
              </a:defRPr>
            </a:pPr>
            <a:r>
              <a:rPr sz="1350" b="1">
                <a:solidFill>
                  <a:srgbClr val="FF5AA0"/>
                </a:solidFill>
                <a:latin typeface="Courier New"/>
                <a:ea typeface="Courier New"/>
                <a:cs typeface="Courier New"/>
              </a:rPr>
              <a:t>UNSUPPORTED</a:t>
            </a:r>
          </a:p>
        </p:txBody>
      </p:sp>
      <p:sp>
        <p:nvSpPr>
          <p:cNvPr id="28" name="">
            <a:extLst xmlns:a="http://schemas.openxmlformats.org/drawingml/2006/main">
              <a:ext uri="{FF2B5EF4-FFF2-40B4-BE49-F238E27FC236}">
                <a16:creationId xmlns:a16="http://schemas.microsoft.com/office/drawing/2014/main" id="{7356CAE7-299B-43E3-8AE6-A213382EA4A1}"/>
              </a:ext>
            </a:extLst>
          </p:cNvPr>
          <p:cNvSpPr>
            <a:spLocks xmlns:a="http://schemas.openxmlformats.org/drawingml/2006/main" noGrp="1"/>
          </p:cNvSpPr>
          <p:nvPr/>
        </p:nvSpPr>
        <p:spPr>
          <a:xfrm xmlns:a="http://schemas.openxmlformats.org/drawingml/2006/main">
            <a:off x="5391150" y="1847850"/>
            <a:ext cx="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29" name="">
            <a:extLst xmlns:a="http://schemas.openxmlformats.org/drawingml/2006/main">
              <a:ext uri="{FF2B5EF4-FFF2-40B4-BE49-F238E27FC236}">
                <a16:creationId xmlns:a16="http://schemas.microsoft.com/office/drawing/2014/main" id="{AE811B45-EE9E-45C4-A0C8-DB666BAF8177}"/>
              </a:ext>
            </a:extLst>
          </p:cNvPr>
          <p:cNvSpPr>
            <a:spLocks xmlns:a="http://schemas.openxmlformats.org/drawingml/2006/main" noGrp="1"/>
          </p:cNvSpPr>
          <p:nvPr/>
        </p:nvSpPr>
        <p:spPr>
          <a:xfrm xmlns:a="http://schemas.openxmlformats.org/drawingml/2006/main">
            <a:off x="6115050" y="17907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a:solidFill>
                  <a:srgbClr val="35D6FF"/>
                </a:solidFill>
                <a:latin typeface="Courier New"/>
                <a:ea typeface="Courier New"/>
                <a:cs typeface="Courier New"/>
              </a:defRPr>
            </a:pPr>
            <a:r>
              <a:rPr sz="1350" b="1">
                <a:solidFill>
                  <a:srgbClr val="35D6FF"/>
                </a:solidFill>
                <a:latin typeface="Courier New"/>
                <a:ea typeface="Courier New"/>
                <a:cs typeface="Courier New"/>
              </a:rPr>
              <a:t>AskChing requires</a:t>
            </a:r>
          </a:p>
        </p:txBody>
      </p:sp>
      <p:sp>
        <p:nvSpPr>
          <p:cNvPr id="30" name="">
            <a:extLst xmlns:a="http://schemas.openxmlformats.org/drawingml/2006/main">
              <a:ext uri="{FF2B5EF4-FFF2-40B4-BE49-F238E27FC236}">
                <a16:creationId xmlns:a16="http://schemas.microsoft.com/office/drawing/2014/main" id="{35B977F4-2B16-4AC3-8A10-2112D5D88B90}"/>
              </a:ext>
            </a:extLst>
          </p:cNvPr>
          <p:cNvSpPr>
            <a:spLocks xmlns:a="http://schemas.openxmlformats.org/drawingml/2006/main" noGrp="1"/>
          </p:cNvSpPr>
          <p:nvPr/>
        </p:nvSpPr>
        <p:spPr>
          <a:xfrm xmlns:a="http://schemas.openxmlformats.org/drawingml/2006/main">
            <a:off x="6115050" y="23241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a:solidFill>
                  <a:srgbClr val="3DF59A"/>
                </a:solidFill>
                <a:latin typeface="Courier New"/>
                <a:ea typeface="Courier New"/>
                <a:cs typeface="Courier New"/>
              </a:defRPr>
            </a:pPr>
            <a:r>
              <a:rPr sz="1350" b="1">
                <a:solidFill>
                  <a:srgbClr val="3DF59A"/>
                </a:solidFill>
                <a:latin typeface="Courier New"/>
                <a:ea typeface="Courier New"/>
                <a:cs typeface="Courier New"/>
              </a:rPr>
              <a:t>SUBGRAPH ID</a:t>
            </a:r>
          </a:p>
        </p:txBody>
      </p:sp>
      <p:sp>
        <p:nvSpPr>
          <p:cNvPr id="31" name="">
            <a:extLst xmlns:a="http://schemas.openxmlformats.org/drawingml/2006/main">
              <a:ext uri="{FF2B5EF4-FFF2-40B4-BE49-F238E27FC236}">
                <a16:creationId xmlns:a16="http://schemas.microsoft.com/office/drawing/2014/main" id="{FCA98D96-FAC6-4B59-80F1-2EF96B7372FC}"/>
              </a:ext>
            </a:extLst>
          </p:cNvPr>
          <p:cNvSpPr>
            <a:spLocks xmlns:a="http://schemas.openxmlformats.org/drawingml/2006/main" noGrp="1"/>
          </p:cNvSpPr>
          <p:nvPr/>
        </p:nvSpPr>
        <p:spPr>
          <a:xfrm xmlns:a="http://schemas.openxmlformats.org/drawingml/2006/main">
            <a:off x="8305800" y="232410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DCF3E5"/>
                </a:solidFill>
                <a:latin typeface="Arial"/>
                <a:ea typeface="Arial"/>
                <a:cs typeface="Arial"/>
              </a:defRPr>
            </a:pPr>
            <a:r>
              <a:rPr sz="1350" b="0">
                <a:solidFill>
                  <a:srgbClr val="DCF3E5"/>
                </a:solidFill>
                <a:latin typeface="Arial"/>
                <a:ea typeface="Arial"/>
                <a:cs typeface="Arial"/>
              </a:rPr>
              <a:t>where the value came from</a:t>
            </a:r>
          </a:p>
        </p:txBody>
      </p:sp>
      <p:sp>
        <p:nvSpPr>
          <p:cNvPr id="32" name="">
            <a:extLst xmlns:a="http://schemas.openxmlformats.org/drawingml/2006/main">
              <a:ext uri="{FF2B5EF4-FFF2-40B4-BE49-F238E27FC236}">
                <a16:creationId xmlns:a16="http://schemas.microsoft.com/office/drawing/2014/main" id="{6AA29F15-E08B-45E3-9D19-543799118612}"/>
              </a:ext>
            </a:extLst>
          </p:cNvPr>
          <p:cNvSpPr>
            <a:spLocks xmlns:a="http://schemas.openxmlformats.org/drawingml/2006/main" noGrp="1"/>
          </p:cNvSpPr>
          <p:nvPr/>
        </p:nvSpPr>
        <p:spPr>
          <a:xfrm xmlns:a="http://schemas.openxmlformats.org/drawingml/2006/main">
            <a:off x="6115050" y="2781300"/>
            <a:ext cx="52387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3" name="">
            <a:extLst xmlns:a="http://schemas.openxmlformats.org/drawingml/2006/main">
              <a:ext uri="{FF2B5EF4-FFF2-40B4-BE49-F238E27FC236}">
                <a16:creationId xmlns:a16="http://schemas.microsoft.com/office/drawing/2014/main" id="{FDCA6BAE-EDB3-491B-A9B8-74083F5C2115}"/>
              </a:ext>
            </a:extLst>
          </p:cNvPr>
          <p:cNvSpPr>
            <a:spLocks xmlns:a="http://schemas.openxmlformats.org/drawingml/2006/main" noGrp="1"/>
          </p:cNvSpPr>
          <p:nvPr/>
        </p:nvSpPr>
        <p:spPr>
          <a:xfrm xmlns:a="http://schemas.openxmlformats.org/drawingml/2006/main">
            <a:off x="6115050" y="30670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a:solidFill>
                  <a:srgbClr val="3DF59A"/>
                </a:solidFill>
                <a:latin typeface="Courier New"/>
                <a:ea typeface="Courier New"/>
                <a:cs typeface="Courier New"/>
              </a:defRPr>
            </a:pPr>
            <a:r>
              <a:rPr sz="1350" b="1">
                <a:solidFill>
                  <a:srgbClr val="3DF59A"/>
                </a:solidFill>
                <a:latin typeface="Courier New"/>
                <a:ea typeface="Courier New"/>
                <a:cs typeface="Courier New"/>
              </a:rPr>
              <a:t>BLOCK</a:t>
            </a:r>
          </a:p>
        </p:txBody>
      </p:sp>
      <p:sp>
        <p:nvSpPr>
          <p:cNvPr id="34" name="">
            <a:extLst xmlns:a="http://schemas.openxmlformats.org/drawingml/2006/main">
              <a:ext uri="{FF2B5EF4-FFF2-40B4-BE49-F238E27FC236}">
                <a16:creationId xmlns:a16="http://schemas.microsoft.com/office/drawing/2014/main" id="{B2D48E88-035C-4364-95D9-7470D9D74A9A}"/>
              </a:ext>
            </a:extLst>
          </p:cNvPr>
          <p:cNvSpPr>
            <a:spLocks xmlns:a="http://schemas.openxmlformats.org/drawingml/2006/main" noGrp="1"/>
          </p:cNvSpPr>
          <p:nvPr/>
        </p:nvSpPr>
        <p:spPr>
          <a:xfrm xmlns:a="http://schemas.openxmlformats.org/drawingml/2006/main">
            <a:off x="8305800" y="30670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DCF3E5"/>
                </a:solidFill>
                <a:latin typeface="Arial"/>
                <a:ea typeface="Arial"/>
                <a:cs typeface="Arial"/>
              </a:defRPr>
            </a:pPr>
            <a:r>
              <a:rPr sz="1350" b="0">
                <a:solidFill>
                  <a:srgbClr val="DCF3E5"/>
                </a:solidFill>
                <a:latin typeface="Arial"/>
                <a:ea typeface="Arial"/>
                <a:cs typeface="Arial"/>
              </a:rPr>
              <a:t>which chain state it reflects</a:t>
            </a:r>
          </a:p>
        </p:txBody>
      </p:sp>
      <p:sp>
        <p:nvSpPr>
          <p:cNvPr id="35" name="">
            <a:extLst xmlns:a="http://schemas.openxmlformats.org/drawingml/2006/main">
              <a:ext uri="{FF2B5EF4-FFF2-40B4-BE49-F238E27FC236}">
                <a16:creationId xmlns:a16="http://schemas.microsoft.com/office/drawing/2014/main" id="{ACEB069E-55CB-4393-B46A-1C3D94525AFC}"/>
              </a:ext>
            </a:extLst>
          </p:cNvPr>
          <p:cNvSpPr>
            <a:spLocks xmlns:a="http://schemas.openxmlformats.org/drawingml/2006/main" noGrp="1"/>
          </p:cNvSpPr>
          <p:nvPr/>
        </p:nvSpPr>
        <p:spPr>
          <a:xfrm xmlns:a="http://schemas.openxmlformats.org/drawingml/2006/main">
            <a:off x="6115050" y="3524250"/>
            <a:ext cx="52387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6" name="">
            <a:extLst xmlns:a="http://schemas.openxmlformats.org/drawingml/2006/main">
              <a:ext uri="{FF2B5EF4-FFF2-40B4-BE49-F238E27FC236}">
                <a16:creationId xmlns:a16="http://schemas.microsoft.com/office/drawing/2014/main" id="{33EA7FC6-5EBC-40E3-9A6E-DD7B95CD3F0C}"/>
              </a:ext>
            </a:extLst>
          </p:cNvPr>
          <p:cNvSpPr>
            <a:spLocks xmlns:a="http://schemas.openxmlformats.org/drawingml/2006/main" noGrp="1"/>
          </p:cNvSpPr>
          <p:nvPr/>
        </p:nvSpPr>
        <p:spPr>
          <a:xfrm xmlns:a="http://schemas.openxmlformats.org/drawingml/2006/main">
            <a:off x="6115050" y="38100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a:solidFill>
                  <a:srgbClr val="3DF59A"/>
                </a:solidFill>
                <a:latin typeface="Courier New"/>
                <a:ea typeface="Courier New"/>
                <a:cs typeface="Courier New"/>
              </a:defRPr>
            </a:pPr>
            <a:r>
              <a:rPr sz="1350" b="1">
                <a:solidFill>
                  <a:srgbClr val="3DF59A"/>
                </a:solidFill>
                <a:latin typeface="Courier New"/>
                <a:ea typeface="Courier New"/>
                <a:cs typeface="Courier New"/>
              </a:rPr>
              <a:t>TIMESTAMP</a:t>
            </a:r>
          </a:p>
        </p:txBody>
      </p:sp>
      <p:sp>
        <p:nvSpPr>
          <p:cNvPr id="37" name="">
            <a:extLst xmlns:a="http://schemas.openxmlformats.org/drawingml/2006/main">
              <a:ext uri="{FF2B5EF4-FFF2-40B4-BE49-F238E27FC236}">
                <a16:creationId xmlns:a16="http://schemas.microsoft.com/office/drawing/2014/main" id="{FBB3B90B-5DE4-4273-B386-74B093B91607}"/>
              </a:ext>
            </a:extLst>
          </p:cNvPr>
          <p:cNvSpPr>
            <a:spLocks xmlns:a="http://schemas.openxmlformats.org/drawingml/2006/main" noGrp="1"/>
          </p:cNvSpPr>
          <p:nvPr/>
        </p:nvSpPr>
        <p:spPr>
          <a:xfrm xmlns:a="http://schemas.openxmlformats.org/drawingml/2006/main">
            <a:off x="8305800" y="381000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DCF3E5"/>
                </a:solidFill>
                <a:latin typeface="Arial"/>
                <a:ea typeface="Arial"/>
                <a:cs typeface="Arial"/>
              </a:defRPr>
            </a:pPr>
            <a:r>
              <a:rPr sz="1350" b="0">
                <a:solidFill>
                  <a:srgbClr val="DCF3E5"/>
                </a:solidFill>
                <a:latin typeface="Arial"/>
                <a:ea typeface="Arial"/>
                <a:cs typeface="Arial"/>
              </a:rPr>
              <a:t>when the source observed it</a:t>
            </a:r>
          </a:p>
        </p:txBody>
      </p:sp>
      <p:sp>
        <p:nvSpPr>
          <p:cNvPr id="38" name="">
            <a:extLst xmlns:a="http://schemas.openxmlformats.org/drawingml/2006/main">
              <a:ext uri="{FF2B5EF4-FFF2-40B4-BE49-F238E27FC236}">
                <a16:creationId xmlns:a16="http://schemas.microsoft.com/office/drawing/2014/main" id="{929E30B5-E8C9-47D5-B0B5-E2787F8BC782}"/>
              </a:ext>
            </a:extLst>
          </p:cNvPr>
          <p:cNvSpPr>
            <a:spLocks xmlns:a="http://schemas.openxmlformats.org/drawingml/2006/main" noGrp="1"/>
          </p:cNvSpPr>
          <p:nvPr/>
        </p:nvSpPr>
        <p:spPr>
          <a:xfrm xmlns:a="http://schemas.openxmlformats.org/drawingml/2006/main">
            <a:off x="6115050" y="4267200"/>
            <a:ext cx="52387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9" name="">
            <a:extLst xmlns:a="http://schemas.openxmlformats.org/drawingml/2006/main">
              <a:ext uri="{FF2B5EF4-FFF2-40B4-BE49-F238E27FC236}">
                <a16:creationId xmlns:a16="http://schemas.microsoft.com/office/drawing/2014/main" id="{CC8D2502-4E83-444D-AF16-30EB31300B6C}"/>
              </a:ext>
            </a:extLst>
          </p:cNvPr>
          <p:cNvSpPr>
            <a:spLocks xmlns:a="http://schemas.openxmlformats.org/drawingml/2006/main" noGrp="1"/>
          </p:cNvSpPr>
          <p:nvPr/>
        </p:nvSpPr>
        <p:spPr>
          <a:xfrm xmlns:a="http://schemas.openxmlformats.org/drawingml/2006/main">
            <a:off x="6115050" y="45529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a:solidFill>
                  <a:srgbClr val="3DF59A"/>
                </a:solidFill>
                <a:latin typeface="Courier New"/>
                <a:ea typeface="Courier New"/>
                <a:cs typeface="Courier New"/>
              </a:defRPr>
            </a:pPr>
            <a:r>
              <a:rPr sz="1350" b="1">
                <a:solidFill>
                  <a:srgbClr val="3DF59A"/>
                </a:solidFill>
                <a:latin typeface="Courier New"/>
                <a:ea typeface="Courier New"/>
                <a:cs typeface="Courier New"/>
              </a:rPr>
              <a:t>QUERY HASH</a:t>
            </a:r>
          </a:p>
        </p:txBody>
      </p:sp>
      <p:sp>
        <p:nvSpPr>
          <p:cNvPr id="40" name="">
            <a:extLst xmlns:a="http://schemas.openxmlformats.org/drawingml/2006/main">
              <a:ext uri="{FF2B5EF4-FFF2-40B4-BE49-F238E27FC236}">
                <a16:creationId xmlns:a16="http://schemas.microsoft.com/office/drawing/2014/main" id="{DF2415C8-1948-4683-A3CF-1DA92DB34D0E}"/>
              </a:ext>
            </a:extLst>
          </p:cNvPr>
          <p:cNvSpPr>
            <a:spLocks xmlns:a="http://schemas.openxmlformats.org/drawingml/2006/main" noGrp="1"/>
          </p:cNvSpPr>
          <p:nvPr/>
        </p:nvSpPr>
        <p:spPr>
          <a:xfrm xmlns:a="http://schemas.openxmlformats.org/drawingml/2006/main">
            <a:off x="8305800" y="45529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a:solidFill>
                  <a:srgbClr val="DCF3E5"/>
                </a:solidFill>
                <a:latin typeface="Arial"/>
                <a:ea typeface="Arial"/>
                <a:cs typeface="Arial"/>
              </a:defRPr>
            </a:pPr>
            <a:r>
              <a:rPr sz="1350" b="0">
                <a:solidFill>
                  <a:srgbClr val="DCF3E5"/>
                </a:solidFill>
                <a:latin typeface="Arial"/>
                <a:ea typeface="Arial"/>
                <a:cs typeface="Arial"/>
              </a:rPr>
              <a:t>which query produced it</a:t>
            </a:r>
          </a:p>
        </p:txBody>
      </p:sp>
      <p:sp>
        <p:nvSpPr>
          <p:cNvPr id="41" name="">
            <a:extLst xmlns:a="http://schemas.openxmlformats.org/drawingml/2006/main">
              <a:ext uri="{FF2B5EF4-FFF2-40B4-BE49-F238E27FC236}">
                <a16:creationId xmlns:a16="http://schemas.microsoft.com/office/drawing/2014/main" id="{B46348BC-0C49-4F03-908D-DA50C6ECFE8E}"/>
              </a:ext>
            </a:extLst>
          </p:cNvPr>
          <p:cNvSpPr>
            <a:spLocks xmlns:a="http://schemas.openxmlformats.org/drawingml/2006/main" noGrp="1"/>
          </p:cNvSpPr>
          <p:nvPr/>
        </p:nvSpPr>
        <p:spPr>
          <a:xfrm xmlns:a="http://schemas.openxmlformats.org/drawingml/2006/main">
            <a:off x="6115050" y="5010150"/>
            <a:ext cx="52387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2" name="">
            <a:extLst xmlns:a="http://schemas.openxmlformats.org/drawingml/2006/main">
              <a:ext uri="{FF2B5EF4-FFF2-40B4-BE49-F238E27FC236}">
                <a16:creationId xmlns:a16="http://schemas.microsoft.com/office/drawing/2014/main" id="{48A79DC7-196B-4F10-9828-C776C5DC779B}"/>
              </a:ext>
            </a:extLst>
          </p:cNvPr>
          <p:cNvSpPr>
            <a:spLocks xmlns:a="http://schemas.openxmlformats.org/drawingml/2006/main" noGrp="1"/>
          </p:cNvSpPr>
          <p:nvPr/>
        </p:nvSpPr>
        <p:spPr>
          <a:xfrm xmlns:a="http://schemas.openxmlformats.org/drawingml/2006/main">
            <a:off x="6115050" y="54864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a:solidFill>
                  <a:srgbClr val="DCF3E5"/>
                </a:solidFill>
                <a:latin typeface="Arial"/>
                <a:ea typeface="Arial"/>
                <a:cs typeface="Arial"/>
              </a:defRPr>
            </a:pPr>
            <a:r>
              <a:rPr sz="1875" b="1">
                <a:solidFill>
                  <a:srgbClr val="DCF3E5"/>
                </a:solidFill>
                <a:latin typeface="Arial"/>
                <a:ea typeface="Arial"/>
                <a:cs typeface="Arial"/>
              </a:rPr>
              <a:t>Evidence travels with the number.</a:t>
            </a:r>
          </a:p>
        </p:txBody>
      </p:sp>
      <p:sp>
        <p:nvSpPr>
          <p:cNvPr id="43" name="">
            <a:extLst xmlns:a="http://schemas.openxmlformats.org/drawingml/2006/main">
              <a:ext uri="{FF2B5EF4-FFF2-40B4-BE49-F238E27FC236}">
                <a16:creationId xmlns:a16="http://schemas.microsoft.com/office/drawing/2014/main" id="{7492BC86-CCD0-4EF2-8A28-D2D42CB93483}"/>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4" name="">
            <a:extLst xmlns:a="http://schemas.openxmlformats.org/drawingml/2006/main">
              <a:ext uri="{FF2B5EF4-FFF2-40B4-BE49-F238E27FC236}">
                <a16:creationId xmlns:a16="http://schemas.microsoft.com/office/drawing/2014/main" id="{D31C2A50-A9E5-40D3-9C9F-2C2E368CD7D4}"/>
              </a:ext>
            </a:extLst>
          </p:cNvPr>
          <p:cNvSpPr>
            <a:spLocks xmlns:a="http://schemas.openxmlformats.org/drawingml/2006/main" noGrp="1"/>
          </p:cNvSpPr>
          <p:nvPr/>
        </p:nvSpPr>
        <p:spPr>
          <a:xfrm xmlns:a="http://schemas.openxmlformats.org/drawingml/2006/main">
            <a:off x="609600" y="65341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5C7368"/>
                </a:solidFill>
                <a:latin typeface="Courier New"/>
                <a:ea typeface="Courier New"/>
                <a:cs typeface="Courier New"/>
              </a:defRPr>
            </a:pPr>
            <a:r>
              <a:rPr sz="750" b="0">
                <a:solidFill>
                  <a:srgbClr val="5C7368"/>
                </a:solidFill>
                <a:latin typeface="Courier New"/>
                <a:ea typeface="Courier New"/>
                <a:cs typeface="Courier New"/>
              </a:rPr>
              <a:t>ASKCHING · ETHONLINE 2026</a:t>
            </a:r>
          </a:p>
        </p:txBody>
      </p:sp>
      <p:sp>
        <p:nvSpPr>
          <p:cNvPr id="45" name="">
            <a:extLst xmlns:a="http://schemas.openxmlformats.org/drawingml/2006/main">
              <a:ext uri="{FF2B5EF4-FFF2-40B4-BE49-F238E27FC236}">
                <a16:creationId xmlns:a16="http://schemas.microsoft.com/office/drawing/2014/main" id="{FB52AAFB-C732-4D9A-B55B-26C917F3E297}"/>
              </a:ext>
            </a:extLst>
          </p:cNvPr>
          <p:cNvSpPr>
            <a:spLocks xmlns:a="http://schemas.openxmlformats.org/drawingml/2006/main" noGrp="1"/>
          </p:cNvSpPr>
          <p:nvPr/>
        </p:nvSpPr>
        <p:spPr>
          <a:xfrm xmlns:a="http://schemas.openxmlformats.org/drawingml/2006/main">
            <a:off x="11049000" y="65341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35D6FF"/>
                </a:solidFill>
                <a:latin typeface="Courier New"/>
                <a:ea typeface="Courier New"/>
                <a:cs typeface="Courier New"/>
              </a:defRPr>
            </a:pPr>
            <a:r>
              <a:rPr sz="750" b="0">
                <a:solidFill>
                  <a:srgbClr val="35D6FF"/>
                </a:solidFill>
                <a:latin typeface="Courier New"/>
                <a:ea typeface="Courier New"/>
                <a:cs typeface="Courier New"/>
              </a:rPr>
              <a:t>02</a:t>
            </a:r>
          </a:p>
        </p:txBody>
      </p:sp>
    </p:spTree>
    <p:extLst>
      <p:ext uri="{BB962C8B-B14F-4D97-AF65-F5344CB8AC3E}">
        <p14:creationId xmlns:p14="http://schemas.microsoft.com/office/powerpoint/2010/main" val="2063662692"/>
      </p:ext>
    </p:extLst>
  </p:cSld>
</p:sld>
</file>

<file path=ppt/slides/slide3.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D9589C82-2310-47C5-ADCC-1C74AB5C47AD}"/>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 name="">
            <a:extLst xmlns:a="http://schemas.openxmlformats.org/drawingml/2006/main">
              <a:ext uri="{FF2B5EF4-FFF2-40B4-BE49-F238E27FC236}">
                <a16:creationId xmlns:a16="http://schemas.microsoft.com/office/drawing/2014/main" id="{B3B86E9F-4353-4D0C-8B0E-EDFE12E1DF59}"/>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3" name="">
            <a:extLst xmlns:a="http://schemas.openxmlformats.org/drawingml/2006/main">
              <a:ext uri="{FF2B5EF4-FFF2-40B4-BE49-F238E27FC236}">
                <a16:creationId xmlns:a16="http://schemas.microsoft.com/office/drawing/2014/main" id="{C5E6E3D1-EDB0-4E93-84B4-367138D15DE0}"/>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4" name="">
            <a:extLst xmlns:a="http://schemas.openxmlformats.org/drawingml/2006/main">
              <a:ext uri="{FF2B5EF4-FFF2-40B4-BE49-F238E27FC236}">
                <a16:creationId xmlns:a16="http://schemas.microsoft.com/office/drawing/2014/main" id="{9A98F0D8-F438-4701-81B9-3F1775A5680B}"/>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5" name="">
            <a:extLst xmlns:a="http://schemas.openxmlformats.org/drawingml/2006/main">
              <a:ext uri="{FF2B5EF4-FFF2-40B4-BE49-F238E27FC236}">
                <a16:creationId xmlns:a16="http://schemas.microsoft.com/office/drawing/2014/main" id="{8DA0BD75-BC8D-476D-9071-A7D24F51EB85}"/>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6" name="">
            <a:extLst xmlns:a="http://schemas.openxmlformats.org/drawingml/2006/main">
              <a:ext uri="{FF2B5EF4-FFF2-40B4-BE49-F238E27FC236}">
                <a16:creationId xmlns:a16="http://schemas.microsoft.com/office/drawing/2014/main" id="{5DFCFA57-9AC4-4F4A-972F-1E6063F1D3F5}"/>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7" name="">
            <a:extLst xmlns:a="http://schemas.openxmlformats.org/drawingml/2006/main">
              <a:ext uri="{FF2B5EF4-FFF2-40B4-BE49-F238E27FC236}">
                <a16:creationId xmlns:a16="http://schemas.microsoft.com/office/drawing/2014/main" id="{E7AE0F0F-599C-4192-8AB7-7AF4C97795AD}"/>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8" name="">
            <a:extLst xmlns:a="http://schemas.openxmlformats.org/drawingml/2006/main">
              <a:ext uri="{FF2B5EF4-FFF2-40B4-BE49-F238E27FC236}">
                <a16:creationId xmlns:a16="http://schemas.microsoft.com/office/drawing/2014/main" id="{7B962D96-B588-4E22-ACB6-326E62AFC478}"/>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9" name="">
            <a:extLst xmlns:a="http://schemas.openxmlformats.org/drawingml/2006/main">
              <a:ext uri="{FF2B5EF4-FFF2-40B4-BE49-F238E27FC236}">
                <a16:creationId xmlns:a16="http://schemas.microsoft.com/office/drawing/2014/main" id="{BF55E10E-BAEA-4951-A94B-B64661E9493A}"/>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0" name="">
            <a:extLst xmlns:a="http://schemas.openxmlformats.org/drawingml/2006/main">
              <a:ext uri="{FF2B5EF4-FFF2-40B4-BE49-F238E27FC236}">
                <a16:creationId xmlns:a16="http://schemas.microsoft.com/office/drawing/2014/main" id="{10F4B3E8-1184-45D4-9B06-BA489CA03018}"/>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1" name="">
            <a:extLst xmlns:a="http://schemas.openxmlformats.org/drawingml/2006/main">
              <a:ext uri="{FF2B5EF4-FFF2-40B4-BE49-F238E27FC236}">
                <a16:creationId xmlns:a16="http://schemas.microsoft.com/office/drawing/2014/main" id="{EC6491D6-F7A0-410D-855E-B2649FE48227}"/>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2" name="">
            <a:extLst xmlns:a="http://schemas.openxmlformats.org/drawingml/2006/main">
              <a:ext uri="{FF2B5EF4-FFF2-40B4-BE49-F238E27FC236}">
                <a16:creationId xmlns:a16="http://schemas.microsoft.com/office/drawing/2014/main" id="{1A8A976D-FAFC-47EC-B16C-69CA9BA98D27}"/>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3" name="">
            <a:extLst xmlns:a="http://schemas.openxmlformats.org/drawingml/2006/main">
              <a:ext uri="{FF2B5EF4-FFF2-40B4-BE49-F238E27FC236}">
                <a16:creationId xmlns:a16="http://schemas.microsoft.com/office/drawing/2014/main" id="{4F78E18D-B6EC-4838-A9C7-366C1938AEA9}"/>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4" name="">
            <a:extLst xmlns:a="http://schemas.openxmlformats.org/drawingml/2006/main">
              <a:ext uri="{FF2B5EF4-FFF2-40B4-BE49-F238E27FC236}">
                <a16:creationId xmlns:a16="http://schemas.microsoft.com/office/drawing/2014/main" id="{EEFAB9AD-2BD8-4F95-A542-FE7940A9D33E}"/>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5" name="">
            <a:extLst xmlns:a="http://schemas.openxmlformats.org/drawingml/2006/main">
              <a:ext uri="{FF2B5EF4-FFF2-40B4-BE49-F238E27FC236}">
                <a16:creationId xmlns:a16="http://schemas.microsoft.com/office/drawing/2014/main" id="{F917D9D5-232C-4201-9DF7-C494D4FD2D53}"/>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6" name="">
            <a:extLst xmlns:a="http://schemas.openxmlformats.org/drawingml/2006/main">
              <a:ext uri="{FF2B5EF4-FFF2-40B4-BE49-F238E27FC236}">
                <a16:creationId xmlns:a16="http://schemas.microsoft.com/office/drawing/2014/main" id="{7697041D-1FF9-4668-B508-82A0B2E2DDEA}"/>
              </a:ext>
            </a:extLst>
          </p:cNvPr>
          <p:cNvSpPr>
            <a:spLocks xmlns:a="http://schemas.openxmlformats.org/drawingml/2006/main" noGrp="1"/>
          </p:cNvSpPr>
          <p:nvPr/>
        </p:nvSpPr>
        <p:spPr>
          <a:xfrm xmlns:a="http://schemas.openxmlformats.org/drawingml/2006/main">
            <a:off x="0" y="914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7" name="">
            <a:extLst xmlns:a="http://schemas.openxmlformats.org/drawingml/2006/main">
              <a:ext uri="{FF2B5EF4-FFF2-40B4-BE49-F238E27FC236}">
                <a16:creationId xmlns:a16="http://schemas.microsoft.com/office/drawing/2014/main" id="{D9CCA0FA-8852-4144-80CB-7E93E8DE4FA7}"/>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8" name="">
            <a:extLst xmlns:a="http://schemas.openxmlformats.org/drawingml/2006/main">
              <a:ext uri="{FF2B5EF4-FFF2-40B4-BE49-F238E27FC236}">
                <a16:creationId xmlns:a16="http://schemas.microsoft.com/office/drawing/2014/main" id="{0BD224AA-2916-463F-AD80-D2C7F974B852}"/>
              </a:ext>
            </a:extLst>
          </p:cNvPr>
          <p:cNvSpPr>
            <a:spLocks xmlns:a="http://schemas.openxmlformats.org/drawingml/2006/main" noGrp="1"/>
          </p:cNvSpPr>
          <p:nvPr/>
        </p:nvSpPr>
        <p:spPr>
          <a:xfrm xmlns:a="http://schemas.openxmlformats.org/drawingml/2006/main">
            <a:off x="0" y="27432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9" name="">
            <a:extLst xmlns:a="http://schemas.openxmlformats.org/drawingml/2006/main">
              <a:ext uri="{FF2B5EF4-FFF2-40B4-BE49-F238E27FC236}">
                <a16:creationId xmlns:a16="http://schemas.microsoft.com/office/drawing/2014/main" id="{87C5FC07-3902-4AEF-8268-867C4DA89DBA}"/>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0" name="">
            <a:extLst xmlns:a="http://schemas.openxmlformats.org/drawingml/2006/main">
              <a:ext uri="{FF2B5EF4-FFF2-40B4-BE49-F238E27FC236}">
                <a16:creationId xmlns:a16="http://schemas.microsoft.com/office/drawing/2014/main" id="{5FD4B497-A5E6-4D84-B1E1-9A0C4D4424E1}"/>
              </a:ext>
            </a:extLst>
          </p:cNvPr>
          <p:cNvSpPr>
            <a:spLocks xmlns:a="http://schemas.openxmlformats.org/drawingml/2006/main" noGrp="1"/>
          </p:cNvSpPr>
          <p:nvPr/>
        </p:nvSpPr>
        <p:spPr>
          <a:xfrm xmlns:a="http://schemas.openxmlformats.org/drawingml/2006/main">
            <a:off x="0" y="45720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1" name="">
            <a:extLst xmlns:a="http://schemas.openxmlformats.org/drawingml/2006/main">
              <a:ext uri="{FF2B5EF4-FFF2-40B4-BE49-F238E27FC236}">
                <a16:creationId xmlns:a16="http://schemas.microsoft.com/office/drawing/2014/main" id="{F411B614-7F12-4476-B543-29F42176F4E6}"/>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2" name="">
            <a:extLst xmlns:a="http://schemas.openxmlformats.org/drawingml/2006/main">
              <a:ext uri="{FF2B5EF4-FFF2-40B4-BE49-F238E27FC236}">
                <a16:creationId xmlns:a16="http://schemas.microsoft.com/office/drawing/2014/main" id="{8889F115-47B0-416A-8E83-0DA2AA48CAAA}"/>
              </a:ext>
            </a:extLst>
          </p:cNvPr>
          <p:cNvSpPr>
            <a:spLocks xmlns:a="http://schemas.openxmlformats.org/drawingml/2006/main" noGrp="1"/>
          </p:cNvSpPr>
          <p:nvPr/>
        </p:nvSpPr>
        <p:spPr>
          <a:xfrm xmlns:a="http://schemas.openxmlformats.org/drawingml/2006/main">
            <a:off x="0" y="6400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3" name="">
            <a:extLst xmlns:a="http://schemas.openxmlformats.org/drawingml/2006/main">
              <a:ext uri="{FF2B5EF4-FFF2-40B4-BE49-F238E27FC236}">
                <a16:creationId xmlns:a16="http://schemas.microsoft.com/office/drawing/2014/main" id="{49F46B21-0FAD-465F-BBC9-BF847A5A887D}"/>
              </a:ext>
            </a:extLst>
          </p:cNvPr>
          <p:cNvSpPr>
            <a:spLocks xmlns:a="http://schemas.openxmlformats.org/drawingml/2006/main" noGrp="1"/>
          </p:cNvSpPr>
          <p:nvPr/>
        </p:nvSpPr>
        <p:spPr>
          <a:xfrm xmlns:a="http://schemas.openxmlformats.org/drawingml/2006/main">
            <a:off x="609600" y="361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02 / ARCHITECTURE</a:t>
            </a:r>
          </a:p>
        </p:txBody>
      </p:sp>
      <p:sp>
        <p:nvSpPr>
          <p:cNvPr id="24" name="">
            <a:extLst xmlns:a="http://schemas.openxmlformats.org/drawingml/2006/main">
              <a:ext uri="{FF2B5EF4-FFF2-40B4-BE49-F238E27FC236}">
                <a16:creationId xmlns:a16="http://schemas.microsoft.com/office/drawing/2014/main" id="{070B7F4F-0514-4A0C-916F-6FBA7A3A7845}"/>
              </a:ext>
            </a:extLst>
          </p:cNvPr>
          <p:cNvSpPr>
            <a:spLocks xmlns:a="http://schemas.openxmlformats.org/drawingml/2006/main" noGrp="1"/>
          </p:cNvSpPr>
          <p:nvPr/>
        </p:nvSpPr>
        <p:spPr>
          <a:xfrm xmlns:a="http://schemas.openxmlformats.org/drawingml/2006/main">
            <a:off x="609600" y="68580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961"/>
          </a:bodyPr>
          <a:lstStyle xmlns:a="http://schemas.openxmlformats.org/drawingml/2006/main"/>
          <a:p xmlns:a="http://schemas.openxmlformats.org/drawingml/2006/main">
            <a:pPr algn="l">
              <a:lnSpc>
                <a:spcPct val="105000"/>
              </a:lnSpc>
              <a:buNone/>
              <a:defRPr sz="3150" b="1">
                <a:solidFill>
                  <a:srgbClr val="DCF3E5"/>
                </a:solidFill>
                <a:latin typeface="Arial"/>
                <a:ea typeface="Arial"/>
                <a:cs typeface="Arial"/>
              </a:defRPr>
            </a:pPr>
            <a:r>
              <a:rPr sz="3150" b="1">
                <a:solidFill>
                  <a:srgbClr val="DCF3E5"/>
                </a:solidFill>
                <a:latin typeface="Arial"/>
                <a:ea typeface="Arial"/>
                <a:cs typeface="Arial"/>
              </a:rPr>
              <a:t>One MCP research layer connects agents to live subgraphs</a:t>
            </a:r>
          </a:p>
        </p:txBody>
      </p:sp>
      <p:sp>
        <p:nvSpPr>
          <p:cNvPr id="25" name="">
            <a:extLst xmlns:a="http://schemas.openxmlformats.org/drawingml/2006/main">
              <a:ext uri="{FF2B5EF4-FFF2-40B4-BE49-F238E27FC236}">
                <a16:creationId xmlns:a16="http://schemas.microsoft.com/office/drawing/2014/main" id="{E4699948-8F54-4B04-BEED-D5479058D74D}"/>
              </a:ext>
            </a:extLst>
          </p:cNvPr>
          <p:cNvSpPr>
            <a:spLocks xmlns:a="http://schemas.openxmlformats.org/drawingml/2006/main" noGrp="1"/>
          </p:cNvSpPr>
          <p:nvPr/>
        </p:nvSpPr>
        <p:spPr>
          <a:xfrm xmlns:a="http://schemas.openxmlformats.org/drawingml/2006/main">
            <a:off x="609600" y="2324100"/>
            <a:ext cx="2152650" cy="1619250"/>
          </a:xfrm>
          <a:prstGeom xmlns:a="http://schemas.openxmlformats.org/drawingml/2006/main" prst="roundRect">
            <a:avLst>
              <a:gd name="adj" fmla="val 7059"/>
            </a:avLst>
          </a:prstGeom>
          <a:solidFill xmlns:a="http://schemas.openxmlformats.org/drawingml/2006/main">
            <a:srgbClr val="0A100E"/>
          </a:solidFill>
          <a:ln xmlns:a="http://schemas.openxmlformats.org/drawingml/2006/main" w="9525">
            <a:solidFill>
              <a:srgbClr val="35D6FF"/>
            </a:solidFill>
            <a:prstDash val="solid"/>
          </a:ln>
        </p:spPr>
      </p:sp>
      <p:sp>
        <p:nvSpPr>
          <p:cNvPr id="26" name="">
            <a:extLst xmlns:a="http://schemas.openxmlformats.org/drawingml/2006/main">
              <a:ext uri="{FF2B5EF4-FFF2-40B4-BE49-F238E27FC236}">
                <a16:creationId xmlns:a16="http://schemas.microsoft.com/office/drawing/2014/main" id="{52DF8E46-1D9A-41BE-830D-ECFA9EB6F35C}"/>
              </a:ext>
            </a:extLst>
          </p:cNvPr>
          <p:cNvSpPr>
            <a:spLocks xmlns:a="http://schemas.openxmlformats.org/drawingml/2006/main" noGrp="1"/>
          </p:cNvSpPr>
          <p:nvPr/>
        </p:nvSpPr>
        <p:spPr>
          <a:xfrm xmlns:a="http://schemas.openxmlformats.org/drawingml/2006/main">
            <a:off x="781050" y="25336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1">
                <a:solidFill>
                  <a:srgbClr val="35D6FF"/>
                </a:solidFill>
                <a:latin typeface="Courier New"/>
                <a:ea typeface="Courier New"/>
                <a:cs typeface="Courier New"/>
              </a:defRPr>
            </a:pPr>
            <a:r>
              <a:rPr sz="1350" b="1">
                <a:solidFill>
                  <a:srgbClr val="35D6FF"/>
                </a:solidFill>
                <a:latin typeface="Courier New"/>
                <a:ea typeface="Courier New"/>
                <a:cs typeface="Courier New"/>
              </a:rPr>
              <a:t>ANY MCP CLIENT</a:t>
            </a:r>
          </a:p>
        </p:txBody>
      </p:sp>
      <p:sp>
        <p:nvSpPr>
          <p:cNvPr id="27" name="">
            <a:extLst xmlns:a="http://schemas.openxmlformats.org/drawingml/2006/main">
              <a:ext uri="{FF2B5EF4-FFF2-40B4-BE49-F238E27FC236}">
                <a16:creationId xmlns:a16="http://schemas.microsoft.com/office/drawing/2014/main" id="{93A3A267-FC79-459D-94E4-60316143465F}"/>
              </a:ext>
            </a:extLst>
          </p:cNvPr>
          <p:cNvSpPr>
            <a:spLocks xmlns:a="http://schemas.openxmlformats.org/drawingml/2006/main" noGrp="1"/>
          </p:cNvSpPr>
          <p:nvPr/>
        </p:nvSpPr>
        <p:spPr>
          <a:xfrm xmlns:a="http://schemas.openxmlformats.org/drawingml/2006/main">
            <a:off x="781050" y="300990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3479"/>
          </a:bodyPr>
          <a:lstStyle xmlns:a="http://schemas.openxmlformats.org/drawingml/2006/main"/>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Claude · Cursor · VS Code</a:t>
            </a:r>
          </a:p>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Codex · Gemini · ChatGPT</a:t>
            </a:r>
          </a:p>
        </p:txBody>
      </p:sp>
      <p:sp>
        <p:nvSpPr>
          <p:cNvPr id="28" name="">
            <a:extLst xmlns:a="http://schemas.openxmlformats.org/drawingml/2006/main">
              <a:ext uri="{FF2B5EF4-FFF2-40B4-BE49-F238E27FC236}">
                <a16:creationId xmlns:a16="http://schemas.microsoft.com/office/drawing/2014/main" id="{11D9CC76-80AA-4B2F-B86D-F887AB7D04C2}"/>
              </a:ext>
            </a:extLst>
          </p:cNvPr>
          <p:cNvSpPr>
            <a:spLocks xmlns:a="http://schemas.openxmlformats.org/drawingml/2006/main" noGrp="1"/>
          </p:cNvSpPr>
          <p:nvPr/>
        </p:nvSpPr>
        <p:spPr>
          <a:xfrm xmlns:a="http://schemas.openxmlformats.org/drawingml/2006/main">
            <a:off x="2914650" y="2857500"/>
            <a:ext cx="342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3000" b="0">
                <a:solidFill>
                  <a:srgbClr val="5C7368"/>
                </a:solidFill>
                <a:latin typeface="Courier New"/>
                <a:ea typeface="Courier New"/>
                <a:cs typeface="Courier New"/>
              </a:defRPr>
            </a:pPr>
            <a:r>
              <a:rPr sz="3000" b="0">
                <a:solidFill>
                  <a:srgbClr val="5C7368"/>
                </a:solidFill>
                <a:latin typeface="Courier New"/>
                <a:ea typeface="Courier New"/>
                <a:cs typeface="Courier New"/>
              </a:rPr>
              <a:t>›</a:t>
            </a:r>
          </a:p>
        </p:txBody>
      </p:sp>
      <p:sp>
        <p:nvSpPr>
          <p:cNvPr id="29" name="">
            <a:extLst xmlns:a="http://schemas.openxmlformats.org/drawingml/2006/main">
              <a:ext uri="{FF2B5EF4-FFF2-40B4-BE49-F238E27FC236}">
                <a16:creationId xmlns:a16="http://schemas.microsoft.com/office/drawing/2014/main" id="{5FA9C66C-692D-4099-876B-A87CBC2D0AC0}"/>
              </a:ext>
            </a:extLst>
          </p:cNvPr>
          <p:cNvSpPr>
            <a:spLocks xmlns:a="http://schemas.openxmlformats.org/drawingml/2006/main" noGrp="1"/>
          </p:cNvSpPr>
          <p:nvPr/>
        </p:nvSpPr>
        <p:spPr>
          <a:xfrm xmlns:a="http://schemas.openxmlformats.org/drawingml/2006/main">
            <a:off x="3333750" y="2324100"/>
            <a:ext cx="2324100" cy="1619250"/>
          </a:xfrm>
          <a:prstGeom xmlns:a="http://schemas.openxmlformats.org/drawingml/2006/main" prst="roundRect">
            <a:avLst>
              <a:gd name="adj" fmla="val 7059"/>
            </a:avLst>
          </a:prstGeom>
          <a:solidFill xmlns:a="http://schemas.openxmlformats.org/drawingml/2006/main">
            <a:srgbClr val="0A100E"/>
          </a:solidFill>
          <a:ln xmlns:a="http://schemas.openxmlformats.org/drawingml/2006/main" w="9525">
            <a:solidFill>
              <a:srgbClr val="3DF59A"/>
            </a:solidFill>
            <a:prstDash val="solid"/>
          </a:ln>
        </p:spPr>
      </p:sp>
      <p:sp>
        <p:nvSpPr>
          <p:cNvPr id="30" name="">
            <a:extLst xmlns:a="http://schemas.openxmlformats.org/drawingml/2006/main">
              <a:ext uri="{FF2B5EF4-FFF2-40B4-BE49-F238E27FC236}">
                <a16:creationId xmlns:a16="http://schemas.microsoft.com/office/drawing/2014/main" id="{933FED20-1449-4541-A380-BFC7772F44C7}"/>
              </a:ext>
            </a:extLst>
          </p:cNvPr>
          <p:cNvSpPr>
            <a:spLocks xmlns:a="http://schemas.openxmlformats.org/drawingml/2006/main" noGrp="1"/>
          </p:cNvSpPr>
          <p:nvPr/>
        </p:nvSpPr>
        <p:spPr>
          <a:xfrm xmlns:a="http://schemas.openxmlformats.org/drawingml/2006/main">
            <a:off x="3505200" y="2533650"/>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1">
                <a:solidFill>
                  <a:srgbClr val="3DF59A"/>
                </a:solidFill>
                <a:latin typeface="Courier New"/>
                <a:ea typeface="Courier New"/>
                <a:cs typeface="Courier New"/>
              </a:defRPr>
            </a:pPr>
            <a:r>
              <a:rPr sz="1350" b="1">
                <a:solidFill>
                  <a:srgbClr val="3DF59A"/>
                </a:solidFill>
                <a:latin typeface="Courier New"/>
                <a:ea typeface="Courier New"/>
                <a:cs typeface="Courier New"/>
              </a:rPr>
              <a:t>ASKCHING</a:t>
            </a:r>
          </a:p>
        </p:txBody>
      </p:sp>
      <p:sp>
        <p:nvSpPr>
          <p:cNvPr id="31" name="">
            <a:extLst xmlns:a="http://schemas.openxmlformats.org/drawingml/2006/main">
              <a:ext uri="{FF2B5EF4-FFF2-40B4-BE49-F238E27FC236}">
                <a16:creationId xmlns:a16="http://schemas.microsoft.com/office/drawing/2014/main" id="{3B793015-6F2B-4D03-8B68-38309C6FFCB2}"/>
              </a:ext>
            </a:extLst>
          </p:cNvPr>
          <p:cNvSpPr>
            <a:spLocks xmlns:a="http://schemas.openxmlformats.org/drawingml/2006/main" noGrp="1"/>
          </p:cNvSpPr>
          <p:nvPr/>
        </p:nvSpPr>
        <p:spPr>
          <a:xfrm xmlns:a="http://schemas.openxmlformats.org/drawingml/2006/main">
            <a:off x="3505200" y="3009900"/>
            <a:ext cx="1981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7 tools</a:t>
            </a:r>
          </a:p>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normalization + evidence gates</a:t>
            </a:r>
          </a:p>
        </p:txBody>
      </p:sp>
      <p:sp>
        <p:nvSpPr>
          <p:cNvPr id="32" name="">
            <a:extLst xmlns:a="http://schemas.openxmlformats.org/drawingml/2006/main">
              <a:ext uri="{FF2B5EF4-FFF2-40B4-BE49-F238E27FC236}">
                <a16:creationId xmlns:a16="http://schemas.microsoft.com/office/drawing/2014/main" id="{943C0CDF-99DA-44A9-A497-41E2E7040348}"/>
              </a:ext>
            </a:extLst>
          </p:cNvPr>
          <p:cNvSpPr>
            <a:spLocks xmlns:a="http://schemas.openxmlformats.org/drawingml/2006/main" noGrp="1"/>
          </p:cNvSpPr>
          <p:nvPr/>
        </p:nvSpPr>
        <p:spPr>
          <a:xfrm xmlns:a="http://schemas.openxmlformats.org/drawingml/2006/main">
            <a:off x="5810250" y="2857500"/>
            <a:ext cx="342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3000" b="0">
                <a:solidFill>
                  <a:srgbClr val="5C7368"/>
                </a:solidFill>
                <a:latin typeface="Courier New"/>
                <a:ea typeface="Courier New"/>
                <a:cs typeface="Courier New"/>
              </a:defRPr>
            </a:pPr>
            <a:r>
              <a:rPr sz="3000" b="0">
                <a:solidFill>
                  <a:srgbClr val="5C7368"/>
                </a:solidFill>
                <a:latin typeface="Courier New"/>
                <a:ea typeface="Courier New"/>
                <a:cs typeface="Courier New"/>
              </a:rPr>
              <a:t>›</a:t>
            </a:r>
          </a:p>
        </p:txBody>
      </p:sp>
      <p:sp>
        <p:nvSpPr>
          <p:cNvPr id="33" name="">
            <a:extLst xmlns:a="http://schemas.openxmlformats.org/drawingml/2006/main">
              <a:ext uri="{FF2B5EF4-FFF2-40B4-BE49-F238E27FC236}">
                <a16:creationId xmlns:a16="http://schemas.microsoft.com/office/drawing/2014/main" id="{45D9DC16-B592-4130-A00C-D243851D6412}"/>
              </a:ext>
            </a:extLst>
          </p:cNvPr>
          <p:cNvSpPr>
            <a:spLocks xmlns:a="http://schemas.openxmlformats.org/drawingml/2006/main" noGrp="1"/>
          </p:cNvSpPr>
          <p:nvPr/>
        </p:nvSpPr>
        <p:spPr>
          <a:xfrm xmlns:a="http://schemas.openxmlformats.org/drawingml/2006/main">
            <a:off x="6229350" y="2324100"/>
            <a:ext cx="2324100" cy="1619250"/>
          </a:xfrm>
          <a:prstGeom xmlns:a="http://schemas.openxmlformats.org/drawingml/2006/main" prst="roundRect">
            <a:avLst>
              <a:gd name="adj" fmla="val 7059"/>
            </a:avLst>
          </a:prstGeom>
          <a:solidFill xmlns:a="http://schemas.openxmlformats.org/drawingml/2006/main">
            <a:srgbClr val="0A100E"/>
          </a:solidFill>
          <a:ln xmlns:a="http://schemas.openxmlformats.org/drawingml/2006/main" w="9525">
            <a:solidFill>
              <a:srgbClr val="35D6FF"/>
            </a:solidFill>
            <a:prstDash val="solid"/>
          </a:ln>
        </p:spPr>
      </p:sp>
      <p:sp>
        <p:nvSpPr>
          <p:cNvPr id="34" name="">
            <a:extLst xmlns:a="http://schemas.openxmlformats.org/drawingml/2006/main">
              <a:ext uri="{FF2B5EF4-FFF2-40B4-BE49-F238E27FC236}">
                <a16:creationId xmlns:a16="http://schemas.microsoft.com/office/drawing/2014/main" id="{165EA7FF-9737-4465-BE78-6E999ACC3B9F}"/>
              </a:ext>
            </a:extLst>
          </p:cNvPr>
          <p:cNvSpPr>
            <a:spLocks xmlns:a="http://schemas.openxmlformats.org/drawingml/2006/main" noGrp="1"/>
          </p:cNvSpPr>
          <p:nvPr/>
        </p:nvSpPr>
        <p:spPr>
          <a:xfrm xmlns:a="http://schemas.openxmlformats.org/drawingml/2006/main">
            <a:off x="6400800" y="2533650"/>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1">
                <a:solidFill>
                  <a:srgbClr val="35D6FF"/>
                </a:solidFill>
                <a:latin typeface="Courier New"/>
                <a:ea typeface="Courier New"/>
                <a:cs typeface="Courier New"/>
              </a:defRPr>
            </a:pPr>
            <a:r>
              <a:rPr sz="1350" b="1">
                <a:solidFill>
                  <a:srgbClr val="35D6FF"/>
                </a:solidFill>
                <a:latin typeface="Courier New"/>
                <a:ea typeface="Courier New"/>
                <a:cs typeface="Courier New"/>
              </a:rPr>
              <a:t>THE GRAPH</a:t>
            </a:r>
          </a:p>
        </p:txBody>
      </p:sp>
      <p:sp>
        <p:nvSpPr>
          <p:cNvPr id="35" name="">
            <a:extLst xmlns:a="http://schemas.openxmlformats.org/drawingml/2006/main">
              <a:ext uri="{FF2B5EF4-FFF2-40B4-BE49-F238E27FC236}">
                <a16:creationId xmlns:a16="http://schemas.microsoft.com/office/drawing/2014/main" id="{6499BA2B-9F43-479E-B09E-6FD0B53399A7}"/>
              </a:ext>
            </a:extLst>
          </p:cNvPr>
          <p:cNvSpPr>
            <a:spLocks xmlns:a="http://schemas.openxmlformats.org/drawingml/2006/main" noGrp="1"/>
          </p:cNvSpPr>
          <p:nvPr/>
        </p:nvSpPr>
        <p:spPr>
          <a:xfrm xmlns:a="http://schemas.openxmlformats.org/drawingml/2006/main">
            <a:off x="6400800" y="3009900"/>
            <a:ext cx="1981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Gateway</a:t>
            </a:r>
          </a:p>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Messari subgraph schemas</a:t>
            </a:r>
          </a:p>
        </p:txBody>
      </p:sp>
      <p:sp>
        <p:nvSpPr>
          <p:cNvPr id="36" name="">
            <a:extLst xmlns:a="http://schemas.openxmlformats.org/drawingml/2006/main">
              <a:ext uri="{FF2B5EF4-FFF2-40B4-BE49-F238E27FC236}">
                <a16:creationId xmlns:a16="http://schemas.microsoft.com/office/drawing/2014/main" id="{C50C7E48-35C6-4434-AB9B-09A3AC093084}"/>
              </a:ext>
            </a:extLst>
          </p:cNvPr>
          <p:cNvSpPr>
            <a:spLocks xmlns:a="http://schemas.openxmlformats.org/drawingml/2006/main" noGrp="1"/>
          </p:cNvSpPr>
          <p:nvPr/>
        </p:nvSpPr>
        <p:spPr>
          <a:xfrm xmlns:a="http://schemas.openxmlformats.org/drawingml/2006/main">
            <a:off x="8705850" y="2857500"/>
            <a:ext cx="342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3000" b="0">
                <a:solidFill>
                  <a:srgbClr val="5C7368"/>
                </a:solidFill>
                <a:latin typeface="Courier New"/>
                <a:ea typeface="Courier New"/>
                <a:cs typeface="Courier New"/>
              </a:defRPr>
            </a:pPr>
            <a:r>
              <a:rPr sz="3000" b="0">
                <a:solidFill>
                  <a:srgbClr val="5C7368"/>
                </a:solidFill>
                <a:latin typeface="Courier New"/>
                <a:ea typeface="Courier New"/>
                <a:cs typeface="Courier New"/>
              </a:rPr>
              <a:t>›</a:t>
            </a:r>
          </a:p>
        </p:txBody>
      </p:sp>
      <p:sp>
        <p:nvSpPr>
          <p:cNvPr id="37" name="">
            <a:extLst xmlns:a="http://schemas.openxmlformats.org/drawingml/2006/main">
              <a:ext uri="{FF2B5EF4-FFF2-40B4-BE49-F238E27FC236}">
                <a16:creationId xmlns:a16="http://schemas.microsoft.com/office/drawing/2014/main" id="{6068410F-33FF-4EEE-A28B-B8B6D7CA02F8}"/>
              </a:ext>
            </a:extLst>
          </p:cNvPr>
          <p:cNvSpPr>
            <a:spLocks xmlns:a="http://schemas.openxmlformats.org/drawingml/2006/main" noGrp="1"/>
          </p:cNvSpPr>
          <p:nvPr/>
        </p:nvSpPr>
        <p:spPr>
          <a:xfrm xmlns:a="http://schemas.openxmlformats.org/drawingml/2006/main">
            <a:off x="9124950" y="2324100"/>
            <a:ext cx="2457450" cy="1619250"/>
          </a:xfrm>
          <a:prstGeom xmlns:a="http://schemas.openxmlformats.org/drawingml/2006/main" prst="roundRect">
            <a:avLst>
              <a:gd name="adj" fmla="val 7059"/>
            </a:avLst>
          </a:prstGeom>
          <a:solidFill xmlns:a="http://schemas.openxmlformats.org/drawingml/2006/main">
            <a:srgbClr val="0A100E"/>
          </a:solidFill>
          <a:ln xmlns:a="http://schemas.openxmlformats.org/drawingml/2006/main" w="9525">
            <a:solidFill>
              <a:srgbClr val="3DF59A"/>
            </a:solidFill>
            <a:prstDash val="solid"/>
          </a:ln>
        </p:spPr>
      </p:sp>
      <p:sp>
        <p:nvSpPr>
          <p:cNvPr id="38" name="">
            <a:extLst xmlns:a="http://schemas.openxmlformats.org/drawingml/2006/main">
              <a:ext uri="{FF2B5EF4-FFF2-40B4-BE49-F238E27FC236}">
                <a16:creationId xmlns:a16="http://schemas.microsoft.com/office/drawing/2014/main" id="{E8EEF621-FF61-427D-B018-72F7AEA13082}"/>
              </a:ext>
            </a:extLst>
          </p:cNvPr>
          <p:cNvSpPr>
            <a:spLocks xmlns:a="http://schemas.openxmlformats.org/drawingml/2006/main" noGrp="1"/>
          </p:cNvSpPr>
          <p:nvPr/>
        </p:nvSpPr>
        <p:spPr>
          <a:xfrm xmlns:a="http://schemas.openxmlformats.org/drawingml/2006/main">
            <a:off x="9296400" y="25336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1">
                <a:solidFill>
                  <a:srgbClr val="3DF59A"/>
                </a:solidFill>
                <a:latin typeface="Courier New"/>
                <a:ea typeface="Courier New"/>
                <a:cs typeface="Courier New"/>
              </a:defRPr>
            </a:pPr>
            <a:r>
              <a:rPr sz="1350" b="1">
                <a:solidFill>
                  <a:srgbClr val="3DF59A"/>
                </a:solidFill>
                <a:latin typeface="Courier New"/>
                <a:ea typeface="Courier New"/>
                <a:cs typeface="Courier New"/>
              </a:rPr>
              <a:t>6 LIVE SOURCES</a:t>
            </a:r>
          </a:p>
        </p:txBody>
      </p:sp>
      <p:sp>
        <p:nvSpPr>
          <p:cNvPr id="39" name="">
            <a:extLst xmlns:a="http://schemas.openxmlformats.org/drawingml/2006/main">
              <a:ext uri="{FF2B5EF4-FFF2-40B4-BE49-F238E27FC236}">
                <a16:creationId xmlns:a16="http://schemas.microsoft.com/office/drawing/2014/main" id="{92EE2654-EE90-464A-8F55-6D228A821535}"/>
              </a:ext>
            </a:extLst>
          </p:cNvPr>
          <p:cNvSpPr>
            <a:spLocks xmlns:a="http://schemas.openxmlformats.org/drawingml/2006/main" noGrp="1"/>
          </p:cNvSpPr>
          <p:nvPr/>
        </p:nvSpPr>
        <p:spPr>
          <a:xfrm xmlns:a="http://schemas.openxmlformats.org/drawingml/2006/main">
            <a:off x="9296400" y="3009900"/>
            <a:ext cx="2114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4 lending + 2 DEX</a:t>
            </a:r>
          </a:p>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Ethereum mainnet</a:t>
            </a:r>
          </a:p>
        </p:txBody>
      </p:sp>
      <p:sp>
        <p:nvSpPr>
          <p:cNvPr id="40" name="">
            <a:extLst xmlns:a="http://schemas.openxmlformats.org/drawingml/2006/main">
              <a:ext uri="{FF2B5EF4-FFF2-40B4-BE49-F238E27FC236}">
                <a16:creationId xmlns:a16="http://schemas.microsoft.com/office/drawing/2014/main" id="{0A4F1F58-AF43-4258-9AAA-4B833031A501}"/>
              </a:ext>
            </a:extLst>
          </p:cNvPr>
          <p:cNvSpPr>
            <a:spLocks xmlns:a="http://schemas.openxmlformats.org/drawingml/2006/main" noGrp="1"/>
          </p:cNvSpPr>
          <p:nvPr/>
        </p:nvSpPr>
        <p:spPr>
          <a:xfrm xmlns:a="http://schemas.openxmlformats.org/drawingml/2006/main">
            <a:off x="3333750" y="4362450"/>
            <a:ext cx="5219700" cy="857250"/>
          </a:xfrm>
          <a:prstGeom xmlns:a="http://schemas.openxmlformats.org/drawingml/2006/main" prst="roundRect">
            <a:avLst>
              <a:gd name="adj" fmla="val 11111"/>
            </a:avLst>
          </a:prstGeom>
          <a:solidFill xmlns:a="http://schemas.openxmlformats.org/drawingml/2006/main">
            <a:srgbClr val="020304"/>
          </a:solidFill>
          <a:ln xmlns:a="http://schemas.openxmlformats.org/drawingml/2006/main" w="9525">
            <a:solidFill>
              <a:srgbClr val="1D2B24"/>
            </a:solidFill>
            <a:prstDash val="solid"/>
          </a:ln>
        </p:spPr>
      </p:sp>
      <p:sp>
        <p:nvSpPr>
          <p:cNvPr id="41" name="">
            <a:extLst xmlns:a="http://schemas.openxmlformats.org/drawingml/2006/main">
              <a:ext uri="{FF2B5EF4-FFF2-40B4-BE49-F238E27FC236}">
                <a16:creationId xmlns:a16="http://schemas.microsoft.com/office/drawing/2014/main" id="{39825A25-6B11-4BB6-AECE-833CD53726CC}"/>
              </a:ext>
            </a:extLst>
          </p:cNvPr>
          <p:cNvSpPr>
            <a:spLocks xmlns:a="http://schemas.openxmlformats.org/drawingml/2006/main" noGrp="1"/>
          </p:cNvSpPr>
          <p:nvPr/>
        </p:nvSpPr>
        <p:spPr>
          <a:xfrm xmlns:a="http://schemas.openxmlformats.org/drawingml/2006/main">
            <a:off x="3543300" y="4552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FF5AA0"/>
                </a:solidFill>
                <a:latin typeface="Courier New"/>
                <a:ea typeface="Courier New"/>
                <a:cs typeface="Courier New"/>
              </a:defRPr>
            </a:pPr>
            <a:r>
              <a:rPr sz="1200" b="1">
                <a:solidFill>
                  <a:srgbClr val="FF5AA0"/>
                </a:solidFill>
                <a:latin typeface="Courier New"/>
                <a:ea typeface="Courier New"/>
                <a:cs typeface="Courier New"/>
              </a:rPr>
              <a:t>GROK DEMO CLI</a:t>
            </a:r>
          </a:p>
        </p:txBody>
      </p:sp>
      <p:sp>
        <p:nvSpPr>
          <p:cNvPr id="42" name="">
            <a:extLst xmlns:a="http://schemas.openxmlformats.org/drawingml/2006/main">
              <a:ext uri="{FF2B5EF4-FFF2-40B4-BE49-F238E27FC236}">
                <a16:creationId xmlns:a16="http://schemas.microsoft.com/office/drawing/2014/main" id="{F8C4B8AB-1AB9-42E1-BB9A-C4B4D9D59776}"/>
              </a:ext>
            </a:extLst>
          </p:cNvPr>
          <p:cNvSpPr>
            <a:spLocks xmlns:a="http://schemas.openxmlformats.org/drawingml/2006/main" noGrp="1"/>
          </p:cNvSpPr>
          <p:nvPr/>
        </p:nvSpPr>
        <p:spPr>
          <a:xfrm xmlns:a="http://schemas.openxmlformats.org/drawingml/2006/main">
            <a:off x="5410200" y="4514850"/>
            <a:ext cx="2914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8AA79A"/>
                </a:solidFill>
                <a:latin typeface="Arial"/>
                <a:ea typeface="Arial"/>
                <a:cs typeface="Arial"/>
              </a:defRPr>
            </a:pPr>
            <a:r>
              <a:rPr sz="1275" b="0">
                <a:solidFill>
                  <a:srgbClr val="8AA79A"/>
                </a:solidFill>
                <a:latin typeface="Arial"/>
                <a:ea typeface="Arial"/>
                <a:cs typeface="Arial"/>
              </a:rPr>
              <a:t>Grok interprets the question and selects an AskChing tool.</a:t>
            </a:r>
          </a:p>
        </p:txBody>
      </p:sp>
      <p:sp>
        <p:nvSpPr>
          <p:cNvPr id="43" name="">
            <a:extLst xmlns:a="http://schemas.openxmlformats.org/drawingml/2006/main">
              <a:ext uri="{FF2B5EF4-FFF2-40B4-BE49-F238E27FC236}">
                <a16:creationId xmlns:a16="http://schemas.microsoft.com/office/drawing/2014/main" id="{1E96AFDF-0DAB-466B-87F6-DFAF362FE038}"/>
              </a:ext>
            </a:extLst>
          </p:cNvPr>
          <p:cNvSpPr>
            <a:spLocks xmlns:a="http://schemas.openxmlformats.org/drawingml/2006/main" noGrp="1"/>
          </p:cNvSpPr>
          <p:nvPr/>
        </p:nvSpPr>
        <p:spPr>
          <a:xfrm xmlns:a="http://schemas.openxmlformats.org/drawingml/2006/main">
            <a:off x="3333750" y="5543550"/>
            <a:ext cx="521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3DF59A"/>
                </a:solidFill>
                <a:latin typeface="Arial"/>
                <a:ea typeface="Arial"/>
                <a:cs typeface="Arial"/>
              </a:defRPr>
            </a:pPr>
            <a:r>
              <a:rPr sz="1650" b="1">
                <a:solidFill>
                  <a:srgbClr val="3DF59A"/>
                </a:solidFill>
                <a:latin typeface="Arial"/>
                <a:ea typeface="Arial"/>
                <a:cs typeface="Arial"/>
              </a:rPr>
              <a:t>The MCP server remains model-independent.</a:t>
            </a:r>
          </a:p>
        </p:txBody>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1b65f7282e254dbb"/>
          <a:stretch xmlns:a="http://schemas.openxmlformats.org/drawingml/2006/main"/>
        </p:blipFill>
        <p:spPr>
          <a:xfrm xmlns:a="http://schemas.openxmlformats.org/drawingml/2006/main">
            <a:off x="10287000" y="4762500"/>
            <a:ext cx="914400" cy="91440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E2AE3D50-862A-4E7B-989A-00B72DCA51B1}"/>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6" name="">
            <a:extLst xmlns:a="http://schemas.openxmlformats.org/drawingml/2006/main">
              <a:ext uri="{FF2B5EF4-FFF2-40B4-BE49-F238E27FC236}">
                <a16:creationId xmlns:a16="http://schemas.microsoft.com/office/drawing/2014/main" id="{0A51B888-C0FD-46D7-AAD9-28EA6F075D56}"/>
              </a:ext>
            </a:extLst>
          </p:cNvPr>
          <p:cNvSpPr>
            <a:spLocks xmlns:a="http://schemas.openxmlformats.org/drawingml/2006/main" noGrp="1"/>
          </p:cNvSpPr>
          <p:nvPr/>
        </p:nvSpPr>
        <p:spPr>
          <a:xfrm xmlns:a="http://schemas.openxmlformats.org/drawingml/2006/main">
            <a:off x="609600" y="65341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5C7368"/>
                </a:solidFill>
                <a:latin typeface="Courier New"/>
                <a:ea typeface="Courier New"/>
                <a:cs typeface="Courier New"/>
              </a:defRPr>
            </a:pPr>
            <a:r>
              <a:rPr sz="750" b="0">
                <a:solidFill>
                  <a:srgbClr val="5C7368"/>
                </a:solidFill>
                <a:latin typeface="Courier New"/>
                <a:ea typeface="Courier New"/>
                <a:cs typeface="Courier New"/>
              </a:rPr>
              <a:t>ASKCHING · ETHONLINE 2026</a:t>
            </a:r>
          </a:p>
        </p:txBody>
      </p:sp>
      <p:sp>
        <p:nvSpPr>
          <p:cNvPr id="47" name="">
            <a:extLst xmlns:a="http://schemas.openxmlformats.org/drawingml/2006/main">
              <a:ext uri="{FF2B5EF4-FFF2-40B4-BE49-F238E27FC236}">
                <a16:creationId xmlns:a16="http://schemas.microsoft.com/office/drawing/2014/main" id="{4478CC6C-13AF-4E7F-93E2-E1F149F483AD}"/>
              </a:ext>
            </a:extLst>
          </p:cNvPr>
          <p:cNvSpPr>
            <a:spLocks xmlns:a="http://schemas.openxmlformats.org/drawingml/2006/main" noGrp="1"/>
          </p:cNvSpPr>
          <p:nvPr/>
        </p:nvSpPr>
        <p:spPr>
          <a:xfrm xmlns:a="http://schemas.openxmlformats.org/drawingml/2006/main">
            <a:off x="11049000" y="65341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35D6FF"/>
                </a:solidFill>
                <a:latin typeface="Courier New"/>
                <a:ea typeface="Courier New"/>
                <a:cs typeface="Courier New"/>
              </a:defRPr>
            </a:pPr>
            <a:r>
              <a:rPr sz="750" b="0">
                <a:solidFill>
                  <a:srgbClr val="35D6FF"/>
                </a:solidFill>
                <a:latin typeface="Courier New"/>
                <a:ea typeface="Courier New"/>
                <a:cs typeface="Courier New"/>
              </a:rPr>
              <a:t>03</a:t>
            </a:r>
          </a:p>
        </p:txBody>
      </p:sp>
    </p:spTree>
    <p:extLst>
      <p:ext uri="{BB962C8B-B14F-4D97-AF65-F5344CB8AC3E}">
        <p14:creationId xmlns:p14="http://schemas.microsoft.com/office/powerpoint/2010/main" val="446095347"/>
      </p:ext>
    </p:extLst>
  </p:cSld>
</p:sld>
</file>

<file path=ppt/slides/slide4.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F29BFD7D-E1A0-4ABF-BF92-EDD23978DF11}"/>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 name="">
            <a:extLst xmlns:a="http://schemas.openxmlformats.org/drawingml/2006/main">
              <a:ext uri="{FF2B5EF4-FFF2-40B4-BE49-F238E27FC236}">
                <a16:creationId xmlns:a16="http://schemas.microsoft.com/office/drawing/2014/main" id="{BF3E0CE7-EFE0-4F4B-9DD6-F08F0BEE94E9}"/>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3" name="">
            <a:extLst xmlns:a="http://schemas.openxmlformats.org/drawingml/2006/main">
              <a:ext uri="{FF2B5EF4-FFF2-40B4-BE49-F238E27FC236}">
                <a16:creationId xmlns:a16="http://schemas.microsoft.com/office/drawing/2014/main" id="{D276F0F7-BB19-418C-A8DA-483777CA196B}"/>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4" name="">
            <a:extLst xmlns:a="http://schemas.openxmlformats.org/drawingml/2006/main">
              <a:ext uri="{FF2B5EF4-FFF2-40B4-BE49-F238E27FC236}">
                <a16:creationId xmlns:a16="http://schemas.microsoft.com/office/drawing/2014/main" id="{DE5804DD-93C5-4818-AC7A-BC73A4C1610E}"/>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5" name="">
            <a:extLst xmlns:a="http://schemas.openxmlformats.org/drawingml/2006/main">
              <a:ext uri="{FF2B5EF4-FFF2-40B4-BE49-F238E27FC236}">
                <a16:creationId xmlns:a16="http://schemas.microsoft.com/office/drawing/2014/main" id="{5059366C-C660-4808-870A-D5DDE58D35E8}"/>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6" name="">
            <a:extLst xmlns:a="http://schemas.openxmlformats.org/drawingml/2006/main">
              <a:ext uri="{FF2B5EF4-FFF2-40B4-BE49-F238E27FC236}">
                <a16:creationId xmlns:a16="http://schemas.microsoft.com/office/drawing/2014/main" id="{1D8457EA-625E-4954-8A1D-09E13E457AB9}"/>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7" name="">
            <a:extLst xmlns:a="http://schemas.openxmlformats.org/drawingml/2006/main">
              <a:ext uri="{FF2B5EF4-FFF2-40B4-BE49-F238E27FC236}">
                <a16:creationId xmlns:a16="http://schemas.microsoft.com/office/drawing/2014/main" id="{385FF419-80E0-4E52-B194-8E378FFF9392}"/>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8" name="">
            <a:extLst xmlns:a="http://schemas.openxmlformats.org/drawingml/2006/main">
              <a:ext uri="{FF2B5EF4-FFF2-40B4-BE49-F238E27FC236}">
                <a16:creationId xmlns:a16="http://schemas.microsoft.com/office/drawing/2014/main" id="{47FFB390-B25C-4933-BFFB-A0AB92615998}"/>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9" name="">
            <a:extLst xmlns:a="http://schemas.openxmlformats.org/drawingml/2006/main">
              <a:ext uri="{FF2B5EF4-FFF2-40B4-BE49-F238E27FC236}">
                <a16:creationId xmlns:a16="http://schemas.microsoft.com/office/drawing/2014/main" id="{D44CC86E-1FC8-4E9C-A99B-D2B462EFD52D}"/>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0" name="">
            <a:extLst xmlns:a="http://schemas.openxmlformats.org/drawingml/2006/main">
              <a:ext uri="{FF2B5EF4-FFF2-40B4-BE49-F238E27FC236}">
                <a16:creationId xmlns:a16="http://schemas.microsoft.com/office/drawing/2014/main" id="{3C574234-816C-46DB-B3F9-8A62A90459B9}"/>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1" name="">
            <a:extLst xmlns:a="http://schemas.openxmlformats.org/drawingml/2006/main">
              <a:ext uri="{FF2B5EF4-FFF2-40B4-BE49-F238E27FC236}">
                <a16:creationId xmlns:a16="http://schemas.microsoft.com/office/drawing/2014/main" id="{C6C3E9D8-8C8E-4453-9D0F-4AE9AB384331}"/>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2" name="">
            <a:extLst xmlns:a="http://schemas.openxmlformats.org/drawingml/2006/main">
              <a:ext uri="{FF2B5EF4-FFF2-40B4-BE49-F238E27FC236}">
                <a16:creationId xmlns:a16="http://schemas.microsoft.com/office/drawing/2014/main" id="{71B125A3-D463-4C4D-8318-EB549EA5C7B9}"/>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3" name="">
            <a:extLst xmlns:a="http://schemas.openxmlformats.org/drawingml/2006/main">
              <a:ext uri="{FF2B5EF4-FFF2-40B4-BE49-F238E27FC236}">
                <a16:creationId xmlns:a16="http://schemas.microsoft.com/office/drawing/2014/main" id="{862C442D-D868-455A-95D7-40BCAE01EBEE}"/>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4" name="">
            <a:extLst xmlns:a="http://schemas.openxmlformats.org/drawingml/2006/main">
              <a:ext uri="{FF2B5EF4-FFF2-40B4-BE49-F238E27FC236}">
                <a16:creationId xmlns:a16="http://schemas.microsoft.com/office/drawing/2014/main" id="{D821D558-C358-487A-A975-C6031A46C962}"/>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5" name="">
            <a:extLst xmlns:a="http://schemas.openxmlformats.org/drawingml/2006/main">
              <a:ext uri="{FF2B5EF4-FFF2-40B4-BE49-F238E27FC236}">
                <a16:creationId xmlns:a16="http://schemas.microsoft.com/office/drawing/2014/main" id="{1E9AB11F-612C-480A-8883-00B0D8FF2382}"/>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6" name="">
            <a:extLst xmlns:a="http://schemas.openxmlformats.org/drawingml/2006/main">
              <a:ext uri="{FF2B5EF4-FFF2-40B4-BE49-F238E27FC236}">
                <a16:creationId xmlns:a16="http://schemas.microsoft.com/office/drawing/2014/main" id="{65CE0B99-4930-4042-B43F-41DD467C4D6A}"/>
              </a:ext>
            </a:extLst>
          </p:cNvPr>
          <p:cNvSpPr>
            <a:spLocks xmlns:a="http://schemas.openxmlformats.org/drawingml/2006/main" noGrp="1"/>
          </p:cNvSpPr>
          <p:nvPr/>
        </p:nvSpPr>
        <p:spPr>
          <a:xfrm xmlns:a="http://schemas.openxmlformats.org/drawingml/2006/main">
            <a:off x="0" y="914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7" name="">
            <a:extLst xmlns:a="http://schemas.openxmlformats.org/drawingml/2006/main">
              <a:ext uri="{FF2B5EF4-FFF2-40B4-BE49-F238E27FC236}">
                <a16:creationId xmlns:a16="http://schemas.microsoft.com/office/drawing/2014/main" id="{B88F5ABA-095D-4251-9669-444A585867C2}"/>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8" name="">
            <a:extLst xmlns:a="http://schemas.openxmlformats.org/drawingml/2006/main">
              <a:ext uri="{FF2B5EF4-FFF2-40B4-BE49-F238E27FC236}">
                <a16:creationId xmlns:a16="http://schemas.microsoft.com/office/drawing/2014/main" id="{FE79C651-66DE-4BE8-8036-4055B5BB4D17}"/>
              </a:ext>
            </a:extLst>
          </p:cNvPr>
          <p:cNvSpPr>
            <a:spLocks xmlns:a="http://schemas.openxmlformats.org/drawingml/2006/main" noGrp="1"/>
          </p:cNvSpPr>
          <p:nvPr/>
        </p:nvSpPr>
        <p:spPr>
          <a:xfrm xmlns:a="http://schemas.openxmlformats.org/drawingml/2006/main">
            <a:off x="0" y="27432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9" name="">
            <a:extLst xmlns:a="http://schemas.openxmlformats.org/drawingml/2006/main">
              <a:ext uri="{FF2B5EF4-FFF2-40B4-BE49-F238E27FC236}">
                <a16:creationId xmlns:a16="http://schemas.microsoft.com/office/drawing/2014/main" id="{F0657F7C-7EC2-4D2C-8694-09334F11537E}"/>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0" name="">
            <a:extLst xmlns:a="http://schemas.openxmlformats.org/drawingml/2006/main">
              <a:ext uri="{FF2B5EF4-FFF2-40B4-BE49-F238E27FC236}">
                <a16:creationId xmlns:a16="http://schemas.microsoft.com/office/drawing/2014/main" id="{D7B410BC-EBAA-41DF-84B7-DD7299E690D7}"/>
              </a:ext>
            </a:extLst>
          </p:cNvPr>
          <p:cNvSpPr>
            <a:spLocks xmlns:a="http://schemas.openxmlformats.org/drawingml/2006/main" noGrp="1"/>
          </p:cNvSpPr>
          <p:nvPr/>
        </p:nvSpPr>
        <p:spPr>
          <a:xfrm xmlns:a="http://schemas.openxmlformats.org/drawingml/2006/main">
            <a:off x="0" y="45720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1" name="">
            <a:extLst xmlns:a="http://schemas.openxmlformats.org/drawingml/2006/main">
              <a:ext uri="{FF2B5EF4-FFF2-40B4-BE49-F238E27FC236}">
                <a16:creationId xmlns:a16="http://schemas.microsoft.com/office/drawing/2014/main" id="{4305C06B-8A3C-41E3-A9E8-19218AFF8BF2}"/>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2" name="">
            <a:extLst xmlns:a="http://schemas.openxmlformats.org/drawingml/2006/main">
              <a:ext uri="{FF2B5EF4-FFF2-40B4-BE49-F238E27FC236}">
                <a16:creationId xmlns:a16="http://schemas.microsoft.com/office/drawing/2014/main" id="{BE4EC64A-FB34-474B-A3B7-57E20B82A905}"/>
              </a:ext>
            </a:extLst>
          </p:cNvPr>
          <p:cNvSpPr>
            <a:spLocks xmlns:a="http://schemas.openxmlformats.org/drawingml/2006/main" noGrp="1"/>
          </p:cNvSpPr>
          <p:nvPr/>
        </p:nvSpPr>
        <p:spPr>
          <a:xfrm xmlns:a="http://schemas.openxmlformats.org/drawingml/2006/main">
            <a:off x="0" y="6400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3" name="">
            <a:extLst xmlns:a="http://schemas.openxmlformats.org/drawingml/2006/main">
              <a:ext uri="{FF2B5EF4-FFF2-40B4-BE49-F238E27FC236}">
                <a16:creationId xmlns:a16="http://schemas.microsoft.com/office/drawing/2014/main" id="{7F0E4221-C69B-4B9A-93ED-94FE7FBB3AB2}"/>
              </a:ext>
            </a:extLst>
          </p:cNvPr>
          <p:cNvSpPr>
            <a:spLocks xmlns:a="http://schemas.openxmlformats.org/drawingml/2006/main" noGrp="1"/>
          </p:cNvSpPr>
          <p:nvPr/>
        </p:nvSpPr>
        <p:spPr>
          <a:xfrm xmlns:a="http://schemas.openxmlformats.org/drawingml/2006/main">
            <a:off x="609600" y="361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03 / DEMO</a:t>
            </a:r>
          </a:p>
        </p:txBody>
      </p:sp>
      <p:sp>
        <p:nvSpPr>
          <p:cNvPr id="24" name="">
            <a:extLst xmlns:a="http://schemas.openxmlformats.org/drawingml/2006/main">
              <a:ext uri="{FF2B5EF4-FFF2-40B4-BE49-F238E27FC236}">
                <a16:creationId xmlns:a16="http://schemas.microsoft.com/office/drawing/2014/main" id="{15F048F4-216F-4EF6-9D8C-5E8CB55E61FF}"/>
              </a:ext>
            </a:extLst>
          </p:cNvPr>
          <p:cNvSpPr>
            <a:spLocks xmlns:a="http://schemas.openxmlformats.org/drawingml/2006/main" noGrp="1"/>
          </p:cNvSpPr>
          <p:nvPr/>
        </p:nvSpPr>
        <p:spPr>
          <a:xfrm xmlns:a="http://schemas.openxmlformats.org/drawingml/2006/main">
            <a:off x="609600" y="68580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150" b="1">
                <a:solidFill>
                  <a:srgbClr val="DCF3E5"/>
                </a:solidFill>
                <a:latin typeface="Arial"/>
                <a:ea typeface="Arial"/>
                <a:cs typeface="Arial"/>
              </a:defRPr>
            </a:pPr>
            <a:r>
              <a:rPr sz="3150" b="1">
                <a:solidFill>
                  <a:srgbClr val="DCF3E5"/>
                </a:solidFill>
                <a:latin typeface="Arial"/>
                <a:ea typeface="Arial"/>
                <a:cs typeface="Arial"/>
              </a:rPr>
              <a:t>Live comparison: one question, three cited markets</a:t>
            </a:r>
          </a:p>
        </p:txBody>
      </p:sp>
      <p:sp>
        <p:nvSpPr>
          <p:cNvPr id="25" name="">
            <a:extLst xmlns:a="http://schemas.openxmlformats.org/drawingml/2006/main">
              <a:ext uri="{FF2B5EF4-FFF2-40B4-BE49-F238E27FC236}">
                <a16:creationId xmlns:a16="http://schemas.microsoft.com/office/drawing/2014/main" id="{7A7D9198-38D7-4052-AB06-3A1B30F88F63}"/>
              </a:ext>
            </a:extLst>
          </p:cNvPr>
          <p:cNvSpPr>
            <a:spLocks xmlns:a="http://schemas.openxmlformats.org/drawingml/2006/main" noGrp="1"/>
          </p:cNvSpPr>
          <p:nvPr/>
        </p:nvSpPr>
        <p:spPr>
          <a:xfrm xmlns:a="http://schemas.openxmlformats.org/drawingml/2006/main">
            <a:off x="628650" y="12954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0">
                <a:solidFill>
                  <a:srgbClr val="8AA79A"/>
                </a:solidFill>
                <a:latin typeface="Arial"/>
                <a:ea typeface="Arial"/>
                <a:cs typeface="Arial"/>
              </a:defRPr>
            </a:pPr>
            <a:r>
              <a:rPr sz="1425" b="0">
                <a:solidFill>
                  <a:srgbClr val="8AA79A"/>
                </a:solidFill>
                <a:latin typeface="Arial"/>
                <a:ea typeface="Arial"/>
                <a:cs typeface="Arial"/>
              </a:rPr>
              <a:t>Switch to the deployed app after reading the prompt</a:t>
            </a:r>
          </a:p>
        </p:txBody>
      </p:sp>
      <p:sp>
        <p:nvSpPr>
          <p:cNvPr id="26" name="">
            <a:extLst xmlns:a="http://schemas.openxmlformats.org/drawingml/2006/main">
              <a:ext uri="{FF2B5EF4-FFF2-40B4-BE49-F238E27FC236}">
                <a16:creationId xmlns:a16="http://schemas.microsoft.com/office/drawing/2014/main" id="{1D271BD1-C4D4-4661-8ED0-0E587BF889D3}"/>
              </a:ext>
            </a:extLst>
          </p:cNvPr>
          <p:cNvSpPr>
            <a:spLocks xmlns:a="http://schemas.openxmlformats.org/drawingml/2006/main" noGrp="1"/>
          </p:cNvSpPr>
          <p:nvPr/>
        </p:nvSpPr>
        <p:spPr>
          <a:xfrm xmlns:a="http://schemas.openxmlformats.org/drawingml/2006/main">
            <a:off x="609600" y="1866900"/>
            <a:ext cx="4762500" cy="3429000"/>
          </a:xfrm>
          <a:prstGeom xmlns:a="http://schemas.openxmlformats.org/drawingml/2006/main" prst="roundRect">
            <a:avLst>
              <a:gd name="adj" fmla="val 3889"/>
            </a:avLst>
          </a:prstGeom>
          <a:solidFill xmlns:a="http://schemas.openxmlformats.org/drawingml/2006/main">
            <a:srgbClr val="0A100E"/>
          </a:solidFill>
          <a:ln xmlns:a="http://schemas.openxmlformats.org/drawingml/2006/main" w="9525">
            <a:solidFill>
              <a:srgbClr val="35D6FF"/>
            </a:solidFill>
            <a:prstDash val="solid"/>
          </a:ln>
        </p:spPr>
      </p:sp>
      <p:sp>
        <p:nvSpPr>
          <p:cNvPr id="27" name="">
            <a:extLst xmlns:a="http://schemas.openxmlformats.org/drawingml/2006/main">
              <a:ext uri="{FF2B5EF4-FFF2-40B4-BE49-F238E27FC236}">
                <a16:creationId xmlns:a16="http://schemas.microsoft.com/office/drawing/2014/main" id="{24F544AB-61E5-46B9-B907-EF909B2AE6FD}"/>
              </a:ext>
            </a:extLst>
          </p:cNvPr>
          <p:cNvSpPr>
            <a:spLocks xmlns:a="http://schemas.openxmlformats.org/drawingml/2006/main" noGrp="1"/>
          </p:cNvSpPr>
          <p:nvPr/>
        </p:nvSpPr>
        <p:spPr>
          <a:xfrm xmlns:a="http://schemas.openxmlformats.org/drawingml/2006/main">
            <a:off x="857250" y="21336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5AA0"/>
                </a:solidFill>
                <a:latin typeface="Courier New"/>
                <a:ea typeface="Courier New"/>
                <a:cs typeface="Courier New"/>
              </a:defRPr>
            </a:pPr>
            <a:r>
              <a:rPr sz="1275" b="1">
                <a:solidFill>
                  <a:srgbClr val="FF5AA0"/>
                </a:solidFill>
                <a:latin typeface="Courier New"/>
                <a:ea typeface="Courier New"/>
                <a:cs typeface="Courier New"/>
              </a:rPr>
              <a:t>&gt; compare_markets</a:t>
            </a:r>
          </a:p>
        </p:txBody>
      </p:sp>
      <p:sp>
        <p:nvSpPr>
          <p:cNvPr id="28" name="">
            <a:extLst xmlns:a="http://schemas.openxmlformats.org/drawingml/2006/main">
              <a:ext uri="{FF2B5EF4-FFF2-40B4-BE49-F238E27FC236}">
                <a16:creationId xmlns:a16="http://schemas.microsoft.com/office/drawing/2014/main" id="{7E827FEB-C55C-4D1E-B712-157BAC7089F5}"/>
              </a:ext>
            </a:extLst>
          </p:cNvPr>
          <p:cNvSpPr>
            <a:spLocks xmlns:a="http://schemas.openxmlformats.org/drawingml/2006/main" noGrp="1"/>
          </p:cNvSpPr>
          <p:nvPr/>
        </p:nvSpPr>
        <p:spPr>
          <a:xfrm xmlns:a="http://schemas.openxmlformats.org/drawingml/2006/main">
            <a:off x="857250" y="2667000"/>
            <a:ext cx="4000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770"/>
          </a:bodyPr>
          <a:lstStyle xmlns:a="http://schemas.openxmlformats.org/drawingml/2006/main"/>
          <a:p xmlns:a="http://schemas.openxmlformats.org/drawingml/2006/main">
            <a:pPr algn="l">
              <a:lnSpc>
                <a:spcPct val="115000"/>
              </a:lnSpc>
              <a:buNone/>
              <a:defRPr sz="1875" b="0">
                <a:solidFill>
                  <a:srgbClr val="DCF3E5"/>
                </a:solidFill>
                <a:latin typeface="Courier New"/>
                <a:ea typeface="Courier New"/>
                <a:cs typeface="Courier New"/>
              </a:defRPr>
            </a:pPr>
            <a:r>
              <a:rPr sz="1875" b="0">
                <a:solidFill>
                  <a:srgbClr val="DCF3E5"/>
                </a:solidFill>
                <a:latin typeface="Courier New"/>
                <a:ea typeface="Courier New"/>
                <a:cs typeface="Courier New"/>
              </a:rPr>
              <a:t>Compare live USDC supply APY across Aave V3, Compound V3, and Spark Lend right now. Rank the results, cite each source, and state the as-of time.</a:t>
            </a:r>
          </a:p>
        </p:txBody>
      </p:sp>
      <p:sp>
        <p:nvSpPr>
          <p:cNvPr id="29" name="">
            <a:extLst xmlns:a="http://schemas.openxmlformats.org/drawingml/2006/main">
              <a:ext uri="{FF2B5EF4-FFF2-40B4-BE49-F238E27FC236}">
                <a16:creationId xmlns:a16="http://schemas.microsoft.com/office/drawing/2014/main" id="{C7F39178-3AEE-415A-B85A-CF996528D868}"/>
              </a:ext>
            </a:extLst>
          </p:cNvPr>
          <p:cNvSpPr>
            <a:spLocks xmlns:a="http://schemas.openxmlformats.org/drawingml/2006/main" noGrp="1"/>
          </p:cNvSpPr>
          <p:nvPr/>
        </p:nvSpPr>
        <p:spPr>
          <a:xfrm xmlns:a="http://schemas.openxmlformats.org/drawingml/2006/main">
            <a:off x="857250" y="4629150"/>
            <a:ext cx="4019550" cy="419100"/>
          </a:xfrm>
          <a:prstGeom xmlns:a="http://schemas.openxmlformats.org/drawingml/2006/main" prst="roundRect">
            <a:avLst>
              <a:gd name="adj" fmla="val 18182"/>
            </a:avLst>
          </a:prstGeom>
          <a:solidFill xmlns:a="http://schemas.openxmlformats.org/drawingml/2006/main">
            <a:srgbClr val="020304"/>
          </a:solidFill>
          <a:ln xmlns:a="http://schemas.openxmlformats.org/drawingml/2006/main" w="9525">
            <a:solidFill>
              <a:srgbClr val="3DF59A"/>
            </a:solidFill>
            <a:prstDash val="solid"/>
          </a:ln>
        </p:spPr>
      </p:sp>
      <p:sp>
        <p:nvSpPr>
          <p:cNvPr id="30" name="">
            <a:extLst xmlns:a="http://schemas.openxmlformats.org/drawingml/2006/main">
              <a:ext uri="{FF2B5EF4-FFF2-40B4-BE49-F238E27FC236}">
                <a16:creationId xmlns:a16="http://schemas.microsoft.com/office/drawing/2014/main" id="{FC6CEDC8-DAFE-4655-AB6E-64ADC2034A2B}"/>
              </a:ext>
            </a:extLst>
          </p:cNvPr>
          <p:cNvSpPr>
            <a:spLocks xmlns:a="http://schemas.openxmlformats.org/drawingml/2006/main" noGrp="1"/>
          </p:cNvSpPr>
          <p:nvPr/>
        </p:nvSpPr>
        <p:spPr>
          <a:xfrm xmlns:a="http://schemas.openxmlformats.org/drawingml/2006/main">
            <a:off x="1009650" y="47244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3DF59A"/>
                </a:solidFill>
                <a:latin typeface="Courier New"/>
                <a:ea typeface="Courier New"/>
                <a:cs typeface="Courier New"/>
              </a:defRPr>
            </a:pPr>
            <a:r>
              <a:rPr sz="1275" b="1">
                <a:solidFill>
                  <a:srgbClr val="3DF59A"/>
                </a:solidFill>
                <a:latin typeface="Courier New"/>
                <a:ea typeface="Courier New"/>
                <a:cs typeface="Courier New"/>
              </a:rPr>
              <a:t>▶ SWITCH TO LIVE APP</a:t>
            </a:r>
          </a:p>
        </p:txBody>
      </p:sp>
      <p:sp>
        <p:nvSpPr>
          <p:cNvPr id="31" name="">
            <a:extLst xmlns:a="http://schemas.openxmlformats.org/drawingml/2006/main">
              <a:ext uri="{FF2B5EF4-FFF2-40B4-BE49-F238E27FC236}">
                <a16:creationId xmlns:a16="http://schemas.microsoft.com/office/drawing/2014/main" id="{B96FE7BA-1E60-4FC8-AEFF-1BC64663B0A4}"/>
              </a:ext>
            </a:extLst>
          </p:cNvPr>
          <p:cNvSpPr>
            <a:spLocks xmlns:a="http://schemas.openxmlformats.org/drawingml/2006/main" noGrp="1"/>
          </p:cNvSpPr>
          <p:nvPr/>
        </p:nvSpPr>
        <p:spPr>
          <a:xfrm xmlns:a="http://schemas.openxmlformats.org/drawingml/2006/main">
            <a:off x="5886450" y="1866900"/>
            <a:ext cx="5695950" cy="3200400"/>
          </a:xfrm>
          <a:prstGeom xmlns:a="http://schemas.openxmlformats.org/drawingml/2006/main" prst="roundRect">
            <a:avLst>
              <a:gd name="adj" fmla="val 3571"/>
            </a:avLst>
          </a:prstGeom>
          <a:solidFill xmlns:a="http://schemas.openxmlformats.org/drawingml/2006/main">
            <a:srgbClr val="020304"/>
          </a:solidFill>
          <a:ln xmlns:a="http://schemas.openxmlformats.org/drawingml/2006/main" w="9525">
            <a:solidFill>
              <a:srgbClr val="1D2B24"/>
            </a:solidFill>
            <a:prstDash val="solid"/>
          </a:ln>
        </p:spPr>
      </p:sp>
      <p:sp>
        <p:nvSpPr>
          <p:cNvPr id="32" name="">
            <a:extLst xmlns:a="http://schemas.openxmlformats.org/drawingml/2006/main">
              <a:ext uri="{FF2B5EF4-FFF2-40B4-BE49-F238E27FC236}">
                <a16:creationId xmlns:a16="http://schemas.microsoft.com/office/drawing/2014/main" id="{0FA9C7C9-F030-40F5-80C7-B36DC6C6FEE4}"/>
              </a:ext>
            </a:extLst>
          </p:cNvPr>
          <p:cNvSpPr>
            <a:spLocks xmlns:a="http://schemas.openxmlformats.org/drawingml/2006/main" noGrp="1"/>
          </p:cNvSpPr>
          <p:nvPr/>
        </p:nvSpPr>
        <p:spPr>
          <a:xfrm xmlns:a="http://schemas.openxmlformats.org/drawingml/2006/main">
            <a:off x="5886450" y="1866900"/>
            <a:ext cx="5695950" cy="400050"/>
          </a:xfrm>
          <a:prstGeom xmlns:a="http://schemas.openxmlformats.org/drawingml/2006/main" prst="roundRect">
            <a:avLst>
              <a:gd name="adj" fmla="val 28571"/>
            </a:avLst>
          </a:prstGeom>
          <a:solidFill xmlns:a="http://schemas.openxmlformats.org/drawingml/2006/main">
            <a:srgbClr val="0A100E"/>
          </a:solidFill>
          <a:ln xmlns:a="http://schemas.openxmlformats.org/drawingml/2006/main" w="9525">
            <a:solidFill>
              <a:srgbClr val="1D2B24"/>
            </a:solidFill>
            <a:prstDash val="solid"/>
          </a:ln>
        </p:spPr>
      </p:sp>
      <p:sp>
        <p:nvSpPr>
          <p:cNvPr id="33" name="">
            <a:extLst xmlns:a="http://schemas.openxmlformats.org/drawingml/2006/main">
              <a:ext uri="{FF2B5EF4-FFF2-40B4-BE49-F238E27FC236}">
                <a16:creationId xmlns:a16="http://schemas.microsoft.com/office/drawing/2014/main" id="{D9A2E7C0-D740-4F88-9B4A-3E0BC4306712}"/>
              </a:ext>
            </a:extLst>
          </p:cNvPr>
          <p:cNvSpPr>
            <a:spLocks xmlns:a="http://schemas.openxmlformats.org/drawingml/2006/main" noGrp="1"/>
          </p:cNvSpPr>
          <p:nvPr/>
        </p:nvSpPr>
        <p:spPr>
          <a:xfrm xmlns:a="http://schemas.openxmlformats.org/drawingml/2006/main">
            <a:off x="6076950" y="197167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5C7368"/>
                </a:solidFill>
                <a:latin typeface="Courier New"/>
                <a:ea typeface="Courier New"/>
                <a:cs typeface="Courier New"/>
              </a:defRPr>
            </a:pPr>
            <a:r>
              <a:rPr sz="900" b="0">
                <a:solidFill>
                  <a:srgbClr val="5C7368"/>
                </a:solidFill>
                <a:latin typeface="Courier New"/>
                <a:ea typeface="Courier New"/>
                <a:cs typeface="Courier New"/>
              </a:rPr>
              <a:t>●  ●  ●    askching · grok tool loop</a:t>
            </a:r>
          </a:p>
        </p:txBody>
      </p:sp>
      <p:sp>
        <p:nvSpPr>
          <p:cNvPr id="34" name="">
            <a:extLst xmlns:a="http://schemas.openxmlformats.org/drawingml/2006/main">
              <a:ext uri="{FF2B5EF4-FFF2-40B4-BE49-F238E27FC236}">
                <a16:creationId xmlns:a16="http://schemas.microsoft.com/office/drawing/2014/main" id="{D7DCB6F6-2C1B-4F0A-BF88-8EEC105078AB}"/>
              </a:ext>
            </a:extLst>
          </p:cNvPr>
          <p:cNvSpPr>
            <a:spLocks xmlns:a="http://schemas.openxmlformats.org/drawingml/2006/main" noGrp="1"/>
          </p:cNvSpPr>
          <p:nvPr/>
        </p:nvSpPr>
        <p:spPr>
          <a:xfrm xmlns:a="http://schemas.openxmlformats.org/drawingml/2006/main">
            <a:off x="6153150" y="2533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8AA79A"/>
                </a:solidFill>
                <a:latin typeface="Courier New"/>
                <a:ea typeface="Courier New"/>
                <a:cs typeface="Courier New"/>
              </a:defRPr>
            </a:pPr>
            <a:r>
              <a:rPr sz="1050" b="0">
                <a:solidFill>
                  <a:srgbClr val="8AA79A"/>
                </a:solidFill>
                <a:latin typeface="Courier New"/>
                <a:ea typeface="Courier New"/>
                <a:cs typeface="Courier New"/>
              </a:rPr>
              <a:t>selected tool</a:t>
            </a:r>
          </a:p>
        </p:txBody>
      </p:sp>
      <p:sp>
        <p:nvSpPr>
          <p:cNvPr id="35" name="">
            <a:extLst xmlns:a="http://schemas.openxmlformats.org/drawingml/2006/main">
              <a:ext uri="{FF2B5EF4-FFF2-40B4-BE49-F238E27FC236}">
                <a16:creationId xmlns:a16="http://schemas.microsoft.com/office/drawing/2014/main" id="{F3F1379D-823D-4895-8BA3-BD719ACF16F1}"/>
              </a:ext>
            </a:extLst>
          </p:cNvPr>
          <p:cNvSpPr>
            <a:spLocks xmlns:a="http://schemas.openxmlformats.org/drawingml/2006/main" noGrp="1"/>
          </p:cNvSpPr>
          <p:nvPr/>
        </p:nvSpPr>
        <p:spPr>
          <a:xfrm xmlns:a="http://schemas.openxmlformats.org/drawingml/2006/main">
            <a:off x="7981950" y="25336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5D6FF"/>
                </a:solidFill>
                <a:latin typeface="Courier New"/>
                <a:ea typeface="Courier New"/>
                <a:cs typeface="Courier New"/>
              </a:defRPr>
            </a:pPr>
            <a:r>
              <a:rPr sz="1275" b="1">
                <a:solidFill>
                  <a:srgbClr val="35D6FF"/>
                </a:solidFill>
                <a:latin typeface="Courier New"/>
                <a:ea typeface="Courier New"/>
                <a:cs typeface="Courier New"/>
              </a:rPr>
              <a:t>compare_markets</a:t>
            </a:r>
          </a:p>
        </p:txBody>
      </p:sp>
      <p:sp>
        <p:nvSpPr>
          <p:cNvPr id="36" name="">
            <a:extLst xmlns:a="http://schemas.openxmlformats.org/drawingml/2006/main">
              <a:ext uri="{FF2B5EF4-FFF2-40B4-BE49-F238E27FC236}">
                <a16:creationId xmlns:a16="http://schemas.microsoft.com/office/drawing/2014/main" id="{832BFAD2-E9D0-48AC-8F04-210F651CB5CD}"/>
              </a:ext>
            </a:extLst>
          </p:cNvPr>
          <p:cNvSpPr>
            <a:spLocks xmlns:a="http://schemas.openxmlformats.org/drawingml/2006/main" noGrp="1"/>
          </p:cNvSpPr>
          <p:nvPr/>
        </p:nvSpPr>
        <p:spPr>
          <a:xfrm xmlns:a="http://schemas.openxmlformats.org/drawingml/2006/main">
            <a:off x="6153150" y="30099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8AA79A"/>
                </a:solidFill>
                <a:latin typeface="Courier New"/>
                <a:ea typeface="Courier New"/>
                <a:cs typeface="Courier New"/>
              </a:defRPr>
            </a:pPr>
            <a:r>
              <a:rPr sz="1050" b="0">
                <a:solidFill>
                  <a:srgbClr val="8AA79A"/>
                </a:solidFill>
                <a:latin typeface="Courier New"/>
                <a:ea typeface="Courier New"/>
                <a:cs typeface="Courier New"/>
              </a:rPr>
              <a:t>query fan-out</a:t>
            </a:r>
          </a:p>
        </p:txBody>
      </p:sp>
      <p:sp>
        <p:nvSpPr>
          <p:cNvPr id="37" name="">
            <a:extLst xmlns:a="http://schemas.openxmlformats.org/drawingml/2006/main">
              <a:ext uri="{FF2B5EF4-FFF2-40B4-BE49-F238E27FC236}">
                <a16:creationId xmlns:a16="http://schemas.microsoft.com/office/drawing/2014/main" id="{1318E7E1-C5E5-422C-B0B7-2059BC55BC96}"/>
              </a:ext>
            </a:extLst>
          </p:cNvPr>
          <p:cNvSpPr>
            <a:spLocks xmlns:a="http://schemas.openxmlformats.org/drawingml/2006/main" noGrp="1"/>
          </p:cNvSpPr>
          <p:nvPr/>
        </p:nvSpPr>
        <p:spPr>
          <a:xfrm xmlns:a="http://schemas.openxmlformats.org/drawingml/2006/main">
            <a:off x="7981950" y="3009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DCF3E5"/>
                </a:solidFill>
                <a:latin typeface="Courier New"/>
                <a:ea typeface="Courier New"/>
                <a:cs typeface="Courier New"/>
              </a:defRPr>
            </a:pPr>
            <a:r>
              <a:rPr sz="1275" b="0">
                <a:solidFill>
                  <a:srgbClr val="DCF3E5"/>
                </a:solidFill>
                <a:latin typeface="Courier New"/>
                <a:ea typeface="Courier New"/>
                <a:cs typeface="Courier New"/>
              </a:rPr>
              <a:t>3 live lending subgraphs</a:t>
            </a:r>
          </a:p>
        </p:txBody>
      </p:sp>
      <p:sp>
        <p:nvSpPr>
          <p:cNvPr id="38" name="">
            <a:extLst xmlns:a="http://schemas.openxmlformats.org/drawingml/2006/main">
              <a:ext uri="{FF2B5EF4-FFF2-40B4-BE49-F238E27FC236}">
                <a16:creationId xmlns:a16="http://schemas.microsoft.com/office/drawing/2014/main" id="{FDCEEC09-38F2-41C1-B4EC-13FF97A7F7B8}"/>
              </a:ext>
            </a:extLst>
          </p:cNvPr>
          <p:cNvSpPr>
            <a:spLocks xmlns:a="http://schemas.openxmlformats.org/drawingml/2006/main" noGrp="1"/>
          </p:cNvSpPr>
          <p:nvPr/>
        </p:nvSpPr>
        <p:spPr>
          <a:xfrm xmlns:a="http://schemas.openxmlformats.org/drawingml/2006/main">
            <a:off x="6153150" y="34861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8AA79A"/>
                </a:solidFill>
                <a:latin typeface="Courier New"/>
                <a:ea typeface="Courier New"/>
                <a:cs typeface="Courier New"/>
              </a:defRPr>
            </a:pPr>
            <a:r>
              <a:rPr sz="1050" b="0">
                <a:solidFill>
                  <a:srgbClr val="8AA79A"/>
                </a:solidFill>
                <a:latin typeface="Courier New"/>
                <a:ea typeface="Courier New"/>
                <a:cs typeface="Courier New"/>
              </a:rPr>
              <a:t>sources</a:t>
            </a:r>
          </a:p>
        </p:txBody>
      </p:sp>
      <p:sp>
        <p:nvSpPr>
          <p:cNvPr id="39" name="">
            <a:extLst xmlns:a="http://schemas.openxmlformats.org/drawingml/2006/main">
              <a:ext uri="{FF2B5EF4-FFF2-40B4-BE49-F238E27FC236}">
                <a16:creationId xmlns:a16="http://schemas.microsoft.com/office/drawing/2014/main" id="{8CFBA546-CF05-4F08-948E-C301EF35822D}"/>
              </a:ext>
            </a:extLst>
          </p:cNvPr>
          <p:cNvSpPr>
            <a:spLocks xmlns:a="http://schemas.openxmlformats.org/drawingml/2006/main" noGrp="1"/>
          </p:cNvSpPr>
          <p:nvPr/>
        </p:nvSpPr>
        <p:spPr>
          <a:xfrm xmlns:a="http://schemas.openxmlformats.org/drawingml/2006/main">
            <a:off x="7981950" y="34861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Courier New"/>
                <a:ea typeface="Courier New"/>
                <a:cs typeface="Courier New"/>
              </a:defRPr>
            </a:pPr>
            <a:r>
              <a:rPr sz="1200" b="0">
                <a:solidFill>
                  <a:srgbClr val="DCF3E5"/>
                </a:solidFill>
                <a:latin typeface="Courier New"/>
                <a:ea typeface="Courier New"/>
                <a:cs typeface="Courier New"/>
              </a:rPr>
              <a:t>Aave V3 · Compound V3 · Spark Lend</a:t>
            </a:r>
          </a:p>
        </p:txBody>
      </p:sp>
      <p:sp>
        <p:nvSpPr>
          <p:cNvPr id="40" name="">
            <a:extLst xmlns:a="http://schemas.openxmlformats.org/drawingml/2006/main">
              <a:ext uri="{FF2B5EF4-FFF2-40B4-BE49-F238E27FC236}">
                <a16:creationId xmlns:a16="http://schemas.microsoft.com/office/drawing/2014/main" id="{ED4C5B31-A1A2-4FAF-9628-BA588AE40EF6}"/>
              </a:ext>
            </a:extLst>
          </p:cNvPr>
          <p:cNvSpPr>
            <a:spLocks xmlns:a="http://schemas.openxmlformats.org/drawingml/2006/main" noGrp="1"/>
          </p:cNvSpPr>
          <p:nvPr/>
        </p:nvSpPr>
        <p:spPr>
          <a:xfrm xmlns:a="http://schemas.openxmlformats.org/drawingml/2006/main">
            <a:off x="6153150" y="4076700"/>
            <a:ext cx="51435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1" name="">
            <a:extLst xmlns:a="http://schemas.openxmlformats.org/drawingml/2006/main">
              <a:ext uri="{FF2B5EF4-FFF2-40B4-BE49-F238E27FC236}">
                <a16:creationId xmlns:a16="http://schemas.microsoft.com/office/drawing/2014/main" id="{3A3E4C43-DDA8-43F8-9E71-98E469C6C43D}"/>
              </a:ext>
            </a:extLst>
          </p:cNvPr>
          <p:cNvSpPr>
            <a:spLocks xmlns:a="http://schemas.openxmlformats.org/drawingml/2006/main" noGrp="1"/>
          </p:cNvSpPr>
          <p:nvPr/>
        </p:nvSpPr>
        <p:spPr>
          <a:xfrm xmlns:a="http://schemas.openxmlformats.org/drawingml/2006/main">
            <a:off x="6153150" y="4343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 ranked values   ✓ citations   ✓ asOf</a:t>
            </a:r>
          </a:p>
        </p:txBody>
      </p:sp>
      <p:sp>
        <p:nvSpPr>
          <p:cNvPr id="42" name="">
            <a:extLst xmlns:a="http://schemas.openxmlformats.org/drawingml/2006/main">
              <a:ext uri="{FF2B5EF4-FFF2-40B4-BE49-F238E27FC236}">
                <a16:creationId xmlns:a16="http://schemas.microsoft.com/office/drawing/2014/main" id="{33D25CE3-9F64-4567-A150-C9F547B637CD}"/>
              </a:ext>
            </a:extLst>
          </p:cNvPr>
          <p:cNvSpPr>
            <a:spLocks xmlns:a="http://schemas.openxmlformats.org/drawingml/2006/main" noGrp="1"/>
          </p:cNvSpPr>
          <p:nvPr/>
        </p:nvSpPr>
        <p:spPr>
          <a:xfrm xmlns:a="http://schemas.openxmlformats.org/drawingml/2006/main">
            <a:off x="5905500" y="52959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Point out</a:t>
            </a:r>
          </a:p>
        </p:txBody>
      </p:sp>
      <p:sp>
        <p:nvSpPr>
          <p:cNvPr id="43" name="">
            <a:extLst xmlns:a="http://schemas.openxmlformats.org/drawingml/2006/main">
              <a:ext uri="{FF2B5EF4-FFF2-40B4-BE49-F238E27FC236}">
                <a16:creationId xmlns:a16="http://schemas.microsoft.com/office/drawing/2014/main" id="{82A6E3C8-759E-4F96-805A-D8B763C95E20}"/>
              </a:ext>
            </a:extLst>
          </p:cNvPr>
          <p:cNvSpPr>
            <a:spLocks xmlns:a="http://schemas.openxmlformats.org/drawingml/2006/main" noGrp="1"/>
          </p:cNvSpPr>
          <p:nvPr/>
        </p:nvSpPr>
        <p:spPr>
          <a:xfrm xmlns:a="http://schemas.openxmlformats.org/drawingml/2006/main">
            <a:off x="7086600" y="5257800"/>
            <a:ext cx="449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DCF3E5"/>
                </a:solidFill>
                <a:latin typeface="Courier New"/>
                <a:ea typeface="Courier New"/>
                <a:cs typeface="Courier New"/>
              </a:defRPr>
            </a:pPr>
            <a:r>
              <a:rPr sz="1275" b="0">
                <a:solidFill>
                  <a:srgbClr val="DCF3E5"/>
                </a:solidFill>
                <a:latin typeface="Courier New"/>
                <a:ea typeface="Courier New"/>
                <a:cs typeface="Courier New"/>
              </a:rPr>
              <a:t>rank · asOf · subgraph ID · block · query hash</a:t>
            </a:r>
          </a:p>
        </p:txBody>
      </p:sp>
      <p:sp>
        <p:nvSpPr>
          <p:cNvPr id="44" name="">
            <a:extLst xmlns:a="http://schemas.openxmlformats.org/drawingml/2006/main">
              <a:ext uri="{FF2B5EF4-FFF2-40B4-BE49-F238E27FC236}">
                <a16:creationId xmlns:a16="http://schemas.microsoft.com/office/drawing/2014/main" id="{E6239D94-C774-4775-A21D-981B2E9F25E6}"/>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5" name="">
            <a:extLst xmlns:a="http://schemas.openxmlformats.org/drawingml/2006/main">
              <a:ext uri="{FF2B5EF4-FFF2-40B4-BE49-F238E27FC236}">
                <a16:creationId xmlns:a16="http://schemas.microsoft.com/office/drawing/2014/main" id="{48321EE3-4BC6-47AD-B662-A390D7A0E8A5}"/>
              </a:ext>
            </a:extLst>
          </p:cNvPr>
          <p:cNvSpPr>
            <a:spLocks xmlns:a="http://schemas.openxmlformats.org/drawingml/2006/main" noGrp="1"/>
          </p:cNvSpPr>
          <p:nvPr/>
        </p:nvSpPr>
        <p:spPr>
          <a:xfrm xmlns:a="http://schemas.openxmlformats.org/drawingml/2006/main">
            <a:off x="609600" y="65341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5C7368"/>
                </a:solidFill>
                <a:latin typeface="Courier New"/>
                <a:ea typeface="Courier New"/>
                <a:cs typeface="Courier New"/>
              </a:defRPr>
            </a:pPr>
            <a:r>
              <a:rPr sz="750" b="0">
                <a:solidFill>
                  <a:srgbClr val="5C7368"/>
                </a:solidFill>
                <a:latin typeface="Courier New"/>
                <a:ea typeface="Courier New"/>
                <a:cs typeface="Courier New"/>
              </a:rPr>
              <a:t>ASKCHING · ETHONLINE 2026</a:t>
            </a:r>
          </a:p>
        </p:txBody>
      </p:sp>
      <p:sp>
        <p:nvSpPr>
          <p:cNvPr id="46" name="">
            <a:extLst xmlns:a="http://schemas.openxmlformats.org/drawingml/2006/main">
              <a:ext uri="{FF2B5EF4-FFF2-40B4-BE49-F238E27FC236}">
                <a16:creationId xmlns:a16="http://schemas.microsoft.com/office/drawing/2014/main" id="{51C171D1-8791-4C1C-B3A3-B238E626FE2C}"/>
              </a:ext>
            </a:extLst>
          </p:cNvPr>
          <p:cNvSpPr>
            <a:spLocks xmlns:a="http://schemas.openxmlformats.org/drawingml/2006/main" noGrp="1"/>
          </p:cNvSpPr>
          <p:nvPr/>
        </p:nvSpPr>
        <p:spPr>
          <a:xfrm xmlns:a="http://schemas.openxmlformats.org/drawingml/2006/main">
            <a:off x="11049000" y="65341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35D6FF"/>
                </a:solidFill>
                <a:latin typeface="Courier New"/>
                <a:ea typeface="Courier New"/>
                <a:cs typeface="Courier New"/>
              </a:defRPr>
            </a:pPr>
            <a:r>
              <a:rPr sz="750" b="0">
                <a:solidFill>
                  <a:srgbClr val="35D6FF"/>
                </a:solidFill>
                <a:latin typeface="Courier New"/>
                <a:ea typeface="Courier New"/>
                <a:cs typeface="Courier New"/>
              </a:rPr>
              <a:t>04</a:t>
            </a:r>
          </a:p>
        </p:txBody>
      </p:sp>
    </p:spTree>
    <p:extLst>
      <p:ext uri="{BB962C8B-B14F-4D97-AF65-F5344CB8AC3E}">
        <p14:creationId xmlns:p14="http://schemas.microsoft.com/office/powerpoint/2010/main" val="1687691785"/>
      </p:ext>
    </p:extLst>
  </p:cSld>
</p:sld>
</file>

<file path=ppt/slides/slide5.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6183305-A623-4039-9388-0821BF7E8E78}"/>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 name="">
            <a:extLst xmlns:a="http://schemas.openxmlformats.org/drawingml/2006/main">
              <a:ext uri="{FF2B5EF4-FFF2-40B4-BE49-F238E27FC236}">
                <a16:creationId xmlns:a16="http://schemas.microsoft.com/office/drawing/2014/main" id="{0B2F9413-D26C-40A5-BFA7-388697F2DC5B}"/>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3" name="">
            <a:extLst xmlns:a="http://schemas.openxmlformats.org/drawingml/2006/main">
              <a:ext uri="{FF2B5EF4-FFF2-40B4-BE49-F238E27FC236}">
                <a16:creationId xmlns:a16="http://schemas.microsoft.com/office/drawing/2014/main" id="{5F515FC7-2647-421C-B527-3071F259AEDF}"/>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4" name="">
            <a:extLst xmlns:a="http://schemas.openxmlformats.org/drawingml/2006/main">
              <a:ext uri="{FF2B5EF4-FFF2-40B4-BE49-F238E27FC236}">
                <a16:creationId xmlns:a16="http://schemas.microsoft.com/office/drawing/2014/main" id="{C09647CC-475C-48C8-B793-4D3A967BDE04}"/>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5" name="">
            <a:extLst xmlns:a="http://schemas.openxmlformats.org/drawingml/2006/main">
              <a:ext uri="{FF2B5EF4-FFF2-40B4-BE49-F238E27FC236}">
                <a16:creationId xmlns:a16="http://schemas.microsoft.com/office/drawing/2014/main" id="{15E3B168-FC56-4101-B7FB-F478D8B61805}"/>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6" name="">
            <a:extLst xmlns:a="http://schemas.openxmlformats.org/drawingml/2006/main">
              <a:ext uri="{FF2B5EF4-FFF2-40B4-BE49-F238E27FC236}">
                <a16:creationId xmlns:a16="http://schemas.microsoft.com/office/drawing/2014/main" id="{336AF410-BA59-48F5-A296-8E098B398B12}"/>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7" name="">
            <a:extLst xmlns:a="http://schemas.openxmlformats.org/drawingml/2006/main">
              <a:ext uri="{FF2B5EF4-FFF2-40B4-BE49-F238E27FC236}">
                <a16:creationId xmlns:a16="http://schemas.microsoft.com/office/drawing/2014/main" id="{3E3BA984-A84E-4DB4-86CF-58A6B8DD5EB1}"/>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8" name="">
            <a:extLst xmlns:a="http://schemas.openxmlformats.org/drawingml/2006/main">
              <a:ext uri="{FF2B5EF4-FFF2-40B4-BE49-F238E27FC236}">
                <a16:creationId xmlns:a16="http://schemas.microsoft.com/office/drawing/2014/main" id="{9A7F519B-F29A-452E-9EB8-91760F5EBC05}"/>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9" name="">
            <a:extLst xmlns:a="http://schemas.openxmlformats.org/drawingml/2006/main">
              <a:ext uri="{FF2B5EF4-FFF2-40B4-BE49-F238E27FC236}">
                <a16:creationId xmlns:a16="http://schemas.microsoft.com/office/drawing/2014/main" id="{A4BEE8A4-8EC8-464E-85C1-F5D0F96E81C9}"/>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0" name="">
            <a:extLst xmlns:a="http://schemas.openxmlformats.org/drawingml/2006/main">
              <a:ext uri="{FF2B5EF4-FFF2-40B4-BE49-F238E27FC236}">
                <a16:creationId xmlns:a16="http://schemas.microsoft.com/office/drawing/2014/main" id="{26D301C2-DA52-4C46-8780-1035C735D721}"/>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1" name="">
            <a:extLst xmlns:a="http://schemas.openxmlformats.org/drawingml/2006/main">
              <a:ext uri="{FF2B5EF4-FFF2-40B4-BE49-F238E27FC236}">
                <a16:creationId xmlns:a16="http://schemas.microsoft.com/office/drawing/2014/main" id="{5694EBD7-BC7B-4C6F-8994-FD12DCBD22D1}"/>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2" name="">
            <a:extLst xmlns:a="http://schemas.openxmlformats.org/drawingml/2006/main">
              <a:ext uri="{FF2B5EF4-FFF2-40B4-BE49-F238E27FC236}">
                <a16:creationId xmlns:a16="http://schemas.microsoft.com/office/drawing/2014/main" id="{0B21D014-088C-41C1-A83A-3D5A0D7679B2}"/>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3" name="">
            <a:extLst xmlns:a="http://schemas.openxmlformats.org/drawingml/2006/main">
              <a:ext uri="{FF2B5EF4-FFF2-40B4-BE49-F238E27FC236}">
                <a16:creationId xmlns:a16="http://schemas.microsoft.com/office/drawing/2014/main" id="{C73EAD61-3112-499B-86EB-FF5AE2B2CDC4}"/>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4" name="">
            <a:extLst xmlns:a="http://schemas.openxmlformats.org/drawingml/2006/main">
              <a:ext uri="{FF2B5EF4-FFF2-40B4-BE49-F238E27FC236}">
                <a16:creationId xmlns:a16="http://schemas.microsoft.com/office/drawing/2014/main" id="{B61EC608-8843-43DC-97F2-9BAC3580E921}"/>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5" name="">
            <a:extLst xmlns:a="http://schemas.openxmlformats.org/drawingml/2006/main">
              <a:ext uri="{FF2B5EF4-FFF2-40B4-BE49-F238E27FC236}">
                <a16:creationId xmlns:a16="http://schemas.microsoft.com/office/drawing/2014/main" id="{9DCF9857-D42B-4052-B075-90151A4CF916}"/>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6" name="">
            <a:extLst xmlns:a="http://schemas.openxmlformats.org/drawingml/2006/main">
              <a:ext uri="{FF2B5EF4-FFF2-40B4-BE49-F238E27FC236}">
                <a16:creationId xmlns:a16="http://schemas.microsoft.com/office/drawing/2014/main" id="{29679B37-E6C4-491A-9A17-E419D27C0E23}"/>
              </a:ext>
            </a:extLst>
          </p:cNvPr>
          <p:cNvSpPr>
            <a:spLocks xmlns:a="http://schemas.openxmlformats.org/drawingml/2006/main" noGrp="1"/>
          </p:cNvSpPr>
          <p:nvPr/>
        </p:nvSpPr>
        <p:spPr>
          <a:xfrm xmlns:a="http://schemas.openxmlformats.org/drawingml/2006/main">
            <a:off x="0" y="914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7" name="">
            <a:extLst xmlns:a="http://schemas.openxmlformats.org/drawingml/2006/main">
              <a:ext uri="{FF2B5EF4-FFF2-40B4-BE49-F238E27FC236}">
                <a16:creationId xmlns:a16="http://schemas.microsoft.com/office/drawing/2014/main" id="{328C81D5-C772-42A5-BF6B-8FB79D43D4FE}"/>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8" name="">
            <a:extLst xmlns:a="http://schemas.openxmlformats.org/drawingml/2006/main">
              <a:ext uri="{FF2B5EF4-FFF2-40B4-BE49-F238E27FC236}">
                <a16:creationId xmlns:a16="http://schemas.microsoft.com/office/drawing/2014/main" id="{39520C2A-7FC5-4417-8739-1543DB5526EF}"/>
              </a:ext>
            </a:extLst>
          </p:cNvPr>
          <p:cNvSpPr>
            <a:spLocks xmlns:a="http://schemas.openxmlformats.org/drawingml/2006/main" noGrp="1"/>
          </p:cNvSpPr>
          <p:nvPr/>
        </p:nvSpPr>
        <p:spPr>
          <a:xfrm xmlns:a="http://schemas.openxmlformats.org/drawingml/2006/main">
            <a:off x="0" y="27432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9" name="">
            <a:extLst xmlns:a="http://schemas.openxmlformats.org/drawingml/2006/main">
              <a:ext uri="{FF2B5EF4-FFF2-40B4-BE49-F238E27FC236}">
                <a16:creationId xmlns:a16="http://schemas.microsoft.com/office/drawing/2014/main" id="{BDF46FBA-D296-4BD8-8AB1-C03535ECA73C}"/>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0" name="">
            <a:extLst xmlns:a="http://schemas.openxmlformats.org/drawingml/2006/main">
              <a:ext uri="{FF2B5EF4-FFF2-40B4-BE49-F238E27FC236}">
                <a16:creationId xmlns:a16="http://schemas.microsoft.com/office/drawing/2014/main" id="{53BED7E9-98CF-419E-B2C1-F9B10F2EEBE0}"/>
              </a:ext>
            </a:extLst>
          </p:cNvPr>
          <p:cNvSpPr>
            <a:spLocks xmlns:a="http://schemas.openxmlformats.org/drawingml/2006/main" noGrp="1"/>
          </p:cNvSpPr>
          <p:nvPr/>
        </p:nvSpPr>
        <p:spPr>
          <a:xfrm xmlns:a="http://schemas.openxmlformats.org/drawingml/2006/main">
            <a:off x="0" y="45720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1" name="">
            <a:extLst xmlns:a="http://schemas.openxmlformats.org/drawingml/2006/main">
              <a:ext uri="{FF2B5EF4-FFF2-40B4-BE49-F238E27FC236}">
                <a16:creationId xmlns:a16="http://schemas.microsoft.com/office/drawing/2014/main" id="{1B1FED56-EDE0-42FB-9184-48D773C19462}"/>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2" name="">
            <a:extLst xmlns:a="http://schemas.openxmlformats.org/drawingml/2006/main">
              <a:ext uri="{FF2B5EF4-FFF2-40B4-BE49-F238E27FC236}">
                <a16:creationId xmlns:a16="http://schemas.microsoft.com/office/drawing/2014/main" id="{2E7E7C78-3C11-42DA-AE6E-B69DE8185456}"/>
              </a:ext>
            </a:extLst>
          </p:cNvPr>
          <p:cNvSpPr>
            <a:spLocks xmlns:a="http://schemas.openxmlformats.org/drawingml/2006/main" noGrp="1"/>
          </p:cNvSpPr>
          <p:nvPr/>
        </p:nvSpPr>
        <p:spPr>
          <a:xfrm xmlns:a="http://schemas.openxmlformats.org/drawingml/2006/main">
            <a:off x="0" y="6400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3" name="">
            <a:extLst xmlns:a="http://schemas.openxmlformats.org/drawingml/2006/main">
              <a:ext uri="{FF2B5EF4-FFF2-40B4-BE49-F238E27FC236}">
                <a16:creationId xmlns:a16="http://schemas.microsoft.com/office/drawing/2014/main" id="{577383CA-3457-4E6A-A242-127F9B9DB969}"/>
              </a:ext>
            </a:extLst>
          </p:cNvPr>
          <p:cNvSpPr>
            <a:spLocks xmlns:a="http://schemas.openxmlformats.org/drawingml/2006/main" noGrp="1"/>
          </p:cNvSpPr>
          <p:nvPr/>
        </p:nvSpPr>
        <p:spPr>
          <a:xfrm xmlns:a="http://schemas.openxmlformats.org/drawingml/2006/main">
            <a:off x="609600" y="361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04 / TRUST</a:t>
            </a:r>
          </a:p>
        </p:txBody>
      </p:sp>
      <p:sp>
        <p:nvSpPr>
          <p:cNvPr id="24" name="">
            <a:extLst xmlns:a="http://schemas.openxmlformats.org/drawingml/2006/main">
              <a:ext uri="{FF2B5EF4-FFF2-40B4-BE49-F238E27FC236}">
                <a16:creationId xmlns:a16="http://schemas.microsoft.com/office/drawing/2014/main" id="{911DFAA9-5FE9-4D7D-8885-C0D0AD293FD3}"/>
              </a:ext>
            </a:extLst>
          </p:cNvPr>
          <p:cNvSpPr>
            <a:spLocks xmlns:a="http://schemas.openxmlformats.org/drawingml/2006/main" noGrp="1"/>
          </p:cNvSpPr>
          <p:nvPr/>
        </p:nvSpPr>
        <p:spPr>
          <a:xfrm xmlns:a="http://schemas.openxmlformats.org/drawingml/2006/main">
            <a:off x="609600" y="68580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150" b="1">
                <a:solidFill>
                  <a:srgbClr val="DCF3E5"/>
                </a:solidFill>
                <a:latin typeface="Arial"/>
                <a:ea typeface="Arial"/>
                <a:cs typeface="Arial"/>
              </a:defRPr>
            </a:pPr>
            <a:r>
              <a:rPr sz="3150" b="1">
                <a:solidFill>
                  <a:srgbClr val="DCF3E5"/>
                </a:solidFill>
                <a:latin typeface="Arial"/>
                <a:ea typeface="Arial"/>
                <a:cs typeface="Arial"/>
              </a:rPr>
              <a:t>AskChing reports gaps instead of inventing evidence</a:t>
            </a:r>
          </a:p>
        </p:txBody>
      </p:sp>
      <p:sp>
        <p:nvSpPr>
          <p:cNvPr id="25" name="">
            <a:extLst xmlns:a="http://schemas.openxmlformats.org/drawingml/2006/main">
              <a:ext uri="{FF2B5EF4-FFF2-40B4-BE49-F238E27FC236}">
                <a16:creationId xmlns:a16="http://schemas.microsoft.com/office/drawing/2014/main" id="{261533F0-E43C-4DE0-8368-79E8CAEDD007}"/>
              </a:ext>
            </a:extLst>
          </p:cNvPr>
          <p:cNvSpPr>
            <a:spLocks xmlns:a="http://schemas.openxmlformats.org/drawingml/2006/main" noGrp="1"/>
          </p:cNvSpPr>
          <p:nvPr/>
        </p:nvSpPr>
        <p:spPr>
          <a:xfrm xmlns:a="http://schemas.openxmlformats.org/drawingml/2006/main">
            <a:off x="628650" y="1924050"/>
            <a:ext cx="161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4350" b="1">
                <a:solidFill>
                  <a:srgbClr val="3DF59A"/>
                </a:solidFill>
                <a:latin typeface="Courier New"/>
                <a:ea typeface="Courier New"/>
                <a:cs typeface="Courier New"/>
              </a:defRPr>
            </a:pPr>
            <a:r>
              <a:rPr sz="4350" b="1">
                <a:solidFill>
                  <a:srgbClr val="3DF59A"/>
                </a:solidFill>
                <a:latin typeface="Courier New"/>
                <a:ea typeface="Courier New"/>
                <a:cs typeface="Courier New"/>
              </a:rPr>
              <a:t>≥ 2</a:t>
            </a:r>
          </a:p>
        </p:txBody>
      </p:sp>
      <p:sp>
        <p:nvSpPr>
          <p:cNvPr id="26" name="">
            <a:extLst xmlns:a="http://schemas.openxmlformats.org/drawingml/2006/main">
              <a:ext uri="{FF2B5EF4-FFF2-40B4-BE49-F238E27FC236}">
                <a16:creationId xmlns:a16="http://schemas.microsoft.com/office/drawing/2014/main" id="{2B2D56E5-9FE3-4214-8A13-5A0E3325F37A}"/>
              </a:ext>
            </a:extLst>
          </p:cNvPr>
          <p:cNvSpPr>
            <a:spLocks xmlns:a="http://schemas.openxmlformats.org/drawingml/2006/main" noGrp="1"/>
          </p:cNvSpPr>
          <p:nvPr/>
        </p:nvSpPr>
        <p:spPr>
          <a:xfrm xmlns:a="http://schemas.openxmlformats.org/drawingml/2006/main">
            <a:off x="628650" y="2724150"/>
            <a:ext cx="4229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00" b="1">
                <a:solidFill>
                  <a:srgbClr val="DCF3E5"/>
                </a:solidFill>
                <a:latin typeface="Arial"/>
                <a:ea typeface="Arial"/>
                <a:cs typeface="Arial"/>
              </a:defRPr>
            </a:pPr>
            <a:r>
              <a:rPr sz="1800" b="1">
                <a:solidFill>
                  <a:srgbClr val="DCF3E5"/>
                </a:solidFill>
                <a:latin typeface="Arial"/>
                <a:ea typeface="Arial"/>
                <a:cs typeface="Arial"/>
              </a:rPr>
              <a:t>independently cited sources</a:t>
            </a:r>
          </a:p>
          <a:p xmlns:a="http://schemas.openxmlformats.org/drawingml/2006/main">
            <a:pPr algn="l">
              <a:lnSpc>
                <a:spcPct val="105000"/>
              </a:lnSpc>
              <a:buNone/>
              <a:defRPr sz="1800" b="1">
                <a:solidFill>
                  <a:srgbClr val="DCF3E5"/>
                </a:solidFill>
                <a:latin typeface="Arial"/>
                <a:ea typeface="Arial"/>
                <a:cs typeface="Arial"/>
              </a:defRPr>
            </a:pPr>
            <a:r>
              <a:rPr sz="1800" b="1">
                <a:solidFill>
                  <a:srgbClr val="DCF3E5"/>
                </a:solidFill>
                <a:latin typeface="Arial"/>
                <a:ea typeface="Arial"/>
                <a:cs typeface="Arial"/>
              </a:rPr>
              <a:t>or no quantitative comparison</a:t>
            </a:r>
          </a:p>
        </p:txBody>
      </p:sp>
      <p:sp>
        <p:nvSpPr>
          <p:cNvPr id="27" name="">
            <a:extLst xmlns:a="http://schemas.openxmlformats.org/drawingml/2006/main">
              <a:ext uri="{FF2B5EF4-FFF2-40B4-BE49-F238E27FC236}">
                <a16:creationId xmlns:a16="http://schemas.microsoft.com/office/drawing/2014/main" id="{E8AAADFD-BC0B-4D93-8615-B11EF687BBB7}"/>
              </a:ext>
            </a:extLst>
          </p:cNvPr>
          <p:cNvSpPr>
            <a:spLocks xmlns:a="http://schemas.openxmlformats.org/drawingml/2006/main" noGrp="1"/>
          </p:cNvSpPr>
          <p:nvPr/>
        </p:nvSpPr>
        <p:spPr>
          <a:xfrm xmlns:a="http://schemas.openxmlformats.org/drawingml/2006/main">
            <a:off x="628650" y="3886200"/>
            <a:ext cx="42291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28" name="">
            <a:extLst xmlns:a="http://schemas.openxmlformats.org/drawingml/2006/main">
              <a:ext uri="{FF2B5EF4-FFF2-40B4-BE49-F238E27FC236}">
                <a16:creationId xmlns:a16="http://schemas.microsoft.com/office/drawing/2014/main" id="{284BF91E-2CEF-450D-B61B-AF8524ED6F76}"/>
              </a:ext>
            </a:extLst>
          </p:cNvPr>
          <p:cNvSpPr>
            <a:spLocks xmlns:a="http://schemas.openxmlformats.org/drawingml/2006/main" noGrp="1"/>
          </p:cNvSpPr>
          <p:nvPr/>
        </p:nvSpPr>
        <p:spPr>
          <a:xfrm xmlns:a="http://schemas.openxmlformats.org/drawingml/2006/main">
            <a:off x="628650" y="4152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FFC857"/>
                </a:solidFill>
                <a:latin typeface="Courier New"/>
                <a:ea typeface="Courier New"/>
                <a:cs typeface="Courier New"/>
              </a:defRPr>
            </a:pPr>
            <a:r>
              <a:rPr sz="1200" b="1">
                <a:solidFill>
                  <a:srgbClr val="FFC857"/>
                </a:solidFill>
                <a:latin typeface="Courier New"/>
                <a:ea typeface="Courier New"/>
                <a:cs typeface="Courier New"/>
              </a:rPr>
              <a:t>MISSING HISTORY</a:t>
            </a:r>
          </a:p>
        </p:txBody>
      </p:sp>
      <p:sp>
        <p:nvSpPr>
          <p:cNvPr id="29" name="">
            <a:extLst xmlns:a="http://schemas.openxmlformats.org/drawingml/2006/main">
              <a:ext uri="{FF2B5EF4-FFF2-40B4-BE49-F238E27FC236}">
                <a16:creationId xmlns:a16="http://schemas.microsoft.com/office/drawing/2014/main" id="{43872444-8DE0-40A7-BADD-37B2AA8A4702}"/>
              </a:ext>
            </a:extLst>
          </p:cNvPr>
          <p:cNvSpPr>
            <a:spLocks xmlns:a="http://schemas.openxmlformats.org/drawingml/2006/main" noGrp="1"/>
          </p:cNvSpPr>
          <p:nvPr/>
        </p:nvSpPr>
        <p:spPr>
          <a:xfrm xmlns:a="http://schemas.openxmlformats.org/drawingml/2006/main">
            <a:off x="628650" y="4533900"/>
            <a:ext cx="4229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a:solidFill>
                  <a:srgbClr val="8AA79A"/>
                </a:solidFill>
                <a:latin typeface="Arial"/>
                <a:ea typeface="Arial"/>
                <a:cs typeface="Arial"/>
              </a:defRPr>
            </a:pPr>
            <a:r>
              <a:rPr sz="1725" b="0">
                <a:solidFill>
                  <a:srgbClr val="8AA79A"/>
                </a:solidFill>
                <a:latin typeface="Arial"/>
                <a:ea typeface="Arial"/>
                <a:cs typeface="Arial"/>
              </a:rPr>
              <a:t>The answer carries an explicit gap. A spot value never pretends to be a trend.</a:t>
            </a:r>
          </a:p>
        </p:txBody>
      </p:sp>
      <p:sp>
        <p:nvSpPr>
          <p:cNvPr id="30" name="">
            <a:extLst xmlns:a="http://schemas.openxmlformats.org/drawingml/2006/main">
              <a:ext uri="{FF2B5EF4-FFF2-40B4-BE49-F238E27FC236}">
                <a16:creationId xmlns:a16="http://schemas.microsoft.com/office/drawing/2014/main" id="{AAA092F0-66C0-4CD9-9F15-91B004CDACCF}"/>
              </a:ext>
            </a:extLst>
          </p:cNvPr>
          <p:cNvSpPr>
            <a:spLocks xmlns:a="http://schemas.openxmlformats.org/drawingml/2006/main" noGrp="1"/>
          </p:cNvSpPr>
          <p:nvPr/>
        </p:nvSpPr>
        <p:spPr>
          <a:xfrm xmlns:a="http://schemas.openxmlformats.org/drawingml/2006/main">
            <a:off x="5314950" y="1790700"/>
            <a:ext cx="6286500" cy="3552825"/>
          </a:xfrm>
          <a:prstGeom xmlns:a="http://schemas.openxmlformats.org/drawingml/2006/main" prst="roundRect">
            <a:avLst>
              <a:gd name="adj" fmla="val 3217"/>
            </a:avLst>
          </a:prstGeom>
          <a:solidFill xmlns:a="http://schemas.openxmlformats.org/drawingml/2006/main">
            <a:srgbClr val="020304"/>
          </a:solidFill>
          <a:ln xmlns:a="http://schemas.openxmlformats.org/drawingml/2006/main" w="9525">
            <a:solidFill>
              <a:srgbClr val="1D2B24"/>
            </a:solidFill>
            <a:prstDash val="solid"/>
          </a:ln>
        </p:spPr>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7ad163bb9f034e35"/>
          <a:stretch xmlns:a="http://schemas.openxmlformats.org/drawingml/2006/main"/>
        </p:blipFill>
        <p:spPr>
          <a:xfrm xmlns:a="http://schemas.openxmlformats.org/drawingml/2006/main">
            <a:off x="5334000" y="1809750"/>
            <a:ext cx="6248400" cy="3514725"/>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6ED699A8-733C-4F71-B14D-17EFAAE698CC}"/>
              </a:ext>
            </a:extLst>
          </p:cNvPr>
          <p:cNvSpPr>
            <a:spLocks xmlns:a="http://schemas.openxmlformats.org/drawingml/2006/main" noGrp="1"/>
          </p:cNvSpPr>
          <p:nvPr/>
        </p:nvSpPr>
        <p:spPr>
          <a:xfrm xmlns:a="http://schemas.openxmlformats.org/drawingml/2006/main">
            <a:off x="5334000" y="5562600"/>
            <a:ext cx="6248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35D6FF"/>
                </a:solidFill>
                <a:latin typeface="Courier New"/>
                <a:ea typeface="Courier New"/>
                <a:cs typeface="Courier New"/>
              </a:defRPr>
            </a:pPr>
            <a:r>
              <a:rPr sz="1125" b="0">
                <a:solidFill>
                  <a:srgbClr val="35D6FF"/>
                </a:solidFill>
                <a:latin typeface="Courier New"/>
                <a:ea typeface="Courier New"/>
                <a:cs typeface="Courier New"/>
              </a:rPr>
              <a:t>source ID · deployment · block · timestamp · query hash</a:t>
            </a:r>
          </a:p>
        </p:txBody>
      </p:sp>
      <p:sp>
        <p:nvSpPr>
          <p:cNvPr id="33" name="">
            <a:extLst xmlns:a="http://schemas.openxmlformats.org/drawingml/2006/main">
              <a:ext uri="{FF2B5EF4-FFF2-40B4-BE49-F238E27FC236}">
                <a16:creationId xmlns:a16="http://schemas.microsoft.com/office/drawing/2014/main" id="{83AF1622-6CA2-4F39-AEF4-306415D0B8D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4" name="">
            <a:extLst xmlns:a="http://schemas.openxmlformats.org/drawingml/2006/main">
              <a:ext uri="{FF2B5EF4-FFF2-40B4-BE49-F238E27FC236}">
                <a16:creationId xmlns:a16="http://schemas.microsoft.com/office/drawing/2014/main" id="{4CE32980-EF17-4908-80F8-6DE504385E57}"/>
              </a:ext>
            </a:extLst>
          </p:cNvPr>
          <p:cNvSpPr>
            <a:spLocks xmlns:a="http://schemas.openxmlformats.org/drawingml/2006/main" noGrp="1"/>
          </p:cNvSpPr>
          <p:nvPr/>
        </p:nvSpPr>
        <p:spPr>
          <a:xfrm xmlns:a="http://schemas.openxmlformats.org/drawingml/2006/main">
            <a:off x="609600" y="65341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5C7368"/>
                </a:solidFill>
                <a:latin typeface="Courier New"/>
                <a:ea typeface="Courier New"/>
                <a:cs typeface="Courier New"/>
              </a:defRPr>
            </a:pPr>
            <a:r>
              <a:rPr sz="750" b="0">
                <a:solidFill>
                  <a:srgbClr val="5C7368"/>
                </a:solidFill>
                <a:latin typeface="Courier New"/>
                <a:ea typeface="Courier New"/>
                <a:cs typeface="Courier New"/>
              </a:rPr>
              <a:t>ASKCHING · ETHONLINE 2026</a:t>
            </a:r>
          </a:p>
        </p:txBody>
      </p:sp>
      <p:sp>
        <p:nvSpPr>
          <p:cNvPr id="35" name="">
            <a:extLst xmlns:a="http://schemas.openxmlformats.org/drawingml/2006/main">
              <a:ext uri="{FF2B5EF4-FFF2-40B4-BE49-F238E27FC236}">
                <a16:creationId xmlns:a16="http://schemas.microsoft.com/office/drawing/2014/main" id="{34E4E63E-2C3D-4F94-9BFB-F97CDB1608CE}"/>
              </a:ext>
            </a:extLst>
          </p:cNvPr>
          <p:cNvSpPr>
            <a:spLocks xmlns:a="http://schemas.openxmlformats.org/drawingml/2006/main" noGrp="1"/>
          </p:cNvSpPr>
          <p:nvPr/>
        </p:nvSpPr>
        <p:spPr>
          <a:xfrm xmlns:a="http://schemas.openxmlformats.org/drawingml/2006/main">
            <a:off x="11049000" y="65341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35D6FF"/>
                </a:solidFill>
                <a:latin typeface="Courier New"/>
                <a:ea typeface="Courier New"/>
                <a:cs typeface="Courier New"/>
              </a:defRPr>
            </a:pPr>
            <a:r>
              <a:rPr sz="750" b="0">
                <a:solidFill>
                  <a:srgbClr val="35D6FF"/>
                </a:solidFill>
                <a:latin typeface="Courier New"/>
                <a:ea typeface="Courier New"/>
                <a:cs typeface="Courier New"/>
              </a:rPr>
              <a:t>05</a:t>
            </a:r>
          </a:p>
        </p:txBody>
      </p:sp>
    </p:spTree>
    <p:extLst>
      <p:ext uri="{BB962C8B-B14F-4D97-AF65-F5344CB8AC3E}">
        <p14:creationId xmlns:p14="http://schemas.microsoft.com/office/powerpoint/2010/main" val="191230186"/>
      </p:ext>
    </p:extLst>
  </p:cSld>
</p:sld>
</file>

<file path=ppt/slides/slide6.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486C2F4F-4D91-4E4C-B5D6-6FCA829D29EF}"/>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 name="">
            <a:extLst xmlns:a="http://schemas.openxmlformats.org/drawingml/2006/main">
              <a:ext uri="{FF2B5EF4-FFF2-40B4-BE49-F238E27FC236}">
                <a16:creationId xmlns:a16="http://schemas.microsoft.com/office/drawing/2014/main" id="{A57B1D2D-E707-4CB6-AB66-0190A8DDAEF4}"/>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3" name="">
            <a:extLst xmlns:a="http://schemas.openxmlformats.org/drawingml/2006/main">
              <a:ext uri="{FF2B5EF4-FFF2-40B4-BE49-F238E27FC236}">
                <a16:creationId xmlns:a16="http://schemas.microsoft.com/office/drawing/2014/main" id="{2FC1659A-5DF4-460D-8D87-DA5C5ADB804F}"/>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4" name="">
            <a:extLst xmlns:a="http://schemas.openxmlformats.org/drawingml/2006/main">
              <a:ext uri="{FF2B5EF4-FFF2-40B4-BE49-F238E27FC236}">
                <a16:creationId xmlns:a16="http://schemas.microsoft.com/office/drawing/2014/main" id="{8D2372D4-AF6F-4F07-BE13-48856FC65CE3}"/>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5" name="">
            <a:extLst xmlns:a="http://schemas.openxmlformats.org/drawingml/2006/main">
              <a:ext uri="{FF2B5EF4-FFF2-40B4-BE49-F238E27FC236}">
                <a16:creationId xmlns:a16="http://schemas.microsoft.com/office/drawing/2014/main" id="{BE358C6A-5288-49CD-A52B-380E879C7024}"/>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6" name="">
            <a:extLst xmlns:a="http://schemas.openxmlformats.org/drawingml/2006/main">
              <a:ext uri="{FF2B5EF4-FFF2-40B4-BE49-F238E27FC236}">
                <a16:creationId xmlns:a16="http://schemas.microsoft.com/office/drawing/2014/main" id="{BD083412-B684-483D-B9E2-407BB984F46B}"/>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7" name="">
            <a:extLst xmlns:a="http://schemas.openxmlformats.org/drawingml/2006/main">
              <a:ext uri="{FF2B5EF4-FFF2-40B4-BE49-F238E27FC236}">
                <a16:creationId xmlns:a16="http://schemas.microsoft.com/office/drawing/2014/main" id="{2CFFC276-E477-44D1-B951-17BC57A6DB10}"/>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8" name="">
            <a:extLst xmlns:a="http://schemas.openxmlformats.org/drawingml/2006/main">
              <a:ext uri="{FF2B5EF4-FFF2-40B4-BE49-F238E27FC236}">
                <a16:creationId xmlns:a16="http://schemas.microsoft.com/office/drawing/2014/main" id="{308A3D3C-E8DF-462F-B45E-A6DA3E782812}"/>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9" name="">
            <a:extLst xmlns:a="http://schemas.openxmlformats.org/drawingml/2006/main">
              <a:ext uri="{FF2B5EF4-FFF2-40B4-BE49-F238E27FC236}">
                <a16:creationId xmlns:a16="http://schemas.microsoft.com/office/drawing/2014/main" id="{D6046EAB-141F-46F4-A6A8-E2338BE6F95A}"/>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0" name="">
            <a:extLst xmlns:a="http://schemas.openxmlformats.org/drawingml/2006/main">
              <a:ext uri="{FF2B5EF4-FFF2-40B4-BE49-F238E27FC236}">
                <a16:creationId xmlns:a16="http://schemas.microsoft.com/office/drawing/2014/main" id="{427067C3-2A76-4166-A58C-2950C21A9F4D}"/>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1" name="">
            <a:extLst xmlns:a="http://schemas.openxmlformats.org/drawingml/2006/main">
              <a:ext uri="{FF2B5EF4-FFF2-40B4-BE49-F238E27FC236}">
                <a16:creationId xmlns:a16="http://schemas.microsoft.com/office/drawing/2014/main" id="{09066CC8-F5AE-4CE8-BC60-7792AD6E895D}"/>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2" name="">
            <a:extLst xmlns:a="http://schemas.openxmlformats.org/drawingml/2006/main">
              <a:ext uri="{FF2B5EF4-FFF2-40B4-BE49-F238E27FC236}">
                <a16:creationId xmlns:a16="http://schemas.microsoft.com/office/drawing/2014/main" id="{363F3BBA-0B06-445F-85A3-8AFE54947EA8}"/>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3" name="">
            <a:extLst xmlns:a="http://schemas.openxmlformats.org/drawingml/2006/main">
              <a:ext uri="{FF2B5EF4-FFF2-40B4-BE49-F238E27FC236}">
                <a16:creationId xmlns:a16="http://schemas.microsoft.com/office/drawing/2014/main" id="{CB0E4C25-00F1-4ABB-ADEC-A9314BAC0902}"/>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4" name="">
            <a:extLst xmlns:a="http://schemas.openxmlformats.org/drawingml/2006/main">
              <a:ext uri="{FF2B5EF4-FFF2-40B4-BE49-F238E27FC236}">
                <a16:creationId xmlns:a16="http://schemas.microsoft.com/office/drawing/2014/main" id="{ED94CB07-2F14-4635-B661-C044D55140A8}"/>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5" name="">
            <a:extLst xmlns:a="http://schemas.openxmlformats.org/drawingml/2006/main">
              <a:ext uri="{FF2B5EF4-FFF2-40B4-BE49-F238E27FC236}">
                <a16:creationId xmlns:a16="http://schemas.microsoft.com/office/drawing/2014/main" id="{4B4A31CC-F3DC-495D-97CC-ED50B69736C0}"/>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6" name="">
            <a:extLst xmlns:a="http://schemas.openxmlformats.org/drawingml/2006/main">
              <a:ext uri="{FF2B5EF4-FFF2-40B4-BE49-F238E27FC236}">
                <a16:creationId xmlns:a16="http://schemas.microsoft.com/office/drawing/2014/main" id="{D3CEE335-1ADA-45A6-9EC2-583F212430B9}"/>
              </a:ext>
            </a:extLst>
          </p:cNvPr>
          <p:cNvSpPr>
            <a:spLocks xmlns:a="http://schemas.openxmlformats.org/drawingml/2006/main" noGrp="1"/>
          </p:cNvSpPr>
          <p:nvPr/>
        </p:nvSpPr>
        <p:spPr>
          <a:xfrm xmlns:a="http://schemas.openxmlformats.org/drawingml/2006/main">
            <a:off x="0" y="914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7" name="">
            <a:extLst xmlns:a="http://schemas.openxmlformats.org/drawingml/2006/main">
              <a:ext uri="{FF2B5EF4-FFF2-40B4-BE49-F238E27FC236}">
                <a16:creationId xmlns:a16="http://schemas.microsoft.com/office/drawing/2014/main" id="{97486C4D-13EE-4027-8B09-30813FD7C2B0}"/>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8" name="">
            <a:extLst xmlns:a="http://schemas.openxmlformats.org/drawingml/2006/main">
              <a:ext uri="{FF2B5EF4-FFF2-40B4-BE49-F238E27FC236}">
                <a16:creationId xmlns:a16="http://schemas.microsoft.com/office/drawing/2014/main" id="{577D9760-520F-4EEC-B820-38CE6BDE79E8}"/>
              </a:ext>
            </a:extLst>
          </p:cNvPr>
          <p:cNvSpPr>
            <a:spLocks xmlns:a="http://schemas.openxmlformats.org/drawingml/2006/main" noGrp="1"/>
          </p:cNvSpPr>
          <p:nvPr/>
        </p:nvSpPr>
        <p:spPr>
          <a:xfrm xmlns:a="http://schemas.openxmlformats.org/drawingml/2006/main">
            <a:off x="0" y="27432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9" name="">
            <a:extLst xmlns:a="http://schemas.openxmlformats.org/drawingml/2006/main">
              <a:ext uri="{FF2B5EF4-FFF2-40B4-BE49-F238E27FC236}">
                <a16:creationId xmlns:a16="http://schemas.microsoft.com/office/drawing/2014/main" id="{9C8A785A-6314-4C64-A993-B1D413892DA5}"/>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0" name="">
            <a:extLst xmlns:a="http://schemas.openxmlformats.org/drawingml/2006/main">
              <a:ext uri="{FF2B5EF4-FFF2-40B4-BE49-F238E27FC236}">
                <a16:creationId xmlns:a16="http://schemas.microsoft.com/office/drawing/2014/main" id="{B7D6684E-F629-4A2A-A5B3-BD48C95EE5D5}"/>
              </a:ext>
            </a:extLst>
          </p:cNvPr>
          <p:cNvSpPr>
            <a:spLocks xmlns:a="http://schemas.openxmlformats.org/drawingml/2006/main" noGrp="1"/>
          </p:cNvSpPr>
          <p:nvPr/>
        </p:nvSpPr>
        <p:spPr>
          <a:xfrm xmlns:a="http://schemas.openxmlformats.org/drawingml/2006/main">
            <a:off x="0" y="45720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1" name="">
            <a:extLst xmlns:a="http://schemas.openxmlformats.org/drawingml/2006/main">
              <a:ext uri="{FF2B5EF4-FFF2-40B4-BE49-F238E27FC236}">
                <a16:creationId xmlns:a16="http://schemas.microsoft.com/office/drawing/2014/main" id="{EA3B1533-55F5-407A-846D-C77D76220315}"/>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2" name="">
            <a:extLst xmlns:a="http://schemas.openxmlformats.org/drawingml/2006/main">
              <a:ext uri="{FF2B5EF4-FFF2-40B4-BE49-F238E27FC236}">
                <a16:creationId xmlns:a16="http://schemas.microsoft.com/office/drawing/2014/main" id="{82147EDB-8CCD-43D2-A39B-AF9345EA72E5}"/>
              </a:ext>
            </a:extLst>
          </p:cNvPr>
          <p:cNvSpPr>
            <a:spLocks xmlns:a="http://schemas.openxmlformats.org/drawingml/2006/main" noGrp="1"/>
          </p:cNvSpPr>
          <p:nvPr/>
        </p:nvSpPr>
        <p:spPr>
          <a:xfrm xmlns:a="http://schemas.openxmlformats.org/drawingml/2006/main">
            <a:off x="0" y="6400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3" name="">
            <a:extLst xmlns:a="http://schemas.openxmlformats.org/drawingml/2006/main">
              <a:ext uri="{FF2B5EF4-FFF2-40B4-BE49-F238E27FC236}">
                <a16:creationId xmlns:a16="http://schemas.microsoft.com/office/drawing/2014/main" id="{CC891918-8CC0-4BB3-8F15-7DC80B21C03D}"/>
              </a:ext>
            </a:extLst>
          </p:cNvPr>
          <p:cNvSpPr>
            <a:spLocks xmlns:a="http://schemas.openxmlformats.org/drawingml/2006/main" noGrp="1"/>
          </p:cNvSpPr>
          <p:nvPr/>
        </p:nvSpPr>
        <p:spPr>
          <a:xfrm xmlns:a="http://schemas.openxmlformats.org/drawingml/2006/main">
            <a:off x="609600" y="361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05 / RESEARCH</a:t>
            </a:r>
          </a:p>
        </p:txBody>
      </p:sp>
      <p:sp>
        <p:nvSpPr>
          <p:cNvPr id="24" name="">
            <a:extLst xmlns:a="http://schemas.openxmlformats.org/drawingml/2006/main">
              <a:ext uri="{FF2B5EF4-FFF2-40B4-BE49-F238E27FC236}">
                <a16:creationId xmlns:a16="http://schemas.microsoft.com/office/drawing/2014/main" id="{1BE53F46-1C30-4B5C-ABAC-9EBB1AA7C65C}"/>
              </a:ext>
            </a:extLst>
          </p:cNvPr>
          <p:cNvSpPr>
            <a:spLocks xmlns:a="http://schemas.openxmlformats.org/drawingml/2006/main" noGrp="1"/>
          </p:cNvSpPr>
          <p:nvPr/>
        </p:nvSpPr>
        <p:spPr>
          <a:xfrm xmlns:a="http://schemas.openxmlformats.org/drawingml/2006/main">
            <a:off x="609600" y="68580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218"/>
          </a:bodyPr>
          <a:lstStyle xmlns:a="http://schemas.openxmlformats.org/drawingml/2006/main"/>
          <a:p xmlns:a="http://schemas.openxmlformats.org/drawingml/2006/main">
            <a:pPr algn="l">
              <a:lnSpc>
                <a:spcPct val="105000"/>
              </a:lnSpc>
              <a:buNone/>
              <a:defRPr sz="3150" b="1">
                <a:solidFill>
                  <a:srgbClr val="DCF3E5"/>
                </a:solidFill>
                <a:latin typeface="Arial"/>
                <a:ea typeface="Arial"/>
                <a:cs typeface="Arial"/>
              </a:defRPr>
            </a:pPr>
            <a:r>
              <a:rPr sz="3150" b="1">
                <a:solidFill>
                  <a:srgbClr val="DCF3E5"/>
                </a:solidFill>
                <a:latin typeface="Arial"/>
                <a:ea typeface="Arial"/>
                <a:cs typeface="Arial"/>
              </a:rPr>
              <a:t>Seven tools cover spot research, history, and yield discovery</a:t>
            </a:r>
          </a:p>
        </p:txBody>
      </p:sp>
      <p:sp>
        <p:nvSpPr>
          <p:cNvPr id="25" name="">
            <a:extLst xmlns:a="http://schemas.openxmlformats.org/drawingml/2006/main">
              <a:ext uri="{FF2B5EF4-FFF2-40B4-BE49-F238E27FC236}">
                <a16:creationId xmlns:a16="http://schemas.microsoft.com/office/drawing/2014/main" id="{6E109B7C-113C-47AC-8667-330FEEC23C13}"/>
              </a:ext>
            </a:extLst>
          </p:cNvPr>
          <p:cNvSpPr>
            <a:spLocks xmlns:a="http://schemas.openxmlformats.org/drawingml/2006/main" noGrp="1"/>
          </p:cNvSpPr>
          <p:nvPr/>
        </p:nvSpPr>
        <p:spPr>
          <a:xfrm xmlns:a="http://schemas.openxmlformats.org/drawingml/2006/main">
            <a:off x="628650" y="18097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compare_markets</a:t>
            </a:r>
          </a:p>
        </p:txBody>
      </p:sp>
      <p:sp>
        <p:nvSpPr>
          <p:cNvPr id="26" name="">
            <a:extLst xmlns:a="http://schemas.openxmlformats.org/drawingml/2006/main">
              <a:ext uri="{FF2B5EF4-FFF2-40B4-BE49-F238E27FC236}">
                <a16:creationId xmlns:a16="http://schemas.microsoft.com/office/drawing/2014/main" id="{7E6A5D14-5210-4AC4-803B-7AAE4A8BDA2B}"/>
              </a:ext>
            </a:extLst>
          </p:cNvPr>
          <p:cNvSpPr>
            <a:spLocks xmlns:a="http://schemas.openxmlformats.org/drawingml/2006/main" noGrp="1"/>
          </p:cNvSpPr>
          <p:nvPr/>
        </p:nvSpPr>
        <p:spPr>
          <a:xfrm xmlns:a="http://schemas.openxmlformats.org/drawingml/2006/main">
            <a:off x="3067050" y="18097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rank comparable metrics</a:t>
            </a:r>
          </a:p>
        </p:txBody>
      </p:sp>
      <p:sp>
        <p:nvSpPr>
          <p:cNvPr id="27" name="">
            <a:extLst xmlns:a="http://schemas.openxmlformats.org/drawingml/2006/main">
              <a:ext uri="{FF2B5EF4-FFF2-40B4-BE49-F238E27FC236}">
                <a16:creationId xmlns:a16="http://schemas.microsoft.com/office/drawing/2014/main" id="{51381562-69F7-42F0-A2B2-CB625DC1E9DB}"/>
              </a:ext>
            </a:extLst>
          </p:cNvPr>
          <p:cNvSpPr>
            <a:spLocks xmlns:a="http://schemas.openxmlformats.org/drawingml/2006/main" noGrp="1"/>
          </p:cNvSpPr>
          <p:nvPr/>
        </p:nvSpPr>
        <p:spPr>
          <a:xfrm xmlns:a="http://schemas.openxmlformats.org/drawingml/2006/main">
            <a:off x="628650" y="217170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28" name="">
            <a:extLst xmlns:a="http://schemas.openxmlformats.org/drawingml/2006/main">
              <a:ext uri="{FF2B5EF4-FFF2-40B4-BE49-F238E27FC236}">
                <a16:creationId xmlns:a16="http://schemas.microsoft.com/office/drawing/2014/main" id="{16C0DD22-8897-4162-92E8-DB1625155B99}"/>
              </a:ext>
            </a:extLst>
          </p:cNvPr>
          <p:cNvSpPr>
            <a:spLocks xmlns:a="http://schemas.openxmlformats.org/drawingml/2006/main" noGrp="1"/>
          </p:cNvSpPr>
          <p:nvPr/>
        </p:nvSpPr>
        <p:spPr>
          <a:xfrm xmlns:a="http://schemas.openxmlformats.org/drawingml/2006/main">
            <a:off x="628650" y="23622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research_brief</a:t>
            </a:r>
          </a:p>
        </p:txBody>
      </p:sp>
      <p:sp>
        <p:nvSpPr>
          <p:cNvPr id="29" name="">
            <a:extLst xmlns:a="http://schemas.openxmlformats.org/drawingml/2006/main">
              <a:ext uri="{FF2B5EF4-FFF2-40B4-BE49-F238E27FC236}">
                <a16:creationId xmlns:a16="http://schemas.microsoft.com/office/drawing/2014/main" id="{1803E254-A09A-4BCC-8ABB-2F3147D4CD53}"/>
              </a:ext>
            </a:extLst>
          </p:cNvPr>
          <p:cNvSpPr>
            <a:spLocks xmlns:a="http://schemas.openxmlformats.org/drawingml/2006/main" noGrp="1"/>
          </p:cNvSpPr>
          <p:nvPr/>
        </p:nvSpPr>
        <p:spPr>
          <a:xfrm xmlns:a="http://schemas.openxmlformats.org/drawingml/2006/main">
            <a:off x="3067050" y="23622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summarize cited findings</a:t>
            </a:r>
          </a:p>
        </p:txBody>
      </p:sp>
      <p:sp>
        <p:nvSpPr>
          <p:cNvPr id="30" name="">
            <a:extLst xmlns:a="http://schemas.openxmlformats.org/drawingml/2006/main">
              <a:ext uri="{FF2B5EF4-FFF2-40B4-BE49-F238E27FC236}">
                <a16:creationId xmlns:a16="http://schemas.microsoft.com/office/drawing/2014/main" id="{80659656-C97C-42CD-8D78-C2F06B90D86F}"/>
              </a:ext>
            </a:extLst>
          </p:cNvPr>
          <p:cNvSpPr>
            <a:spLocks xmlns:a="http://schemas.openxmlformats.org/drawingml/2006/main" noGrp="1"/>
          </p:cNvSpPr>
          <p:nvPr/>
        </p:nvSpPr>
        <p:spPr>
          <a:xfrm xmlns:a="http://schemas.openxmlformats.org/drawingml/2006/main">
            <a:off x="628650" y="272415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1" name="">
            <a:extLst xmlns:a="http://schemas.openxmlformats.org/drawingml/2006/main">
              <a:ext uri="{FF2B5EF4-FFF2-40B4-BE49-F238E27FC236}">
                <a16:creationId xmlns:a16="http://schemas.microsoft.com/office/drawing/2014/main" id="{1E44DC1C-0A0C-4917-B6AF-C083BC8DCD57}"/>
              </a:ext>
            </a:extLst>
          </p:cNvPr>
          <p:cNvSpPr>
            <a:spLocks xmlns:a="http://schemas.openxmlformats.org/drawingml/2006/main" noGrp="1"/>
          </p:cNvSpPr>
          <p:nvPr/>
        </p:nvSpPr>
        <p:spPr>
          <a:xfrm xmlns:a="http://schemas.openxmlformats.org/drawingml/2006/main">
            <a:off x="628650" y="29146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risk_scan</a:t>
            </a:r>
          </a:p>
        </p:txBody>
      </p:sp>
      <p:sp>
        <p:nvSpPr>
          <p:cNvPr id="32" name="">
            <a:extLst xmlns:a="http://schemas.openxmlformats.org/drawingml/2006/main">
              <a:ext uri="{FF2B5EF4-FFF2-40B4-BE49-F238E27FC236}">
                <a16:creationId xmlns:a16="http://schemas.microsoft.com/office/drawing/2014/main" id="{523E5F06-3601-4102-A100-474D9B86E5D9}"/>
              </a:ext>
            </a:extLst>
          </p:cNvPr>
          <p:cNvSpPr>
            <a:spLocks xmlns:a="http://schemas.openxmlformats.org/drawingml/2006/main" noGrp="1"/>
          </p:cNvSpPr>
          <p:nvPr/>
        </p:nvSpPr>
        <p:spPr>
          <a:xfrm xmlns:a="http://schemas.openxmlformats.org/drawingml/2006/main">
            <a:off x="3067050" y="29146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peer-relative spot signals</a:t>
            </a:r>
          </a:p>
        </p:txBody>
      </p:sp>
      <p:sp>
        <p:nvSpPr>
          <p:cNvPr id="33" name="">
            <a:extLst xmlns:a="http://schemas.openxmlformats.org/drawingml/2006/main">
              <a:ext uri="{FF2B5EF4-FFF2-40B4-BE49-F238E27FC236}">
                <a16:creationId xmlns:a16="http://schemas.microsoft.com/office/drawing/2014/main" id="{4ADE3567-886C-451F-8648-5A89B34E37AA}"/>
              </a:ext>
            </a:extLst>
          </p:cNvPr>
          <p:cNvSpPr>
            <a:spLocks xmlns:a="http://schemas.openxmlformats.org/drawingml/2006/main" noGrp="1"/>
          </p:cNvSpPr>
          <p:nvPr/>
        </p:nvSpPr>
        <p:spPr>
          <a:xfrm xmlns:a="http://schemas.openxmlformats.org/drawingml/2006/main">
            <a:off x="628650" y="327660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4" name="">
            <a:extLst xmlns:a="http://schemas.openxmlformats.org/drawingml/2006/main">
              <a:ext uri="{FF2B5EF4-FFF2-40B4-BE49-F238E27FC236}">
                <a16:creationId xmlns:a16="http://schemas.microsoft.com/office/drawing/2014/main" id="{C8B588E4-B062-498C-B73F-076CFDA4B5C2}"/>
              </a:ext>
            </a:extLst>
          </p:cNvPr>
          <p:cNvSpPr>
            <a:spLocks xmlns:a="http://schemas.openxmlformats.org/drawingml/2006/main" noGrp="1"/>
          </p:cNvSpPr>
          <p:nvPr/>
        </p:nvSpPr>
        <p:spPr>
          <a:xfrm xmlns:a="http://schemas.openxmlformats.org/drawingml/2006/main">
            <a:off x="628650" y="34671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analyze_markets</a:t>
            </a:r>
          </a:p>
        </p:txBody>
      </p:sp>
      <p:sp>
        <p:nvSpPr>
          <p:cNvPr id="35" name="">
            <a:extLst xmlns:a="http://schemas.openxmlformats.org/drawingml/2006/main">
              <a:ext uri="{FF2B5EF4-FFF2-40B4-BE49-F238E27FC236}">
                <a16:creationId xmlns:a16="http://schemas.microsoft.com/office/drawing/2014/main" id="{C4BDA397-5B4D-4AE3-B301-5D94C5C4F05D}"/>
              </a:ext>
            </a:extLst>
          </p:cNvPr>
          <p:cNvSpPr>
            <a:spLocks xmlns:a="http://schemas.openxmlformats.org/drawingml/2006/main" noGrp="1"/>
          </p:cNvSpPr>
          <p:nvPr/>
        </p:nvSpPr>
        <p:spPr>
          <a:xfrm xmlns:a="http://schemas.openxmlformats.org/drawingml/2006/main">
            <a:off x="3067050" y="34671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explain calculations and confidence</a:t>
            </a:r>
          </a:p>
        </p:txBody>
      </p:sp>
      <p:sp>
        <p:nvSpPr>
          <p:cNvPr id="36" name="">
            <a:extLst xmlns:a="http://schemas.openxmlformats.org/drawingml/2006/main">
              <a:ext uri="{FF2B5EF4-FFF2-40B4-BE49-F238E27FC236}">
                <a16:creationId xmlns:a16="http://schemas.microsoft.com/office/drawing/2014/main" id="{C780DB66-8AFA-44F2-A689-4772155A0933}"/>
              </a:ext>
            </a:extLst>
          </p:cNvPr>
          <p:cNvSpPr>
            <a:spLocks xmlns:a="http://schemas.openxmlformats.org/drawingml/2006/main" noGrp="1"/>
          </p:cNvSpPr>
          <p:nvPr/>
        </p:nvSpPr>
        <p:spPr>
          <a:xfrm xmlns:a="http://schemas.openxmlformats.org/drawingml/2006/main">
            <a:off x="628650" y="382905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7" name="">
            <a:extLst xmlns:a="http://schemas.openxmlformats.org/drawingml/2006/main">
              <a:ext uri="{FF2B5EF4-FFF2-40B4-BE49-F238E27FC236}">
                <a16:creationId xmlns:a16="http://schemas.microsoft.com/office/drawing/2014/main" id="{3B8C783D-D09F-4450-96D2-165B6FE09964}"/>
              </a:ext>
            </a:extLst>
          </p:cNvPr>
          <p:cNvSpPr>
            <a:spLocks xmlns:a="http://schemas.openxmlformats.org/drawingml/2006/main" noGrp="1"/>
          </p:cNvSpPr>
          <p:nvPr/>
        </p:nvSpPr>
        <p:spPr>
          <a:xfrm xmlns:a="http://schemas.openxmlformats.org/drawingml/2006/main">
            <a:off x="628650" y="40195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analyze_trends</a:t>
            </a:r>
          </a:p>
        </p:txBody>
      </p:sp>
      <p:sp>
        <p:nvSpPr>
          <p:cNvPr id="38" name="">
            <a:extLst xmlns:a="http://schemas.openxmlformats.org/drawingml/2006/main">
              <a:ext uri="{FF2B5EF4-FFF2-40B4-BE49-F238E27FC236}">
                <a16:creationId xmlns:a16="http://schemas.microsoft.com/office/drawing/2014/main" id="{65B03AF1-F63A-4FC9-9DDA-2740621C18D8}"/>
              </a:ext>
            </a:extLst>
          </p:cNvPr>
          <p:cNvSpPr>
            <a:spLocks xmlns:a="http://schemas.openxmlformats.org/drawingml/2006/main" noGrp="1"/>
          </p:cNvSpPr>
          <p:nvPr/>
        </p:nvSpPr>
        <p:spPr>
          <a:xfrm xmlns:a="http://schemas.openxmlformats.org/drawingml/2006/main">
            <a:off x="3067050" y="40195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7d / 30d cited daily history</a:t>
            </a:r>
          </a:p>
        </p:txBody>
      </p:sp>
      <p:sp>
        <p:nvSpPr>
          <p:cNvPr id="39" name="">
            <a:extLst xmlns:a="http://schemas.openxmlformats.org/drawingml/2006/main">
              <a:ext uri="{FF2B5EF4-FFF2-40B4-BE49-F238E27FC236}">
                <a16:creationId xmlns:a16="http://schemas.microsoft.com/office/drawing/2014/main" id="{2D1A93E7-7168-484C-A376-0706D51A949B}"/>
              </a:ext>
            </a:extLst>
          </p:cNvPr>
          <p:cNvSpPr>
            <a:spLocks xmlns:a="http://schemas.openxmlformats.org/drawingml/2006/main" noGrp="1"/>
          </p:cNvSpPr>
          <p:nvPr/>
        </p:nvSpPr>
        <p:spPr>
          <a:xfrm xmlns:a="http://schemas.openxmlformats.org/drawingml/2006/main">
            <a:off x="628650" y="438150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0" name="">
            <a:extLst xmlns:a="http://schemas.openxmlformats.org/drawingml/2006/main">
              <a:ext uri="{FF2B5EF4-FFF2-40B4-BE49-F238E27FC236}">
                <a16:creationId xmlns:a16="http://schemas.microsoft.com/office/drawing/2014/main" id="{7AADC353-FA10-480F-B2E6-897D8FF8145F}"/>
              </a:ext>
            </a:extLst>
          </p:cNvPr>
          <p:cNvSpPr>
            <a:spLocks xmlns:a="http://schemas.openxmlformats.org/drawingml/2006/main" noGrp="1"/>
          </p:cNvSpPr>
          <p:nvPr/>
        </p:nvSpPr>
        <p:spPr>
          <a:xfrm xmlns:a="http://schemas.openxmlformats.org/drawingml/2006/main">
            <a:off x="628650" y="45720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FF5AA0"/>
                </a:solidFill>
                <a:latin typeface="Courier New"/>
                <a:ea typeface="Courier New"/>
                <a:cs typeface="Courier New"/>
              </a:defRPr>
            </a:pPr>
            <a:r>
              <a:rPr sz="1200" b="1">
                <a:solidFill>
                  <a:srgbClr val="FF5AA0"/>
                </a:solidFill>
                <a:latin typeface="Courier New"/>
                <a:ea typeface="Courier New"/>
                <a:cs typeface="Courier New"/>
              </a:rPr>
              <a:t>discover_yields</a:t>
            </a:r>
          </a:p>
        </p:txBody>
      </p:sp>
      <p:sp>
        <p:nvSpPr>
          <p:cNvPr id="41" name="">
            <a:extLst xmlns:a="http://schemas.openxmlformats.org/drawingml/2006/main">
              <a:ext uri="{FF2B5EF4-FFF2-40B4-BE49-F238E27FC236}">
                <a16:creationId xmlns:a16="http://schemas.microsoft.com/office/drawing/2014/main" id="{EBAC79DE-32BD-41EF-8E8D-6EE823AD602B}"/>
              </a:ext>
            </a:extLst>
          </p:cNvPr>
          <p:cNvSpPr>
            <a:spLocks xmlns:a="http://schemas.openxmlformats.org/drawingml/2006/main" noGrp="1"/>
          </p:cNvSpPr>
          <p:nvPr/>
        </p:nvSpPr>
        <p:spPr>
          <a:xfrm xmlns:a="http://schemas.openxmlformats.org/drawingml/2006/main">
            <a:off x="3067050" y="45720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separate lending and DEX LP rankings</a:t>
            </a:r>
          </a:p>
        </p:txBody>
      </p:sp>
      <p:sp>
        <p:nvSpPr>
          <p:cNvPr id="42" name="">
            <a:extLst xmlns:a="http://schemas.openxmlformats.org/drawingml/2006/main">
              <a:ext uri="{FF2B5EF4-FFF2-40B4-BE49-F238E27FC236}">
                <a16:creationId xmlns:a16="http://schemas.microsoft.com/office/drawing/2014/main" id="{A95177FB-EFA0-4F6C-AC34-490F2FD3B5D8}"/>
              </a:ext>
            </a:extLst>
          </p:cNvPr>
          <p:cNvSpPr>
            <a:spLocks xmlns:a="http://schemas.openxmlformats.org/drawingml/2006/main" noGrp="1"/>
          </p:cNvSpPr>
          <p:nvPr/>
        </p:nvSpPr>
        <p:spPr>
          <a:xfrm xmlns:a="http://schemas.openxmlformats.org/drawingml/2006/main">
            <a:off x="628650" y="493395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3" name="">
            <a:extLst xmlns:a="http://schemas.openxmlformats.org/drawingml/2006/main">
              <a:ext uri="{FF2B5EF4-FFF2-40B4-BE49-F238E27FC236}">
                <a16:creationId xmlns:a16="http://schemas.microsoft.com/office/drawing/2014/main" id="{8F6BC63A-41C2-434E-8EFC-43F7818A906A}"/>
              </a:ext>
            </a:extLst>
          </p:cNvPr>
          <p:cNvSpPr>
            <a:spLocks xmlns:a="http://schemas.openxmlformats.org/drawingml/2006/main" noGrp="1"/>
          </p:cNvSpPr>
          <p:nvPr/>
        </p:nvSpPr>
        <p:spPr>
          <a:xfrm xmlns:a="http://schemas.openxmlformats.org/drawingml/2006/main">
            <a:off x="628650" y="5124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get_info</a:t>
            </a:r>
          </a:p>
        </p:txBody>
      </p:sp>
      <p:sp>
        <p:nvSpPr>
          <p:cNvPr id="44" name="">
            <a:extLst xmlns:a="http://schemas.openxmlformats.org/drawingml/2006/main">
              <a:ext uri="{FF2B5EF4-FFF2-40B4-BE49-F238E27FC236}">
                <a16:creationId xmlns:a16="http://schemas.microsoft.com/office/drawing/2014/main" id="{3C3D2215-DB86-4053-89F0-AABB59578C67}"/>
              </a:ext>
            </a:extLst>
          </p:cNvPr>
          <p:cNvSpPr>
            <a:spLocks xmlns:a="http://schemas.openxmlformats.org/drawingml/2006/main" noGrp="1"/>
          </p:cNvSpPr>
          <p:nvPr/>
        </p:nvSpPr>
        <p:spPr>
          <a:xfrm xmlns:a="http://schemas.openxmlformats.org/drawingml/2006/main">
            <a:off x="3067050" y="51244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describe capabilities and examples</a:t>
            </a:r>
          </a:p>
        </p:txBody>
      </p:sp>
      <p:sp>
        <p:nvSpPr>
          <p:cNvPr id="45" name="">
            <a:extLst xmlns:a="http://schemas.openxmlformats.org/drawingml/2006/main">
              <a:ext uri="{FF2B5EF4-FFF2-40B4-BE49-F238E27FC236}">
                <a16:creationId xmlns:a16="http://schemas.microsoft.com/office/drawing/2014/main" id="{0EA004EF-1AE4-477F-A386-8845B8D6EADD}"/>
              </a:ext>
            </a:extLst>
          </p:cNvPr>
          <p:cNvSpPr>
            <a:spLocks xmlns:a="http://schemas.openxmlformats.org/drawingml/2006/main" noGrp="1"/>
          </p:cNvSpPr>
          <p:nvPr/>
        </p:nvSpPr>
        <p:spPr>
          <a:xfrm xmlns:a="http://schemas.openxmlformats.org/drawingml/2006/main">
            <a:off x="628650" y="548640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6" name="">
            <a:extLst xmlns:a="http://schemas.openxmlformats.org/drawingml/2006/main">
              <a:ext uri="{FF2B5EF4-FFF2-40B4-BE49-F238E27FC236}">
                <a16:creationId xmlns:a16="http://schemas.microsoft.com/office/drawing/2014/main" id="{138A8BCD-663B-4DE3-821D-FBD2E61B896F}"/>
              </a:ext>
            </a:extLst>
          </p:cNvPr>
          <p:cNvSpPr>
            <a:spLocks xmlns:a="http://schemas.openxmlformats.org/drawingml/2006/main" noGrp="1"/>
          </p:cNvSpPr>
          <p:nvPr/>
        </p:nvSpPr>
        <p:spPr>
          <a:xfrm xmlns:a="http://schemas.openxmlformats.org/drawingml/2006/main">
            <a:off x="6400800" y="1733550"/>
            <a:ext cx="5200650" cy="2943225"/>
          </a:xfrm>
          <a:prstGeom xmlns:a="http://schemas.openxmlformats.org/drawingml/2006/main" prst="roundRect">
            <a:avLst>
              <a:gd name="adj" fmla="val 3883"/>
            </a:avLst>
          </a:prstGeom>
          <a:solidFill xmlns:a="http://schemas.openxmlformats.org/drawingml/2006/main">
            <a:srgbClr val="020304"/>
          </a:solidFill>
          <a:ln xmlns:a="http://schemas.openxmlformats.org/drawingml/2006/main" w="9525">
            <a:solidFill>
              <a:srgbClr val="1D2B24"/>
            </a:solidFill>
            <a:prstDash val="solid"/>
          </a:ln>
        </p:spPr>
      </p:sp>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16fa079207a9474f"/>
          <a:stretch xmlns:a="http://schemas.openxmlformats.org/drawingml/2006/main"/>
        </p:blipFill>
        <p:spPr>
          <a:xfrm xmlns:a="http://schemas.openxmlformats.org/drawingml/2006/main">
            <a:off x="6419850" y="1753195"/>
            <a:ext cx="5162550" cy="2903934"/>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C2EA9CC6-D14D-4821-871F-2798CAACF26E}"/>
              </a:ext>
            </a:extLst>
          </p:cNvPr>
          <p:cNvSpPr>
            <a:spLocks xmlns:a="http://schemas.openxmlformats.org/drawingml/2006/main" noGrp="1"/>
          </p:cNvSpPr>
          <p:nvPr/>
        </p:nvSpPr>
        <p:spPr>
          <a:xfrm xmlns:a="http://schemas.openxmlformats.org/drawingml/2006/main">
            <a:off x="6419850" y="4953000"/>
            <a:ext cx="5162550" cy="800100"/>
          </a:xfrm>
          <a:prstGeom xmlns:a="http://schemas.openxmlformats.org/drawingml/2006/main" prst="roundRect">
            <a:avLst>
              <a:gd name="adj" fmla="val 11905"/>
            </a:avLst>
          </a:prstGeom>
          <a:solidFill xmlns:a="http://schemas.openxmlformats.org/drawingml/2006/main">
            <a:srgbClr val="0A100E"/>
          </a:solidFill>
          <a:ln xmlns:a="http://schemas.openxmlformats.org/drawingml/2006/main" w="9525">
            <a:solidFill>
              <a:srgbClr val="35D6FF"/>
            </a:solidFill>
            <a:prstDash val="solid"/>
          </a:ln>
        </p:spPr>
      </p:sp>
      <p:sp>
        <p:nvSpPr>
          <p:cNvPr id="49" name="">
            <a:extLst xmlns:a="http://schemas.openxmlformats.org/drawingml/2006/main">
              <a:ext uri="{FF2B5EF4-FFF2-40B4-BE49-F238E27FC236}">
                <a16:creationId xmlns:a16="http://schemas.microsoft.com/office/drawing/2014/main" id="{81290251-FCC7-4938-9078-096BB51F7EAC}"/>
              </a:ext>
            </a:extLst>
          </p:cNvPr>
          <p:cNvSpPr>
            <a:spLocks xmlns:a="http://schemas.openxmlformats.org/drawingml/2006/main" noGrp="1"/>
          </p:cNvSpPr>
          <p:nvPr/>
        </p:nvSpPr>
        <p:spPr>
          <a:xfrm xmlns:a="http://schemas.openxmlformats.org/drawingml/2006/main">
            <a:off x="6591300" y="51435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LENDING SUPPLY APY</a:t>
            </a:r>
          </a:p>
        </p:txBody>
      </p:sp>
      <p:sp>
        <p:nvSpPr>
          <p:cNvPr id="50" name="">
            <a:extLst xmlns:a="http://schemas.openxmlformats.org/drawingml/2006/main">
              <a:ext uri="{FF2B5EF4-FFF2-40B4-BE49-F238E27FC236}">
                <a16:creationId xmlns:a16="http://schemas.microsoft.com/office/drawing/2014/main" id="{A1EA094C-8E47-4C42-B5F7-E45B33AD4F55}"/>
              </a:ext>
            </a:extLst>
          </p:cNvPr>
          <p:cNvSpPr>
            <a:spLocks xmlns:a="http://schemas.openxmlformats.org/drawingml/2006/main" noGrp="1"/>
          </p:cNvSpPr>
          <p:nvPr/>
        </p:nvSpPr>
        <p:spPr>
          <a:xfrm xmlns:a="http://schemas.openxmlformats.org/drawingml/2006/main">
            <a:off x="8782050" y="5105400"/>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875" b="1">
                <a:solidFill>
                  <a:srgbClr val="FFC857"/>
                </a:solidFill>
                <a:latin typeface="Courier New"/>
                <a:ea typeface="Courier New"/>
                <a:cs typeface="Courier New"/>
              </a:defRPr>
            </a:pPr>
            <a:r>
              <a:rPr sz="1875" b="1">
                <a:solidFill>
                  <a:srgbClr val="FFC857"/>
                </a:solidFill>
                <a:latin typeface="Courier New"/>
                <a:ea typeface="Courier New"/>
                <a:cs typeface="Courier New"/>
              </a:rPr>
              <a:t>≠</a:t>
            </a:r>
          </a:p>
        </p:txBody>
      </p:sp>
      <p:sp>
        <p:nvSpPr>
          <p:cNvPr id="51" name="">
            <a:extLst xmlns:a="http://schemas.openxmlformats.org/drawingml/2006/main">
              <a:ext uri="{FF2B5EF4-FFF2-40B4-BE49-F238E27FC236}">
                <a16:creationId xmlns:a16="http://schemas.microsoft.com/office/drawing/2014/main" id="{A349CBAD-C550-4C8D-8FC5-570F06E72584}"/>
              </a:ext>
            </a:extLst>
          </p:cNvPr>
          <p:cNvSpPr>
            <a:spLocks xmlns:a="http://schemas.openxmlformats.org/drawingml/2006/main" noGrp="1"/>
          </p:cNvSpPr>
          <p:nvPr/>
        </p:nvSpPr>
        <p:spPr>
          <a:xfrm xmlns:a="http://schemas.openxmlformats.org/drawingml/2006/main">
            <a:off x="9239250" y="5143500"/>
            <a:ext cx="2152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HISTORICAL LP FEE APR</a:t>
            </a:r>
          </a:p>
        </p:txBody>
      </p:sp>
      <p:sp>
        <p:nvSpPr>
          <p:cNvPr id="52" name="">
            <a:extLst xmlns:a="http://schemas.openxmlformats.org/drawingml/2006/main">
              <a:ext uri="{FF2B5EF4-FFF2-40B4-BE49-F238E27FC236}">
                <a16:creationId xmlns:a16="http://schemas.microsoft.com/office/drawing/2014/main" id="{80551D71-4EAA-45BF-8345-7B65466A5D93}"/>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53" name="">
            <a:extLst xmlns:a="http://schemas.openxmlformats.org/drawingml/2006/main">
              <a:ext uri="{FF2B5EF4-FFF2-40B4-BE49-F238E27FC236}">
                <a16:creationId xmlns:a16="http://schemas.microsoft.com/office/drawing/2014/main" id="{4542A07A-B577-4CC3-AB51-4FA64ABAE77B}"/>
              </a:ext>
            </a:extLst>
          </p:cNvPr>
          <p:cNvSpPr>
            <a:spLocks xmlns:a="http://schemas.openxmlformats.org/drawingml/2006/main" noGrp="1"/>
          </p:cNvSpPr>
          <p:nvPr/>
        </p:nvSpPr>
        <p:spPr>
          <a:xfrm xmlns:a="http://schemas.openxmlformats.org/drawingml/2006/main">
            <a:off x="609600" y="65341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5C7368"/>
                </a:solidFill>
                <a:latin typeface="Courier New"/>
                <a:ea typeface="Courier New"/>
                <a:cs typeface="Courier New"/>
              </a:defRPr>
            </a:pPr>
            <a:r>
              <a:rPr sz="750" b="0">
                <a:solidFill>
                  <a:srgbClr val="5C7368"/>
                </a:solidFill>
                <a:latin typeface="Courier New"/>
                <a:ea typeface="Courier New"/>
                <a:cs typeface="Courier New"/>
              </a:rPr>
              <a:t>ASKCHING · ETHONLINE 2026</a:t>
            </a:r>
          </a:p>
        </p:txBody>
      </p:sp>
      <p:sp>
        <p:nvSpPr>
          <p:cNvPr id="54" name="">
            <a:extLst xmlns:a="http://schemas.openxmlformats.org/drawingml/2006/main">
              <a:ext uri="{FF2B5EF4-FFF2-40B4-BE49-F238E27FC236}">
                <a16:creationId xmlns:a16="http://schemas.microsoft.com/office/drawing/2014/main" id="{34FB4DF1-C1A9-4379-80D5-C45AF0BA07D5}"/>
              </a:ext>
            </a:extLst>
          </p:cNvPr>
          <p:cNvSpPr>
            <a:spLocks xmlns:a="http://schemas.openxmlformats.org/drawingml/2006/main" noGrp="1"/>
          </p:cNvSpPr>
          <p:nvPr/>
        </p:nvSpPr>
        <p:spPr>
          <a:xfrm xmlns:a="http://schemas.openxmlformats.org/drawingml/2006/main">
            <a:off x="11049000" y="65341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35D6FF"/>
                </a:solidFill>
                <a:latin typeface="Courier New"/>
                <a:ea typeface="Courier New"/>
                <a:cs typeface="Courier New"/>
              </a:defRPr>
            </a:pPr>
            <a:r>
              <a:rPr sz="750" b="0">
                <a:solidFill>
                  <a:srgbClr val="35D6FF"/>
                </a:solidFill>
                <a:latin typeface="Courier New"/>
                <a:ea typeface="Courier New"/>
                <a:cs typeface="Courier New"/>
              </a:rPr>
              <a:t>06</a:t>
            </a:r>
          </a:p>
        </p:txBody>
      </p:sp>
    </p:spTree>
    <p:extLst>
      <p:ext uri="{BB962C8B-B14F-4D97-AF65-F5344CB8AC3E}">
        <p14:creationId xmlns:p14="http://schemas.microsoft.com/office/powerpoint/2010/main" val="1566457188"/>
      </p:ext>
    </p:extLst>
  </p:cSld>
</p:sld>
</file>

<file path=ppt/slides/slide7.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67145D6-7D96-4C05-8F62-BB3A54F9AC7B}"/>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 name="">
            <a:extLst xmlns:a="http://schemas.openxmlformats.org/drawingml/2006/main">
              <a:ext uri="{FF2B5EF4-FFF2-40B4-BE49-F238E27FC236}">
                <a16:creationId xmlns:a16="http://schemas.microsoft.com/office/drawing/2014/main" id="{F6540F49-E721-4344-A816-8898571F6791}"/>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3" name="">
            <a:extLst xmlns:a="http://schemas.openxmlformats.org/drawingml/2006/main">
              <a:ext uri="{FF2B5EF4-FFF2-40B4-BE49-F238E27FC236}">
                <a16:creationId xmlns:a16="http://schemas.microsoft.com/office/drawing/2014/main" id="{E00A5DEE-51BD-4EA4-8106-65018506F5FA}"/>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4" name="">
            <a:extLst xmlns:a="http://schemas.openxmlformats.org/drawingml/2006/main">
              <a:ext uri="{FF2B5EF4-FFF2-40B4-BE49-F238E27FC236}">
                <a16:creationId xmlns:a16="http://schemas.microsoft.com/office/drawing/2014/main" id="{20B12285-2C2D-48B3-96AC-C15A4365FBA7}"/>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5" name="">
            <a:extLst xmlns:a="http://schemas.openxmlformats.org/drawingml/2006/main">
              <a:ext uri="{FF2B5EF4-FFF2-40B4-BE49-F238E27FC236}">
                <a16:creationId xmlns:a16="http://schemas.microsoft.com/office/drawing/2014/main" id="{74D116D8-3682-4C6B-8D84-ADB5FDC5CC5B}"/>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6" name="">
            <a:extLst xmlns:a="http://schemas.openxmlformats.org/drawingml/2006/main">
              <a:ext uri="{FF2B5EF4-FFF2-40B4-BE49-F238E27FC236}">
                <a16:creationId xmlns:a16="http://schemas.microsoft.com/office/drawing/2014/main" id="{4C527400-B0C9-4C7C-9D4B-0EE5E715FCB9}"/>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7" name="">
            <a:extLst xmlns:a="http://schemas.openxmlformats.org/drawingml/2006/main">
              <a:ext uri="{FF2B5EF4-FFF2-40B4-BE49-F238E27FC236}">
                <a16:creationId xmlns:a16="http://schemas.microsoft.com/office/drawing/2014/main" id="{D15C7486-966D-462C-B923-07B05B79AD08}"/>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8" name="">
            <a:extLst xmlns:a="http://schemas.openxmlformats.org/drawingml/2006/main">
              <a:ext uri="{FF2B5EF4-FFF2-40B4-BE49-F238E27FC236}">
                <a16:creationId xmlns:a16="http://schemas.microsoft.com/office/drawing/2014/main" id="{E8582F5C-8EDB-4D6C-8B41-E9D5ABDCB403}"/>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9" name="">
            <a:extLst xmlns:a="http://schemas.openxmlformats.org/drawingml/2006/main">
              <a:ext uri="{FF2B5EF4-FFF2-40B4-BE49-F238E27FC236}">
                <a16:creationId xmlns:a16="http://schemas.microsoft.com/office/drawing/2014/main" id="{64CDFE6C-D2CB-4A04-9A5B-A1FA225DA6DB}"/>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0" name="">
            <a:extLst xmlns:a="http://schemas.openxmlformats.org/drawingml/2006/main">
              <a:ext uri="{FF2B5EF4-FFF2-40B4-BE49-F238E27FC236}">
                <a16:creationId xmlns:a16="http://schemas.microsoft.com/office/drawing/2014/main" id="{F179B529-7353-4C32-A261-8CAF78692059}"/>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1" name="">
            <a:extLst xmlns:a="http://schemas.openxmlformats.org/drawingml/2006/main">
              <a:ext uri="{FF2B5EF4-FFF2-40B4-BE49-F238E27FC236}">
                <a16:creationId xmlns:a16="http://schemas.microsoft.com/office/drawing/2014/main" id="{34ABFFFF-7D2E-4509-9678-FED3EA067AAE}"/>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2" name="">
            <a:extLst xmlns:a="http://schemas.openxmlformats.org/drawingml/2006/main">
              <a:ext uri="{FF2B5EF4-FFF2-40B4-BE49-F238E27FC236}">
                <a16:creationId xmlns:a16="http://schemas.microsoft.com/office/drawing/2014/main" id="{19DFB686-4500-4980-A17E-265B8810E728}"/>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3" name="">
            <a:extLst xmlns:a="http://schemas.openxmlformats.org/drawingml/2006/main">
              <a:ext uri="{FF2B5EF4-FFF2-40B4-BE49-F238E27FC236}">
                <a16:creationId xmlns:a16="http://schemas.microsoft.com/office/drawing/2014/main" id="{4C9FB60F-7A08-4F3A-9FA8-6CF520CE52EC}"/>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4" name="">
            <a:extLst xmlns:a="http://schemas.openxmlformats.org/drawingml/2006/main">
              <a:ext uri="{FF2B5EF4-FFF2-40B4-BE49-F238E27FC236}">
                <a16:creationId xmlns:a16="http://schemas.microsoft.com/office/drawing/2014/main" id="{840BEAF5-5465-4845-98FF-E484C435C072}"/>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5" name="">
            <a:extLst xmlns:a="http://schemas.openxmlformats.org/drawingml/2006/main">
              <a:ext uri="{FF2B5EF4-FFF2-40B4-BE49-F238E27FC236}">
                <a16:creationId xmlns:a16="http://schemas.microsoft.com/office/drawing/2014/main" id="{35E54CBA-725E-4771-9D19-762598D12FC4}"/>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6" name="">
            <a:extLst xmlns:a="http://schemas.openxmlformats.org/drawingml/2006/main">
              <a:ext uri="{FF2B5EF4-FFF2-40B4-BE49-F238E27FC236}">
                <a16:creationId xmlns:a16="http://schemas.microsoft.com/office/drawing/2014/main" id="{F17ED187-7A61-444E-92A4-23621FC69DE9}"/>
              </a:ext>
            </a:extLst>
          </p:cNvPr>
          <p:cNvSpPr>
            <a:spLocks xmlns:a="http://schemas.openxmlformats.org/drawingml/2006/main" noGrp="1"/>
          </p:cNvSpPr>
          <p:nvPr/>
        </p:nvSpPr>
        <p:spPr>
          <a:xfrm xmlns:a="http://schemas.openxmlformats.org/drawingml/2006/main">
            <a:off x="0" y="914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7" name="">
            <a:extLst xmlns:a="http://schemas.openxmlformats.org/drawingml/2006/main">
              <a:ext uri="{FF2B5EF4-FFF2-40B4-BE49-F238E27FC236}">
                <a16:creationId xmlns:a16="http://schemas.microsoft.com/office/drawing/2014/main" id="{0C54EFA9-9B65-4241-AF5D-0A99DE6CE86B}"/>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8" name="">
            <a:extLst xmlns:a="http://schemas.openxmlformats.org/drawingml/2006/main">
              <a:ext uri="{FF2B5EF4-FFF2-40B4-BE49-F238E27FC236}">
                <a16:creationId xmlns:a16="http://schemas.microsoft.com/office/drawing/2014/main" id="{0C64236E-0AFD-4196-ADA0-75CF83189A88}"/>
              </a:ext>
            </a:extLst>
          </p:cNvPr>
          <p:cNvSpPr>
            <a:spLocks xmlns:a="http://schemas.openxmlformats.org/drawingml/2006/main" noGrp="1"/>
          </p:cNvSpPr>
          <p:nvPr/>
        </p:nvSpPr>
        <p:spPr>
          <a:xfrm xmlns:a="http://schemas.openxmlformats.org/drawingml/2006/main">
            <a:off x="0" y="27432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9" name="">
            <a:extLst xmlns:a="http://schemas.openxmlformats.org/drawingml/2006/main">
              <a:ext uri="{FF2B5EF4-FFF2-40B4-BE49-F238E27FC236}">
                <a16:creationId xmlns:a16="http://schemas.microsoft.com/office/drawing/2014/main" id="{828357D2-DAFB-45AC-A92C-6E2B012A2122}"/>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0" name="">
            <a:extLst xmlns:a="http://schemas.openxmlformats.org/drawingml/2006/main">
              <a:ext uri="{FF2B5EF4-FFF2-40B4-BE49-F238E27FC236}">
                <a16:creationId xmlns:a16="http://schemas.microsoft.com/office/drawing/2014/main" id="{EB72D1DE-635F-4B33-A3E6-CB21E9A75C01}"/>
              </a:ext>
            </a:extLst>
          </p:cNvPr>
          <p:cNvSpPr>
            <a:spLocks xmlns:a="http://schemas.openxmlformats.org/drawingml/2006/main" noGrp="1"/>
          </p:cNvSpPr>
          <p:nvPr/>
        </p:nvSpPr>
        <p:spPr>
          <a:xfrm xmlns:a="http://schemas.openxmlformats.org/drawingml/2006/main">
            <a:off x="0" y="45720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1" name="">
            <a:extLst xmlns:a="http://schemas.openxmlformats.org/drawingml/2006/main">
              <a:ext uri="{FF2B5EF4-FFF2-40B4-BE49-F238E27FC236}">
                <a16:creationId xmlns:a16="http://schemas.microsoft.com/office/drawing/2014/main" id="{42E95ACA-1760-40E8-813D-836A482BD58A}"/>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2" name="">
            <a:extLst xmlns:a="http://schemas.openxmlformats.org/drawingml/2006/main">
              <a:ext uri="{FF2B5EF4-FFF2-40B4-BE49-F238E27FC236}">
                <a16:creationId xmlns:a16="http://schemas.microsoft.com/office/drawing/2014/main" id="{90570699-517C-4EFE-8559-7FA5419B4E69}"/>
              </a:ext>
            </a:extLst>
          </p:cNvPr>
          <p:cNvSpPr>
            <a:spLocks xmlns:a="http://schemas.openxmlformats.org/drawingml/2006/main" noGrp="1"/>
          </p:cNvSpPr>
          <p:nvPr/>
        </p:nvSpPr>
        <p:spPr>
          <a:xfrm xmlns:a="http://schemas.openxmlformats.org/drawingml/2006/main">
            <a:off x="0" y="6400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da62b83a1ff4296"/>
          <a:stretch xmlns:a="http://schemas.openxmlformats.org/drawingml/2006/main"/>
        </p:blipFill>
        <p:spPr>
          <a:xfrm xmlns:a="http://schemas.openxmlformats.org/drawingml/2006/main">
            <a:off x="704850" y="704850"/>
            <a:ext cx="1104900" cy="11049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9B04A551-9DB6-4EBE-B717-0675425B729C}"/>
              </a:ext>
            </a:extLst>
          </p:cNvPr>
          <p:cNvSpPr>
            <a:spLocks xmlns:a="http://schemas.openxmlformats.org/drawingml/2006/main" noGrp="1"/>
          </p:cNvSpPr>
          <p:nvPr/>
        </p:nvSpPr>
        <p:spPr>
          <a:xfrm xmlns:a="http://schemas.openxmlformats.org/drawingml/2006/main">
            <a:off x="2114550" y="7429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150" b="1">
                <a:solidFill>
                  <a:srgbClr val="DCF3E5"/>
                </a:solidFill>
                <a:latin typeface="Arial"/>
                <a:ea typeface="Arial"/>
                <a:cs typeface="Arial"/>
              </a:defRPr>
            </a:pPr>
            <a:r>
              <a:rPr sz="3150" b="1">
                <a:solidFill>
                  <a:srgbClr val="DCF3E5"/>
                </a:solidFill>
                <a:latin typeface="Arial"/>
                <a:ea typeface="Arial"/>
                <a:cs typeface="Arial"/>
              </a:rPr>
              <a:t>One evidence layer for many agents</a:t>
            </a:r>
          </a:p>
        </p:txBody>
      </p:sp>
      <p:sp>
        <p:nvSpPr>
          <p:cNvPr id="25" name="">
            <a:extLst xmlns:a="http://schemas.openxmlformats.org/drawingml/2006/main">
              <a:ext uri="{FF2B5EF4-FFF2-40B4-BE49-F238E27FC236}">
                <a16:creationId xmlns:a16="http://schemas.microsoft.com/office/drawing/2014/main" id="{99DB1C58-C5DA-4270-BCEE-A87447EF860C}"/>
              </a:ext>
            </a:extLst>
          </p:cNvPr>
          <p:cNvSpPr>
            <a:spLocks xmlns:a="http://schemas.openxmlformats.org/drawingml/2006/main" noGrp="1"/>
          </p:cNvSpPr>
          <p:nvPr/>
        </p:nvSpPr>
        <p:spPr>
          <a:xfrm xmlns:a="http://schemas.openxmlformats.org/drawingml/2006/main">
            <a:off x="2133600" y="13906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3DF59A"/>
                </a:solidFill>
                <a:latin typeface="Arial"/>
                <a:ea typeface="Arial"/>
                <a:cs typeface="Arial"/>
              </a:defRPr>
            </a:pPr>
            <a:r>
              <a:rPr sz="1650" b="1">
                <a:solidFill>
                  <a:srgbClr val="3DF59A"/>
                </a:solidFill>
                <a:latin typeface="Arial"/>
                <a:ea typeface="Arial"/>
                <a:cs typeface="Arial"/>
              </a:rPr>
              <a:t>AskChing would rather report a gap than invent a number.</a:t>
            </a:r>
          </a:p>
        </p:txBody>
      </p:sp>
      <p:sp>
        <p:nvSpPr>
          <p:cNvPr id="26" name="">
            <a:extLst xmlns:a="http://schemas.openxmlformats.org/drawingml/2006/main">
              <a:ext uri="{FF2B5EF4-FFF2-40B4-BE49-F238E27FC236}">
                <a16:creationId xmlns:a16="http://schemas.microsoft.com/office/drawing/2014/main" id="{2A70FB79-8C4A-4CE1-8E80-BFF51DA172E9}"/>
              </a:ext>
            </a:extLst>
          </p:cNvPr>
          <p:cNvSpPr>
            <a:spLocks xmlns:a="http://schemas.openxmlformats.org/drawingml/2006/main" noGrp="1"/>
          </p:cNvSpPr>
          <p:nvPr/>
        </p:nvSpPr>
        <p:spPr>
          <a:xfrm xmlns:a="http://schemas.openxmlformats.org/drawingml/2006/main">
            <a:off x="723900" y="24003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35D6FF"/>
                </a:solidFill>
                <a:latin typeface="Courier New"/>
                <a:ea typeface="Courier New"/>
                <a:cs typeface="Courier New"/>
              </a:defRPr>
            </a:pPr>
            <a:r>
              <a:rPr sz="1125" b="1">
                <a:solidFill>
                  <a:srgbClr val="35D6FF"/>
                </a:solidFill>
                <a:latin typeface="Courier New"/>
                <a:ea typeface="Courier New"/>
                <a:cs typeface="Courier New"/>
              </a:rPr>
              <a:t>REMOTE MCP</a:t>
            </a:r>
          </a:p>
        </p:txBody>
      </p:sp>
      <p:sp>
        <p:nvSpPr>
          <p:cNvPr id="27" name="">
            <a:extLst xmlns:a="http://schemas.openxmlformats.org/drawingml/2006/main">
              <a:ext uri="{FF2B5EF4-FFF2-40B4-BE49-F238E27FC236}">
                <a16:creationId xmlns:a16="http://schemas.microsoft.com/office/drawing/2014/main" id="{B7281F7A-94EA-4F70-81BB-359B2A4F67E6}"/>
              </a:ext>
            </a:extLst>
          </p:cNvPr>
          <p:cNvSpPr>
            <a:spLocks xmlns:a="http://schemas.openxmlformats.org/drawingml/2006/main" noGrp="1"/>
          </p:cNvSpPr>
          <p:nvPr/>
        </p:nvSpPr>
        <p:spPr>
          <a:xfrm xmlns:a="http://schemas.openxmlformats.org/drawingml/2006/main">
            <a:off x="723900" y="2781300"/>
            <a:ext cx="10744200" cy="685800"/>
          </a:xfrm>
          <a:prstGeom xmlns:a="http://schemas.openxmlformats.org/drawingml/2006/main" prst="roundRect">
            <a:avLst>
              <a:gd name="adj" fmla="val 13889"/>
            </a:avLst>
          </a:prstGeom>
          <a:solidFill xmlns:a="http://schemas.openxmlformats.org/drawingml/2006/main">
            <a:srgbClr val="020304"/>
          </a:solidFill>
          <a:ln xmlns:a="http://schemas.openxmlformats.org/drawingml/2006/main" w="9525">
            <a:solidFill>
              <a:srgbClr val="3DF59A"/>
            </a:solidFill>
            <a:prstDash val="solid"/>
          </a:ln>
        </p:spPr>
      </p:sp>
      <p:sp>
        <p:nvSpPr>
          <p:cNvPr id="28" name="">
            <a:extLst xmlns:a="http://schemas.openxmlformats.org/drawingml/2006/main">
              <a:ext uri="{FF2B5EF4-FFF2-40B4-BE49-F238E27FC236}">
                <a16:creationId xmlns:a16="http://schemas.microsoft.com/office/drawing/2014/main" id="{880DE260-CED1-4127-AD3D-F4F3DD8F63A3}"/>
              </a:ext>
            </a:extLst>
          </p:cNvPr>
          <p:cNvSpPr>
            <a:spLocks xmlns:a="http://schemas.openxmlformats.org/drawingml/2006/main" noGrp="1"/>
          </p:cNvSpPr>
          <p:nvPr/>
        </p:nvSpPr>
        <p:spPr>
          <a:xfrm xmlns:a="http://schemas.openxmlformats.org/drawingml/2006/main">
            <a:off x="990600" y="2971800"/>
            <a:ext cx="10210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3DF59A"/>
                </a:solidFill>
                <a:latin typeface="Courier New"/>
                <a:ea typeface="Courier New"/>
                <a:cs typeface="Courier New"/>
              </a:defRPr>
            </a:pPr>
            <a:r>
              <a:rPr sz="1875" b="1">
                <a:solidFill>
                  <a:srgbClr val="3DF59A"/>
                </a:solidFill>
                <a:latin typeface="Courier New"/>
                <a:ea typeface="Courier New"/>
                <a:cs typeface="Courier New"/>
              </a:rPr>
              <a:t>https://ask-ching-agent.vercel.app/api/mcp</a:t>
            </a:r>
          </a:p>
        </p:txBody>
      </p:sp>
      <p:sp>
        <p:nvSpPr>
          <p:cNvPr id="29" name="">
            <a:extLst xmlns:a="http://schemas.openxmlformats.org/drawingml/2006/main">
              <a:ext uri="{FF2B5EF4-FFF2-40B4-BE49-F238E27FC236}">
                <a16:creationId xmlns:a16="http://schemas.microsoft.com/office/drawing/2014/main" id="{8CC68980-21D3-4BBF-95D1-9DBCBFC3E0F0}"/>
              </a:ext>
            </a:extLst>
          </p:cNvPr>
          <p:cNvSpPr>
            <a:spLocks xmlns:a="http://schemas.openxmlformats.org/drawingml/2006/main" noGrp="1"/>
          </p:cNvSpPr>
          <p:nvPr/>
        </p:nvSpPr>
        <p:spPr>
          <a:xfrm xmlns:a="http://schemas.openxmlformats.org/drawingml/2006/main">
            <a:off x="723900" y="3924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35D6FF"/>
                </a:solidFill>
                <a:latin typeface="Courier New"/>
                <a:ea typeface="Courier New"/>
                <a:cs typeface="Courier New"/>
              </a:defRPr>
            </a:pPr>
            <a:r>
              <a:rPr sz="1125" b="1">
                <a:solidFill>
                  <a:srgbClr val="35D6FF"/>
                </a:solidFill>
                <a:latin typeface="Courier New"/>
                <a:ea typeface="Courier New"/>
                <a:cs typeface="Courier New"/>
              </a:rPr>
              <a:t>COMPATIBLE CLIENTS</a:t>
            </a:r>
          </a:p>
        </p:txBody>
      </p:sp>
      <p:sp>
        <p:nvSpPr>
          <p:cNvPr id="30" name="">
            <a:extLst xmlns:a="http://schemas.openxmlformats.org/drawingml/2006/main">
              <a:ext uri="{FF2B5EF4-FFF2-40B4-BE49-F238E27FC236}">
                <a16:creationId xmlns:a16="http://schemas.microsoft.com/office/drawing/2014/main" id="{8B11FABD-D11E-4324-BE5E-805AE4B811A6}"/>
              </a:ext>
            </a:extLst>
          </p:cNvPr>
          <p:cNvSpPr>
            <a:spLocks xmlns:a="http://schemas.openxmlformats.org/drawingml/2006/main" noGrp="1"/>
          </p:cNvSpPr>
          <p:nvPr/>
        </p:nvSpPr>
        <p:spPr>
          <a:xfrm xmlns:a="http://schemas.openxmlformats.org/drawingml/2006/main">
            <a:off x="723900" y="4305300"/>
            <a:ext cx="1074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725" b="0">
                <a:solidFill>
                  <a:srgbClr val="DCF3E5"/>
                </a:solidFill>
                <a:latin typeface="Courier New"/>
                <a:ea typeface="Courier New"/>
                <a:cs typeface="Courier New"/>
              </a:defRPr>
            </a:pPr>
            <a:r>
              <a:rPr sz="1725" b="0">
                <a:solidFill>
                  <a:srgbClr val="DCF3E5"/>
                </a:solidFill>
                <a:latin typeface="Courier New"/>
                <a:ea typeface="Courier New"/>
                <a:cs typeface="Courier New"/>
              </a:rPr>
              <a:t>Claude   Cursor   VS Code   Codex   Gemini   ChatGPT</a:t>
            </a:r>
          </a:p>
        </p:txBody>
      </p:sp>
      <p:sp>
        <p:nvSpPr>
          <p:cNvPr id="31" name="">
            <a:extLst xmlns:a="http://schemas.openxmlformats.org/drawingml/2006/main">
              <a:ext uri="{FF2B5EF4-FFF2-40B4-BE49-F238E27FC236}">
                <a16:creationId xmlns:a16="http://schemas.microsoft.com/office/drawing/2014/main" id="{A12E09CC-400A-44A4-BF3B-731218522442}"/>
              </a:ext>
            </a:extLst>
          </p:cNvPr>
          <p:cNvSpPr>
            <a:spLocks xmlns:a="http://schemas.openxmlformats.org/drawingml/2006/main" noGrp="1"/>
          </p:cNvSpPr>
          <p:nvPr/>
        </p:nvSpPr>
        <p:spPr>
          <a:xfrm xmlns:a="http://schemas.openxmlformats.org/drawingml/2006/main">
            <a:off x="723900" y="50673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35D6FF"/>
                </a:solidFill>
                <a:latin typeface="Courier New"/>
                <a:ea typeface="Courier New"/>
                <a:cs typeface="Courier New"/>
              </a:defRPr>
            </a:pPr>
            <a:r>
              <a:rPr sz="1125" b="1">
                <a:solidFill>
                  <a:srgbClr val="35D6FF"/>
                </a:solidFill>
                <a:latin typeface="Courier New"/>
                <a:ea typeface="Courier New"/>
                <a:cs typeface="Courier New"/>
              </a:rPr>
              <a:t>PUBLIC CODE</a:t>
            </a:r>
          </a:p>
        </p:txBody>
      </p:sp>
      <p:sp>
        <p:nvSpPr>
          <p:cNvPr id="32" name="">
            <a:extLst xmlns:a="http://schemas.openxmlformats.org/drawingml/2006/main">
              <a:ext uri="{FF2B5EF4-FFF2-40B4-BE49-F238E27FC236}">
                <a16:creationId xmlns:a16="http://schemas.microsoft.com/office/drawing/2014/main" id="{6B5F3850-FF2C-4509-8E5B-59CDBCC1516F}"/>
              </a:ext>
            </a:extLst>
          </p:cNvPr>
          <p:cNvSpPr>
            <a:spLocks xmlns:a="http://schemas.openxmlformats.org/drawingml/2006/main" noGrp="1"/>
          </p:cNvSpPr>
          <p:nvPr/>
        </p:nvSpPr>
        <p:spPr>
          <a:xfrm xmlns:a="http://schemas.openxmlformats.org/drawingml/2006/main">
            <a:off x="723900" y="54483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a:solidFill>
                  <a:srgbClr val="8AA79A"/>
                </a:solidFill>
                <a:latin typeface="Courier New"/>
                <a:ea typeface="Courier New"/>
                <a:cs typeface="Courier New"/>
              </a:defRPr>
            </a:pPr>
            <a:r>
              <a:rPr sz="1725" b="0">
                <a:solidFill>
                  <a:srgbClr val="8AA79A"/>
                </a:solidFill>
                <a:latin typeface="Courier New"/>
                <a:ea typeface="Courier New"/>
                <a:cs typeface="Courier New"/>
              </a:rPr>
              <a:t>github.com/Chonwai/AskChing_Agent</a:t>
            </a:r>
          </a:p>
        </p:txBody>
      </p:sp>
      <p:sp>
        <p:nvSpPr>
          <p:cNvPr id="33" name="">
            <a:extLst xmlns:a="http://schemas.openxmlformats.org/drawingml/2006/main">
              <a:ext uri="{FF2B5EF4-FFF2-40B4-BE49-F238E27FC236}">
                <a16:creationId xmlns:a16="http://schemas.microsoft.com/office/drawing/2014/main" id="{997A8FF1-FC9B-4EF1-86C9-85F21F411BCE}"/>
              </a:ext>
            </a:extLst>
          </p:cNvPr>
          <p:cNvSpPr>
            <a:spLocks xmlns:a="http://schemas.openxmlformats.org/drawingml/2006/main" noGrp="1"/>
          </p:cNvSpPr>
          <p:nvPr/>
        </p:nvSpPr>
        <p:spPr>
          <a:xfrm xmlns:a="http://schemas.openxmlformats.org/drawingml/2006/main">
            <a:off x="8229600" y="548640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900" b="1">
                <a:solidFill>
                  <a:srgbClr val="FF5AA0"/>
                </a:solidFill>
                <a:latin typeface="Courier New"/>
                <a:ea typeface="Courier New"/>
                <a:cs typeface="Courier New"/>
              </a:defRPr>
            </a:pPr>
            <a:r>
              <a:rPr sz="900" b="1">
                <a:solidFill>
                  <a:srgbClr val="FF5AA0"/>
                </a:solidFill>
                <a:latin typeface="Courier New"/>
                <a:ea typeface="Courier New"/>
                <a:cs typeface="Courier New"/>
              </a:rPr>
              <a:t>GROK CLI · FEATURED ORCHESTRATION DEMO</a:t>
            </a:r>
          </a:p>
        </p:txBody>
      </p:sp>
      <p:sp>
        <p:nvSpPr>
          <p:cNvPr id="34" name="">
            <a:extLst xmlns:a="http://schemas.openxmlformats.org/drawingml/2006/main">
              <a:ext uri="{FF2B5EF4-FFF2-40B4-BE49-F238E27FC236}">
                <a16:creationId xmlns:a16="http://schemas.microsoft.com/office/drawing/2014/main" id="{64FB7760-0FF1-4138-83A5-2C8BD3D6B08D}"/>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5" name="">
            <a:extLst xmlns:a="http://schemas.openxmlformats.org/drawingml/2006/main">
              <a:ext uri="{FF2B5EF4-FFF2-40B4-BE49-F238E27FC236}">
                <a16:creationId xmlns:a16="http://schemas.microsoft.com/office/drawing/2014/main" id="{DDAE10E9-A438-401D-9E98-A507F4BE5906}"/>
              </a:ext>
            </a:extLst>
          </p:cNvPr>
          <p:cNvSpPr>
            <a:spLocks xmlns:a="http://schemas.openxmlformats.org/drawingml/2006/main" noGrp="1"/>
          </p:cNvSpPr>
          <p:nvPr/>
        </p:nvSpPr>
        <p:spPr>
          <a:xfrm xmlns:a="http://schemas.openxmlformats.org/drawingml/2006/main">
            <a:off x="609600" y="65341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5C7368"/>
                </a:solidFill>
                <a:latin typeface="Courier New"/>
                <a:ea typeface="Courier New"/>
                <a:cs typeface="Courier New"/>
              </a:defRPr>
            </a:pPr>
            <a:r>
              <a:rPr sz="750" b="0">
                <a:solidFill>
                  <a:srgbClr val="5C7368"/>
                </a:solidFill>
                <a:latin typeface="Courier New"/>
                <a:ea typeface="Courier New"/>
                <a:cs typeface="Courier New"/>
              </a:rPr>
              <a:t>ASKCHING · ETHONLINE 2026</a:t>
            </a:r>
          </a:p>
        </p:txBody>
      </p:sp>
      <p:sp>
        <p:nvSpPr>
          <p:cNvPr id="36" name="">
            <a:extLst xmlns:a="http://schemas.openxmlformats.org/drawingml/2006/main">
              <a:ext uri="{FF2B5EF4-FFF2-40B4-BE49-F238E27FC236}">
                <a16:creationId xmlns:a16="http://schemas.microsoft.com/office/drawing/2014/main" id="{11108A44-1F4C-4D17-A1F9-A080164B5402}"/>
              </a:ext>
            </a:extLst>
          </p:cNvPr>
          <p:cNvSpPr>
            <a:spLocks xmlns:a="http://schemas.openxmlformats.org/drawingml/2006/main" noGrp="1"/>
          </p:cNvSpPr>
          <p:nvPr/>
        </p:nvSpPr>
        <p:spPr>
          <a:xfrm xmlns:a="http://schemas.openxmlformats.org/drawingml/2006/main">
            <a:off x="11049000" y="65341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35D6FF"/>
                </a:solidFill>
                <a:latin typeface="Courier New"/>
                <a:ea typeface="Courier New"/>
                <a:cs typeface="Courier New"/>
              </a:defRPr>
            </a:pPr>
            <a:r>
              <a:rPr sz="750" b="0">
                <a:solidFill>
                  <a:srgbClr val="35D6FF"/>
                </a:solidFill>
                <a:latin typeface="Courier New"/>
                <a:ea typeface="Courier New"/>
                <a:cs typeface="Courier New"/>
              </a:rPr>
              <a:t>07</a:t>
            </a:r>
          </a:p>
        </p:txBody>
      </p:sp>
    </p:spTree>
    <p:extLst>
      <p:ext uri="{BB962C8B-B14F-4D97-AF65-F5344CB8AC3E}">
        <p14:creationId xmlns:p14="http://schemas.microsoft.com/office/powerpoint/2010/main" val="15834588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2026-09-13T09:11:22.6850000Z</dcterms:created>
  <dcterms:modified xsi:type="dcterms:W3CDTF">2026-09-13T09:11:22.6850000Z</dcterms:modified>
</coreProperties>
</file>